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4610"/>
  </p:normalViewPr>
  <p:slideViewPr>
    <p:cSldViewPr snapToGrid="0" snapToObjects="1">
      <p:cViewPr varScale="1">
        <p:scale>
          <a:sx n="94" d="100"/>
          <a:sy n="94" d="100"/>
        </p:scale>
        <p:origin x="42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4462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863840" y="0"/>
            <a:ext cx="1280160" cy="5143500"/>
          </a:xfrm>
          <a:prstGeom prst="rect">
            <a:avLst/>
          </a:prstGeom>
          <a:solidFill>
            <a:srgbClr val="0D2137"/>
          </a:solidFill>
          <a:ln w="12700">
            <a:solidFill>
              <a:srgbClr val="0D2137"/>
            </a:solidFill>
            <a:prstDash val="solid"/>
          </a:ln>
        </p:spPr>
        <p:txBody>
          <a:bodyPr/>
          <a:lstStyle/>
          <a:p>
            <a:endParaRPr lang="en-DE"/>
          </a:p>
        </p:txBody>
      </p:sp>
      <p:sp>
        <p:nvSpPr>
          <p:cNvPr id="3" name="Shape 1"/>
          <p:cNvSpPr/>
          <p:nvPr/>
        </p:nvSpPr>
        <p:spPr>
          <a:xfrm>
            <a:off x="8229600" y="0"/>
            <a:ext cx="914400" cy="2560320"/>
          </a:xfrm>
          <a:prstGeom prst="rect">
            <a:avLst/>
          </a:prstGeom>
          <a:solidFill>
            <a:srgbClr val="006B6B"/>
          </a:solidFill>
          <a:ln w="12700">
            <a:solidFill>
              <a:srgbClr val="006B6B"/>
            </a:solidFill>
            <a:prstDash val="solid"/>
          </a:ln>
        </p:spPr>
        <p:txBody>
          <a:bodyPr/>
          <a:lstStyle/>
          <a:p>
            <a:endParaRPr lang="en-DE"/>
          </a:p>
        </p:txBody>
      </p:sp>
      <p:sp>
        <p:nvSpPr>
          <p:cNvPr id="4" name="Text 2"/>
          <p:cNvSpPr/>
          <p:nvPr/>
        </p:nvSpPr>
        <p:spPr>
          <a:xfrm>
            <a:off x="640080" y="594360"/>
            <a:ext cx="7315200" cy="274320"/>
          </a:xfrm>
          <a:prstGeom prst="rect">
            <a:avLst/>
          </a:prstGeom>
          <a:noFill/>
          <a:ln/>
        </p:spPr>
        <p:txBody>
          <a:bodyPr wrap="square" lIns="0" tIns="0" rIns="0" bIns="0" rtlCol="0" anchor="ctr"/>
          <a:lstStyle/>
          <a:p>
            <a:pPr marL="0" indent="0">
              <a:buNone/>
            </a:pPr>
            <a:r>
              <a:rPr lang="en-US" sz="1000" b="1" kern="0" spc="500" dirty="0">
                <a:solidFill>
                  <a:srgbClr val="006B6B"/>
                </a:solidFill>
              </a:rPr>
              <a:t>TAX TECHNOLOGY</a:t>
            </a:r>
            <a:endParaRPr lang="en-US" sz="1000" dirty="0"/>
          </a:p>
        </p:txBody>
      </p:sp>
      <p:sp>
        <p:nvSpPr>
          <p:cNvPr id="5" name="Text 3"/>
          <p:cNvSpPr/>
          <p:nvPr/>
        </p:nvSpPr>
        <p:spPr>
          <a:xfrm>
            <a:off x="640080" y="896112"/>
            <a:ext cx="7772400" cy="960120"/>
          </a:xfrm>
          <a:prstGeom prst="rect">
            <a:avLst/>
          </a:prstGeom>
          <a:noFill/>
          <a:ln/>
        </p:spPr>
        <p:txBody>
          <a:bodyPr wrap="square" lIns="0" tIns="0" rIns="0" bIns="0" rtlCol="0" anchor="ctr"/>
          <a:lstStyle/>
          <a:p>
            <a:pPr marL="0" indent="0">
              <a:buNone/>
            </a:pPr>
            <a:r>
              <a:rPr lang="en-US" sz="4000" b="1" dirty="0">
                <a:solidFill>
                  <a:srgbClr val="FFFFFF"/>
                </a:solidFill>
              </a:rPr>
              <a:t>VAT Advisory Report</a:t>
            </a:r>
            <a:endParaRPr lang="en-US" sz="4000" dirty="0"/>
          </a:p>
        </p:txBody>
      </p:sp>
      <p:sp>
        <p:nvSpPr>
          <p:cNvPr id="6" name="Text 4"/>
          <p:cNvSpPr/>
          <p:nvPr/>
        </p:nvSpPr>
        <p:spPr>
          <a:xfrm>
            <a:off x="640080" y="1901952"/>
            <a:ext cx="4572000" cy="475488"/>
          </a:xfrm>
          <a:prstGeom prst="rect">
            <a:avLst/>
          </a:prstGeom>
          <a:noFill/>
          <a:ln/>
        </p:spPr>
        <p:txBody>
          <a:bodyPr wrap="square" lIns="0" tIns="0" rIns="0" bIns="0" rtlCol="0" anchor="ctr"/>
          <a:lstStyle/>
          <a:p>
            <a:pPr marL="0" indent="0">
              <a:buNone/>
            </a:pPr>
            <a:r>
              <a:rPr lang="en-US" sz="2700" b="1" dirty="0">
                <a:solidFill>
                  <a:srgbClr val="006B6B"/>
                </a:solidFill>
              </a:rPr>
              <a:t>Strabam AG</a:t>
            </a:r>
            <a:endParaRPr lang="en-US" sz="2700" dirty="0"/>
          </a:p>
        </p:txBody>
      </p:sp>
      <p:sp>
        <p:nvSpPr>
          <p:cNvPr id="7" name="Text 5"/>
          <p:cNvSpPr/>
          <p:nvPr/>
        </p:nvSpPr>
        <p:spPr>
          <a:xfrm>
            <a:off x="640080" y="2423160"/>
            <a:ext cx="7772400" cy="274320"/>
          </a:xfrm>
          <a:prstGeom prst="rect">
            <a:avLst/>
          </a:prstGeom>
          <a:noFill/>
          <a:ln/>
        </p:spPr>
        <p:txBody>
          <a:bodyPr wrap="square" lIns="0" tIns="0" rIns="0" bIns="0" rtlCol="0" anchor="ctr"/>
          <a:lstStyle/>
          <a:p>
            <a:pPr marL="0" indent="0">
              <a:buNone/>
            </a:pPr>
            <a:r>
              <a:rPr lang="en-US" sz="1050" dirty="0">
                <a:solidFill>
                  <a:srgbClr val="8899BB"/>
                </a:solidFill>
              </a:rPr>
              <a:t>Multi-Jurisdictional VAT Compliance &amp; Advisory  |  Germany · Spain · Poland</a:t>
            </a:r>
            <a:endParaRPr lang="en-US" sz="1050" dirty="0"/>
          </a:p>
        </p:txBody>
      </p:sp>
      <p:sp>
        <p:nvSpPr>
          <p:cNvPr id="8" name="Shape 6"/>
          <p:cNvSpPr/>
          <p:nvPr/>
        </p:nvSpPr>
        <p:spPr>
          <a:xfrm>
            <a:off x="640080" y="2834640"/>
            <a:ext cx="5029200" cy="0"/>
          </a:xfrm>
          <a:prstGeom prst="line">
            <a:avLst/>
          </a:prstGeom>
          <a:noFill/>
          <a:ln w="12700">
            <a:solidFill>
              <a:srgbClr val="006B6B"/>
            </a:solidFill>
            <a:prstDash val="solid"/>
          </a:ln>
        </p:spPr>
        <p:txBody>
          <a:bodyPr/>
          <a:lstStyle/>
          <a:p>
            <a:endParaRPr lang="en-DE"/>
          </a:p>
        </p:txBody>
      </p:sp>
      <p:sp>
        <p:nvSpPr>
          <p:cNvPr id="9" name="Text 7"/>
          <p:cNvSpPr/>
          <p:nvPr/>
        </p:nvSpPr>
        <p:spPr>
          <a:xfrm>
            <a:off x="640080" y="2999232"/>
            <a:ext cx="2194560" cy="237744"/>
          </a:xfrm>
          <a:prstGeom prst="rect">
            <a:avLst/>
          </a:prstGeom>
          <a:noFill/>
          <a:ln/>
        </p:spPr>
        <p:txBody>
          <a:bodyPr wrap="square" lIns="0" tIns="0" rIns="0" bIns="0" rtlCol="0" anchor="ctr"/>
          <a:lstStyle/>
          <a:p>
            <a:pPr marL="0" indent="0">
              <a:buNone/>
            </a:pPr>
            <a:r>
              <a:rPr lang="en-US" sz="750" b="1" kern="0" spc="100" dirty="0">
                <a:solidFill>
                  <a:srgbClr val="006B6B"/>
                </a:solidFill>
              </a:rPr>
              <a:t>CLIENT</a:t>
            </a:r>
            <a:endParaRPr lang="en-US" sz="750" dirty="0"/>
          </a:p>
        </p:txBody>
      </p:sp>
      <p:sp>
        <p:nvSpPr>
          <p:cNvPr id="10" name="Text 8"/>
          <p:cNvSpPr/>
          <p:nvPr/>
        </p:nvSpPr>
        <p:spPr>
          <a:xfrm>
            <a:off x="2926080" y="2999232"/>
            <a:ext cx="5029200" cy="237744"/>
          </a:xfrm>
          <a:prstGeom prst="rect">
            <a:avLst/>
          </a:prstGeom>
          <a:noFill/>
          <a:ln/>
        </p:spPr>
        <p:txBody>
          <a:bodyPr wrap="square" lIns="0" tIns="0" rIns="0" bIns="0" rtlCol="0" anchor="ctr"/>
          <a:lstStyle/>
          <a:p>
            <a:pPr marL="0" indent="0">
              <a:buNone/>
            </a:pPr>
            <a:r>
              <a:rPr lang="en-US" sz="900" dirty="0">
                <a:solidFill>
                  <a:srgbClr val="AABBCC"/>
                </a:solidFill>
              </a:rPr>
              <a:t>Ms. Schmidt (CFO)  ·  Ms. Meyer (Purchasing Department)</a:t>
            </a:r>
            <a:endParaRPr lang="en-US" sz="900" dirty="0"/>
          </a:p>
        </p:txBody>
      </p:sp>
      <p:sp>
        <p:nvSpPr>
          <p:cNvPr id="11" name="Text 9"/>
          <p:cNvSpPr/>
          <p:nvPr/>
        </p:nvSpPr>
        <p:spPr>
          <a:xfrm>
            <a:off x="640080" y="3273552"/>
            <a:ext cx="2194560" cy="237744"/>
          </a:xfrm>
          <a:prstGeom prst="rect">
            <a:avLst/>
          </a:prstGeom>
          <a:noFill/>
          <a:ln/>
        </p:spPr>
        <p:txBody>
          <a:bodyPr wrap="square" lIns="0" tIns="0" rIns="0" bIns="0" rtlCol="0" anchor="ctr"/>
          <a:lstStyle/>
          <a:p>
            <a:pPr marL="0" indent="0">
              <a:buNone/>
            </a:pPr>
            <a:r>
              <a:rPr lang="en-US" sz="750" b="1" kern="0" spc="100" dirty="0">
                <a:solidFill>
                  <a:srgbClr val="006B6B"/>
                </a:solidFill>
              </a:rPr>
              <a:t>PREPARED BY</a:t>
            </a:r>
            <a:endParaRPr lang="en-US" sz="750" dirty="0"/>
          </a:p>
        </p:txBody>
      </p:sp>
      <p:sp>
        <p:nvSpPr>
          <p:cNvPr id="12" name="Text 10"/>
          <p:cNvSpPr/>
          <p:nvPr/>
        </p:nvSpPr>
        <p:spPr>
          <a:xfrm>
            <a:off x="2926080" y="3273552"/>
            <a:ext cx="5029200" cy="237744"/>
          </a:xfrm>
          <a:prstGeom prst="rect">
            <a:avLst/>
          </a:prstGeom>
          <a:noFill/>
          <a:ln/>
        </p:spPr>
        <p:txBody>
          <a:bodyPr wrap="square" lIns="0" tIns="0" rIns="0" bIns="0" rtlCol="0" anchor="ctr"/>
          <a:lstStyle/>
          <a:p>
            <a:pPr marL="0" indent="0">
              <a:buNone/>
            </a:pPr>
            <a:r>
              <a:rPr lang="en-DE" sz="900" dirty="0">
                <a:solidFill>
                  <a:srgbClr val="AABBCC"/>
                </a:solidFill>
              </a:rPr>
              <a:t>Khushi Devang Shrimali | </a:t>
            </a:r>
            <a:r>
              <a:rPr lang="en-US" sz="900" dirty="0">
                <a:solidFill>
                  <a:srgbClr val="AABBCC"/>
                </a:solidFill>
              </a:rPr>
              <a:t>Europa-Universität Viadrina</a:t>
            </a:r>
            <a:endParaRPr lang="en-US" sz="900" dirty="0"/>
          </a:p>
        </p:txBody>
      </p:sp>
      <p:sp>
        <p:nvSpPr>
          <p:cNvPr id="13" name="Text 11"/>
          <p:cNvSpPr/>
          <p:nvPr/>
        </p:nvSpPr>
        <p:spPr>
          <a:xfrm>
            <a:off x="640080" y="3547872"/>
            <a:ext cx="2194560" cy="237744"/>
          </a:xfrm>
          <a:prstGeom prst="rect">
            <a:avLst/>
          </a:prstGeom>
          <a:noFill/>
          <a:ln/>
        </p:spPr>
        <p:txBody>
          <a:bodyPr wrap="square" lIns="0" tIns="0" rIns="0" bIns="0" rtlCol="0" anchor="ctr"/>
          <a:lstStyle/>
          <a:p>
            <a:pPr marL="0" indent="0">
              <a:buNone/>
            </a:pPr>
            <a:r>
              <a:rPr lang="en-US" sz="750" b="1" kern="0" spc="100" dirty="0">
                <a:solidFill>
                  <a:srgbClr val="006B6B"/>
                </a:solidFill>
              </a:rPr>
              <a:t>IN COLLABORATION WITH</a:t>
            </a:r>
            <a:endParaRPr lang="en-US" sz="750" dirty="0"/>
          </a:p>
        </p:txBody>
      </p:sp>
      <p:sp>
        <p:nvSpPr>
          <p:cNvPr id="14" name="Text 12"/>
          <p:cNvSpPr/>
          <p:nvPr/>
        </p:nvSpPr>
        <p:spPr>
          <a:xfrm>
            <a:off x="2926080" y="3547872"/>
            <a:ext cx="5029200" cy="237744"/>
          </a:xfrm>
          <a:prstGeom prst="rect">
            <a:avLst/>
          </a:prstGeom>
          <a:noFill/>
          <a:ln/>
        </p:spPr>
        <p:txBody>
          <a:bodyPr wrap="square" lIns="0" tIns="0" rIns="0" bIns="0" rtlCol="0" anchor="ctr"/>
          <a:lstStyle/>
          <a:p>
            <a:pPr marL="0" indent="0">
              <a:buNone/>
            </a:pPr>
            <a:r>
              <a:rPr lang="en-US" sz="900" dirty="0">
                <a:solidFill>
                  <a:srgbClr val="AABBCC"/>
                </a:solidFill>
              </a:rPr>
              <a:t>Deloitte</a:t>
            </a:r>
            <a:endParaRPr lang="en-US" sz="900" dirty="0"/>
          </a:p>
        </p:txBody>
      </p:sp>
      <p:sp>
        <p:nvSpPr>
          <p:cNvPr id="15" name="Text 13"/>
          <p:cNvSpPr/>
          <p:nvPr/>
        </p:nvSpPr>
        <p:spPr>
          <a:xfrm>
            <a:off x="640080" y="3822192"/>
            <a:ext cx="2194560" cy="237744"/>
          </a:xfrm>
          <a:prstGeom prst="rect">
            <a:avLst/>
          </a:prstGeom>
          <a:noFill/>
          <a:ln/>
        </p:spPr>
        <p:txBody>
          <a:bodyPr wrap="square" lIns="0" tIns="0" rIns="0" bIns="0" rtlCol="0" anchor="ctr"/>
          <a:lstStyle/>
          <a:p>
            <a:pPr marL="0" indent="0">
              <a:buNone/>
            </a:pPr>
            <a:r>
              <a:rPr lang="en-US" sz="750" b="1" kern="0" spc="100" dirty="0">
                <a:solidFill>
                  <a:srgbClr val="006B6B"/>
                </a:solidFill>
              </a:rPr>
              <a:t>COURSE</a:t>
            </a:r>
            <a:endParaRPr lang="en-US" sz="750" dirty="0"/>
          </a:p>
        </p:txBody>
      </p:sp>
      <p:sp>
        <p:nvSpPr>
          <p:cNvPr id="16" name="Text 14"/>
          <p:cNvSpPr/>
          <p:nvPr/>
        </p:nvSpPr>
        <p:spPr>
          <a:xfrm>
            <a:off x="2926080" y="3822192"/>
            <a:ext cx="5029200" cy="237744"/>
          </a:xfrm>
          <a:prstGeom prst="rect">
            <a:avLst/>
          </a:prstGeom>
          <a:noFill/>
          <a:ln/>
        </p:spPr>
        <p:txBody>
          <a:bodyPr wrap="square" lIns="0" tIns="0" rIns="0" bIns="0" rtlCol="0" anchor="ctr"/>
          <a:lstStyle/>
          <a:p>
            <a:pPr marL="0" indent="0">
              <a:buNone/>
            </a:pPr>
            <a:r>
              <a:rPr lang="en-US" sz="900" dirty="0">
                <a:solidFill>
                  <a:srgbClr val="AABBCC"/>
                </a:solidFill>
              </a:rPr>
              <a:t>Tax Technology</a:t>
            </a:r>
            <a:endParaRPr lang="en-US" sz="900" dirty="0"/>
          </a:p>
        </p:txBody>
      </p:sp>
      <p:sp>
        <p:nvSpPr>
          <p:cNvPr id="17" name="Text 15"/>
          <p:cNvSpPr/>
          <p:nvPr/>
        </p:nvSpPr>
        <p:spPr>
          <a:xfrm>
            <a:off x="640080" y="4096512"/>
            <a:ext cx="2194560" cy="237744"/>
          </a:xfrm>
          <a:prstGeom prst="rect">
            <a:avLst/>
          </a:prstGeom>
          <a:noFill/>
          <a:ln/>
        </p:spPr>
        <p:txBody>
          <a:bodyPr wrap="square" lIns="0" tIns="0" rIns="0" bIns="0" rtlCol="0" anchor="ctr"/>
          <a:lstStyle/>
          <a:p>
            <a:pPr marL="0" indent="0">
              <a:buNone/>
            </a:pPr>
            <a:r>
              <a:rPr lang="en-US" sz="750" b="1" kern="0" spc="100" dirty="0">
                <a:solidFill>
                  <a:srgbClr val="006B6B"/>
                </a:solidFill>
              </a:rPr>
              <a:t>DATE</a:t>
            </a:r>
            <a:endParaRPr lang="en-US" sz="750" dirty="0"/>
          </a:p>
        </p:txBody>
      </p:sp>
      <p:sp>
        <p:nvSpPr>
          <p:cNvPr id="18" name="Text 16"/>
          <p:cNvSpPr/>
          <p:nvPr/>
        </p:nvSpPr>
        <p:spPr>
          <a:xfrm>
            <a:off x="2926080" y="4096512"/>
            <a:ext cx="5029200" cy="237744"/>
          </a:xfrm>
          <a:prstGeom prst="rect">
            <a:avLst/>
          </a:prstGeom>
          <a:noFill/>
          <a:ln/>
        </p:spPr>
        <p:txBody>
          <a:bodyPr wrap="square" lIns="0" tIns="0" rIns="0" bIns="0" rtlCol="0" anchor="ctr"/>
          <a:lstStyle/>
          <a:p>
            <a:pPr marL="0" indent="0">
              <a:buNone/>
            </a:pPr>
            <a:r>
              <a:rPr lang="en-US" sz="900" dirty="0">
                <a:solidFill>
                  <a:srgbClr val="AABBCC"/>
                </a:solidFill>
              </a:rPr>
              <a:t>May 2026</a:t>
            </a:r>
            <a:endParaRPr lang="en-US" sz="900" dirty="0"/>
          </a:p>
        </p:txBody>
      </p:sp>
      <p:sp>
        <p:nvSpPr>
          <p:cNvPr id="19" name="Shape 17"/>
          <p:cNvSpPr/>
          <p:nvPr/>
        </p:nvSpPr>
        <p:spPr>
          <a:xfrm>
            <a:off x="7040880" y="4526280"/>
            <a:ext cx="1920240" cy="256032"/>
          </a:xfrm>
          <a:prstGeom prst="rect">
            <a:avLst/>
          </a:prstGeom>
          <a:solidFill>
            <a:srgbClr val="006B6B"/>
          </a:solidFill>
          <a:ln w="12700">
            <a:solidFill>
              <a:srgbClr val="006B6B"/>
            </a:solidFill>
            <a:prstDash val="solid"/>
          </a:ln>
        </p:spPr>
        <p:txBody>
          <a:bodyPr/>
          <a:lstStyle/>
          <a:p>
            <a:endParaRPr lang="en-DE"/>
          </a:p>
        </p:txBody>
      </p:sp>
      <p:sp>
        <p:nvSpPr>
          <p:cNvPr id="20" name="Text 18"/>
          <p:cNvSpPr/>
          <p:nvPr/>
        </p:nvSpPr>
        <p:spPr>
          <a:xfrm>
            <a:off x="7040880" y="4526280"/>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rPr>
              <a:t>CONFIDENTIAL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3" name="Text 1"/>
          <p:cNvSpPr/>
          <p:nvPr/>
        </p:nvSpPr>
        <p:spPr>
          <a:xfrm>
            <a:off x="274320" y="4892040"/>
            <a:ext cx="64008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4" name="Text 2"/>
          <p:cNvSpPr/>
          <p:nvPr/>
        </p:nvSpPr>
        <p:spPr>
          <a:xfrm>
            <a:off x="8229600" y="4892040"/>
            <a:ext cx="640080" cy="251460"/>
          </a:xfrm>
          <a:prstGeom prst="rect">
            <a:avLst/>
          </a:prstGeom>
          <a:noFill/>
          <a:ln/>
        </p:spPr>
        <p:txBody>
          <a:bodyPr wrap="square" lIns="0" tIns="0" rIns="0" bIns="0" rtlCol="0" anchor="ctr"/>
          <a:lstStyle/>
          <a:p>
            <a:pPr marL="0" indent="0" algn="r">
              <a:buNone/>
            </a:pPr>
            <a:r>
              <a:rPr lang="en-US" sz="700" dirty="0">
                <a:solidFill>
                  <a:srgbClr val="8899BB"/>
                </a:solidFill>
              </a:rPr>
              <a:t>2 / 22</a:t>
            </a:r>
            <a:endParaRPr lang="en-US" sz="700" dirty="0"/>
          </a:p>
        </p:txBody>
      </p:sp>
      <p:sp>
        <p:nvSpPr>
          <p:cNvPr id="5" name="Text 3"/>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OVERVIEW</a:t>
            </a:r>
            <a:endParaRPr lang="en-US" sz="700" dirty="0"/>
          </a:p>
        </p:txBody>
      </p:sp>
      <p:sp>
        <p:nvSpPr>
          <p:cNvPr id="6" name="Shape 4"/>
          <p:cNvSpPr/>
          <p:nvPr/>
        </p:nvSpPr>
        <p:spPr>
          <a:xfrm>
            <a:off x="0" y="0"/>
            <a:ext cx="320040" cy="4892040"/>
          </a:xfrm>
          <a:prstGeom prst="rect">
            <a:avLst/>
          </a:prstGeom>
          <a:solidFill>
            <a:srgbClr val="006B6B"/>
          </a:solidFill>
          <a:ln w="12700">
            <a:solidFill>
              <a:srgbClr val="006B6B"/>
            </a:solidFill>
            <a:prstDash val="solid"/>
          </a:ln>
        </p:spPr>
        <p:txBody>
          <a:bodyPr/>
          <a:lstStyle/>
          <a:p>
            <a:endParaRPr lang="en-DE"/>
          </a:p>
        </p:txBody>
      </p:sp>
      <p:sp>
        <p:nvSpPr>
          <p:cNvPr id="7" name="Text 5"/>
          <p:cNvSpPr/>
          <p:nvPr/>
        </p:nvSpPr>
        <p:spPr>
          <a:xfrm>
            <a:off x="457200" y="164592"/>
            <a:ext cx="3657600" cy="228600"/>
          </a:xfrm>
          <a:prstGeom prst="rect">
            <a:avLst/>
          </a:prstGeom>
          <a:noFill/>
          <a:ln/>
        </p:spPr>
        <p:txBody>
          <a:bodyPr wrap="square" lIns="0" tIns="0" rIns="0" bIns="0" rtlCol="0" anchor="ctr"/>
          <a:lstStyle/>
          <a:p>
            <a:pPr marL="0" indent="0">
              <a:buNone/>
            </a:pPr>
            <a:r>
              <a:rPr lang="en-US" sz="800" b="1" kern="0" spc="300" dirty="0">
                <a:solidFill>
                  <a:srgbClr val="006B6B"/>
                </a:solidFill>
              </a:rPr>
              <a:t>CONTENTS</a:t>
            </a:r>
            <a:endParaRPr lang="en-US" sz="800" dirty="0"/>
          </a:p>
        </p:txBody>
      </p:sp>
      <p:sp>
        <p:nvSpPr>
          <p:cNvPr id="8" name="Text 6"/>
          <p:cNvSpPr/>
          <p:nvPr/>
        </p:nvSpPr>
        <p:spPr>
          <a:xfrm>
            <a:off x="457200" y="402336"/>
            <a:ext cx="7315200" cy="548640"/>
          </a:xfrm>
          <a:prstGeom prst="rect">
            <a:avLst/>
          </a:prstGeom>
          <a:noFill/>
          <a:ln/>
        </p:spPr>
        <p:txBody>
          <a:bodyPr wrap="square" lIns="0" tIns="0" rIns="0" bIns="0" rtlCol="0" anchor="ctr"/>
          <a:lstStyle/>
          <a:p>
            <a:pPr marL="0" indent="0">
              <a:buNone/>
            </a:pPr>
            <a:r>
              <a:rPr lang="en-US" sz="2400" b="1" dirty="0">
                <a:solidFill>
                  <a:srgbClr val="0A1628"/>
                </a:solidFill>
              </a:rPr>
              <a:t>Table of Contents</a:t>
            </a:r>
            <a:endParaRPr lang="en-US" sz="2400" dirty="0"/>
          </a:p>
        </p:txBody>
      </p:sp>
      <p:sp>
        <p:nvSpPr>
          <p:cNvPr id="9" name="Shape 7"/>
          <p:cNvSpPr/>
          <p:nvPr/>
        </p:nvSpPr>
        <p:spPr>
          <a:xfrm>
            <a:off x="457200" y="987552"/>
            <a:ext cx="8412480" cy="0"/>
          </a:xfrm>
          <a:prstGeom prst="line">
            <a:avLst/>
          </a:prstGeom>
          <a:noFill/>
          <a:ln w="6350">
            <a:solidFill>
              <a:srgbClr val="CBD5E1"/>
            </a:solidFill>
            <a:prstDash val="solid"/>
          </a:ln>
        </p:spPr>
        <p:txBody>
          <a:bodyPr/>
          <a:lstStyle/>
          <a:p>
            <a:endParaRPr lang="en-DE"/>
          </a:p>
        </p:txBody>
      </p:sp>
      <p:sp>
        <p:nvSpPr>
          <p:cNvPr id="10" name="Shape 8"/>
          <p:cNvSpPr/>
          <p:nvPr/>
        </p:nvSpPr>
        <p:spPr>
          <a:xfrm>
            <a:off x="457200" y="1097280"/>
            <a:ext cx="3931920" cy="621792"/>
          </a:xfrm>
          <a:prstGeom prst="rect">
            <a:avLst/>
          </a:prstGeom>
          <a:solidFill>
            <a:srgbClr val="FFFFFF"/>
          </a:solidFill>
          <a:ln w="6350">
            <a:solidFill>
              <a:srgbClr val="CBD5E1"/>
            </a:solidFill>
            <a:prstDash val="solid"/>
          </a:ln>
          <a:effectLst>
            <a:outerShdw blurRad="38100" dist="12700" dir="8100000" algn="bl" rotWithShape="0">
              <a:srgbClr val="000000">
                <a:alpha val="7000"/>
              </a:srgbClr>
            </a:outerShdw>
          </a:effectLst>
        </p:spPr>
        <p:txBody>
          <a:bodyPr/>
          <a:lstStyle/>
          <a:p>
            <a:endParaRPr lang="en-DE"/>
          </a:p>
        </p:txBody>
      </p:sp>
      <p:sp>
        <p:nvSpPr>
          <p:cNvPr id="11" name="Shape 9"/>
          <p:cNvSpPr/>
          <p:nvPr/>
        </p:nvSpPr>
        <p:spPr>
          <a:xfrm>
            <a:off x="457200" y="1097280"/>
            <a:ext cx="475488" cy="621792"/>
          </a:xfrm>
          <a:prstGeom prst="rect">
            <a:avLst/>
          </a:prstGeom>
          <a:solidFill>
            <a:srgbClr val="006B6B"/>
          </a:solidFill>
          <a:ln w="12700">
            <a:solidFill>
              <a:srgbClr val="006B6B"/>
            </a:solidFill>
            <a:prstDash val="solid"/>
          </a:ln>
        </p:spPr>
        <p:txBody>
          <a:bodyPr/>
          <a:lstStyle/>
          <a:p>
            <a:endParaRPr lang="en-DE"/>
          </a:p>
        </p:txBody>
      </p:sp>
      <p:sp>
        <p:nvSpPr>
          <p:cNvPr id="12" name="Text 10"/>
          <p:cNvSpPr/>
          <p:nvPr/>
        </p:nvSpPr>
        <p:spPr>
          <a:xfrm>
            <a:off x="493776" y="1261872"/>
            <a:ext cx="402336" cy="292608"/>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13" name="Text 11"/>
          <p:cNvSpPr/>
          <p:nvPr/>
        </p:nvSpPr>
        <p:spPr>
          <a:xfrm>
            <a:off x="1024128" y="1188720"/>
            <a:ext cx="3246120" cy="320040"/>
          </a:xfrm>
          <a:prstGeom prst="rect">
            <a:avLst/>
          </a:prstGeom>
          <a:noFill/>
          <a:ln/>
        </p:spPr>
        <p:txBody>
          <a:bodyPr wrap="square" lIns="0" tIns="0" rIns="0" bIns="0" rtlCol="0" anchor="ctr"/>
          <a:lstStyle/>
          <a:p>
            <a:pPr marL="0" indent="0">
              <a:buNone/>
            </a:pPr>
            <a:r>
              <a:rPr lang="en-US" sz="1000" b="1" dirty="0">
                <a:solidFill>
                  <a:srgbClr val="0A1628"/>
                </a:solidFill>
              </a:rPr>
              <a:t>Executive Summary</a:t>
            </a:r>
            <a:endParaRPr lang="en-US" sz="1000" dirty="0"/>
          </a:p>
        </p:txBody>
      </p:sp>
      <p:sp>
        <p:nvSpPr>
          <p:cNvPr id="14" name="Text 12"/>
          <p:cNvSpPr/>
          <p:nvPr/>
        </p:nvSpPr>
        <p:spPr>
          <a:xfrm>
            <a:off x="1024128" y="1499616"/>
            <a:ext cx="3246120" cy="182880"/>
          </a:xfrm>
          <a:prstGeom prst="rect">
            <a:avLst/>
          </a:prstGeom>
          <a:noFill/>
          <a:ln/>
        </p:spPr>
        <p:txBody>
          <a:bodyPr wrap="square" lIns="0" tIns="0" rIns="0" bIns="0" rtlCol="0" anchor="ctr"/>
          <a:lstStyle/>
          <a:p>
            <a:pPr marL="0" indent="0">
              <a:buNone/>
            </a:pPr>
            <a:r>
              <a:rPr lang="en-US" sz="800" dirty="0">
                <a:solidFill>
                  <a:srgbClr val="64748B"/>
                </a:solidFill>
              </a:rPr>
              <a:t>Slides 3-4</a:t>
            </a:r>
            <a:endParaRPr lang="en-US" sz="800" dirty="0"/>
          </a:p>
        </p:txBody>
      </p:sp>
      <p:sp>
        <p:nvSpPr>
          <p:cNvPr id="15" name="Shape 13"/>
          <p:cNvSpPr/>
          <p:nvPr/>
        </p:nvSpPr>
        <p:spPr>
          <a:xfrm>
            <a:off x="5029200" y="1097280"/>
            <a:ext cx="3931920" cy="621792"/>
          </a:xfrm>
          <a:prstGeom prst="rect">
            <a:avLst/>
          </a:prstGeom>
          <a:solidFill>
            <a:srgbClr val="FFFFFF"/>
          </a:solidFill>
          <a:ln w="6350">
            <a:solidFill>
              <a:srgbClr val="CBD5E1"/>
            </a:solidFill>
            <a:prstDash val="solid"/>
          </a:ln>
          <a:effectLst>
            <a:outerShdw blurRad="38100" dist="12700" dir="8100000" algn="bl" rotWithShape="0">
              <a:srgbClr val="000000">
                <a:alpha val="7000"/>
              </a:srgbClr>
            </a:outerShdw>
          </a:effectLst>
        </p:spPr>
        <p:txBody>
          <a:bodyPr/>
          <a:lstStyle/>
          <a:p>
            <a:endParaRPr lang="en-DE"/>
          </a:p>
        </p:txBody>
      </p:sp>
      <p:sp>
        <p:nvSpPr>
          <p:cNvPr id="16" name="Shape 14"/>
          <p:cNvSpPr/>
          <p:nvPr/>
        </p:nvSpPr>
        <p:spPr>
          <a:xfrm>
            <a:off x="5029200" y="1097280"/>
            <a:ext cx="475488" cy="621792"/>
          </a:xfrm>
          <a:prstGeom prst="rect">
            <a:avLst/>
          </a:prstGeom>
          <a:solidFill>
            <a:srgbClr val="2C4A6E"/>
          </a:solidFill>
          <a:ln w="12700">
            <a:solidFill>
              <a:srgbClr val="2C4A6E"/>
            </a:solidFill>
            <a:prstDash val="solid"/>
          </a:ln>
        </p:spPr>
        <p:txBody>
          <a:bodyPr/>
          <a:lstStyle/>
          <a:p>
            <a:endParaRPr lang="en-DE"/>
          </a:p>
        </p:txBody>
      </p:sp>
      <p:sp>
        <p:nvSpPr>
          <p:cNvPr id="17" name="Text 15"/>
          <p:cNvSpPr/>
          <p:nvPr/>
        </p:nvSpPr>
        <p:spPr>
          <a:xfrm>
            <a:off x="5065776" y="1261872"/>
            <a:ext cx="402336" cy="292608"/>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8" name="Text 16"/>
          <p:cNvSpPr/>
          <p:nvPr/>
        </p:nvSpPr>
        <p:spPr>
          <a:xfrm>
            <a:off x="5596128" y="1188720"/>
            <a:ext cx="3246120" cy="320040"/>
          </a:xfrm>
          <a:prstGeom prst="rect">
            <a:avLst/>
          </a:prstGeom>
          <a:noFill/>
          <a:ln/>
        </p:spPr>
        <p:txBody>
          <a:bodyPr wrap="square" lIns="0" tIns="0" rIns="0" bIns="0" rtlCol="0" anchor="ctr"/>
          <a:lstStyle/>
          <a:p>
            <a:pPr marL="0" indent="0">
              <a:buNone/>
            </a:pPr>
            <a:r>
              <a:rPr lang="en-US" sz="1000" b="1" dirty="0">
                <a:solidFill>
                  <a:srgbClr val="0A1628"/>
                </a:solidFill>
              </a:rPr>
              <a:t>Business Model &amp; Entity Structure</a:t>
            </a:r>
            <a:endParaRPr lang="en-US" sz="1000" dirty="0"/>
          </a:p>
        </p:txBody>
      </p:sp>
      <p:sp>
        <p:nvSpPr>
          <p:cNvPr id="19" name="Text 17"/>
          <p:cNvSpPr/>
          <p:nvPr/>
        </p:nvSpPr>
        <p:spPr>
          <a:xfrm>
            <a:off x="5596128" y="1499616"/>
            <a:ext cx="3246120" cy="182880"/>
          </a:xfrm>
          <a:prstGeom prst="rect">
            <a:avLst/>
          </a:prstGeom>
          <a:noFill/>
          <a:ln/>
        </p:spPr>
        <p:txBody>
          <a:bodyPr wrap="square" lIns="0" tIns="0" rIns="0" bIns="0" rtlCol="0" anchor="ctr"/>
          <a:lstStyle/>
          <a:p>
            <a:pPr marL="0" indent="0">
              <a:buNone/>
            </a:pPr>
            <a:r>
              <a:rPr lang="en-US" sz="800" dirty="0">
                <a:solidFill>
                  <a:srgbClr val="64748B"/>
                </a:solidFill>
              </a:rPr>
              <a:t>Slides 5-6</a:t>
            </a:r>
            <a:endParaRPr lang="en-US" sz="800" dirty="0"/>
          </a:p>
        </p:txBody>
      </p:sp>
      <p:sp>
        <p:nvSpPr>
          <p:cNvPr id="20" name="Shape 18"/>
          <p:cNvSpPr/>
          <p:nvPr/>
        </p:nvSpPr>
        <p:spPr>
          <a:xfrm>
            <a:off x="457200" y="1810512"/>
            <a:ext cx="3931920" cy="621792"/>
          </a:xfrm>
          <a:prstGeom prst="rect">
            <a:avLst/>
          </a:prstGeom>
          <a:solidFill>
            <a:srgbClr val="FFFFFF"/>
          </a:solidFill>
          <a:ln w="6350">
            <a:solidFill>
              <a:srgbClr val="CBD5E1"/>
            </a:solidFill>
            <a:prstDash val="solid"/>
          </a:ln>
          <a:effectLst>
            <a:outerShdw blurRad="38100" dist="12700" dir="8100000" algn="bl" rotWithShape="0">
              <a:srgbClr val="000000">
                <a:alpha val="7000"/>
              </a:srgbClr>
            </a:outerShdw>
          </a:effectLst>
        </p:spPr>
        <p:txBody>
          <a:bodyPr/>
          <a:lstStyle/>
          <a:p>
            <a:endParaRPr lang="en-DE"/>
          </a:p>
        </p:txBody>
      </p:sp>
      <p:sp>
        <p:nvSpPr>
          <p:cNvPr id="21" name="Shape 19"/>
          <p:cNvSpPr/>
          <p:nvPr/>
        </p:nvSpPr>
        <p:spPr>
          <a:xfrm>
            <a:off x="457200" y="1810512"/>
            <a:ext cx="475488" cy="621792"/>
          </a:xfrm>
          <a:prstGeom prst="rect">
            <a:avLst/>
          </a:prstGeom>
          <a:solidFill>
            <a:srgbClr val="2C4A6E"/>
          </a:solidFill>
          <a:ln w="12700">
            <a:solidFill>
              <a:srgbClr val="2C4A6E"/>
            </a:solidFill>
            <a:prstDash val="solid"/>
          </a:ln>
        </p:spPr>
        <p:txBody>
          <a:bodyPr/>
          <a:lstStyle/>
          <a:p>
            <a:endParaRPr lang="en-DE"/>
          </a:p>
        </p:txBody>
      </p:sp>
      <p:sp>
        <p:nvSpPr>
          <p:cNvPr id="22" name="Text 20"/>
          <p:cNvSpPr/>
          <p:nvPr/>
        </p:nvSpPr>
        <p:spPr>
          <a:xfrm>
            <a:off x="493776" y="1975104"/>
            <a:ext cx="402336" cy="292608"/>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23" name="Text 21"/>
          <p:cNvSpPr/>
          <p:nvPr/>
        </p:nvSpPr>
        <p:spPr>
          <a:xfrm>
            <a:off x="1024128" y="1901952"/>
            <a:ext cx="3246120" cy="320040"/>
          </a:xfrm>
          <a:prstGeom prst="rect">
            <a:avLst/>
          </a:prstGeom>
          <a:noFill/>
          <a:ln/>
        </p:spPr>
        <p:txBody>
          <a:bodyPr wrap="square" lIns="0" tIns="0" rIns="0" bIns="0" rtlCol="0" anchor="ctr"/>
          <a:lstStyle/>
          <a:p>
            <a:pPr marL="0" indent="0">
              <a:buNone/>
            </a:pPr>
            <a:r>
              <a:rPr lang="en-US" sz="1000" b="1" dirty="0">
                <a:solidFill>
                  <a:srgbClr val="0A1628"/>
                </a:solidFill>
              </a:rPr>
              <a:t>Transaction Analysis (VAT)</a:t>
            </a:r>
            <a:endParaRPr lang="en-US" sz="1000" dirty="0"/>
          </a:p>
        </p:txBody>
      </p:sp>
      <p:sp>
        <p:nvSpPr>
          <p:cNvPr id="24" name="Text 22"/>
          <p:cNvSpPr/>
          <p:nvPr/>
        </p:nvSpPr>
        <p:spPr>
          <a:xfrm>
            <a:off x="1024128" y="2212848"/>
            <a:ext cx="3246120" cy="182880"/>
          </a:xfrm>
          <a:prstGeom prst="rect">
            <a:avLst/>
          </a:prstGeom>
          <a:noFill/>
          <a:ln/>
        </p:spPr>
        <p:txBody>
          <a:bodyPr wrap="square" lIns="0" tIns="0" rIns="0" bIns="0" rtlCol="0" anchor="ctr"/>
          <a:lstStyle/>
          <a:p>
            <a:pPr marL="0" indent="0">
              <a:buNone/>
            </a:pPr>
            <a:r>
              <a:rPr lang="en-US" sz="800" dirty="0">
                <a:solidFill>
                  <a:srgbClr val="64748B"/>
                </a:solidFill>
              </a:rPr>
              <a:t>Slides 7-14</a:t>
            </a:r>
            <a:endParaRPr lang="en-US" sz="800" dirty="0"/>
          </a:p>
        </p:txBody>
      </p:sp>
      <p:sp>
        <p:nvSpPr>
          <p:cNvPr id="25" name="Shape 23"/>
          <p:cNvSpPr/>
          <p:nvPr/>
        </p:nvSpPr>
        <p:spPr>
          <a:xfrm>
            <a:off x="5029200" y="1810512"/>
            <a:ext cx="3931920" cy="621792"/>
          </a:xfrm>
          <a:prstGeom prst="rect">
            <a:avLst/>
          </a:prstGeom>
          <a:solidFill>
            <a:srgbClr val="FFFFFF"/>
          </a:solidFill>
          <a:ln w="6350">
            <a:solidFill>
              <a:srgbClr val="CBD5E1"/>
            </a:solidFill>
            <a:prstDash val="solid"/>
          </a:ln>
          <a:effectLst>
            <a:outerShdw blurRad="38100" dist="12700" dir="8100000" algn="bl" rotWithShape="0">
              <a:srgbClr val="000000">
                <a:alpha val="7000"/>
              </a:srgbClr>
            </a:outerShdw>
          </a:effectLst>
        </p:spPr>
        <p:txBody>
          <a:bodyPr/>
          <a:lstStyle/>
          <a:p>
            <a:endParaRPr lang="en-DE"/>
          </a:p>
        </p:txBody>
      </p:sp>
      <p:sp>
        <p:nvSpPr>
          <p:cNvPr id="26" name="Shape 24"/>
          <p:cNvSpPr/>
          <p:nvPr/>
        </p:nvSpPr>
        <p:spPr>
          <a:xfrm>
            <a:off x="5029200" y="1810512"/>
            <a:ext cx="475488" cy="621792"/>
          </a:xfrm>
          <a:prstGeom prst="rect">
            <a:avLst/>
          </a:prstGeom>
          <a:solidFill>
            <a:srgbClr val="2C4A6E"/>
          </a:solidFill>
          <a:ln w="12700">
            <a:solidFill>
              <a:srgbClr val="2C4A6E"/>
            </a:solidFill>
            <a:prstDash val="solid"/>
          </a:ln>
        </p:spPr>
        <p:txBody>
          <a:bodyPr/>
          <a:lstStyle/>
          <a:p>
            <a:endParaRPr lang="en-DE"/>
          </a:p>
        </p:txBody>
      </p:sp>
      <p:sp>
        <p:nvSpPr>
          <p:cNvPr id="27" name="Text 25"/>
          <p:cNvSpPr/>
          <p:nvPr/>
        </p:nvSpPr>
        <p:spPr>
          <a:xfrm>
            <a:off x="5065776" y="1975104"/>
            <a:ext cx="402336" cy="292608"/>
          </a:xfrm>
          <a:prstGeom prst="rect">
            <a:avLst/>
          </a:prstGeom>
          <a:noFill/>
          <a:ln/>
        </p:spPr>
        <p:txBody>
          <a:bodyPr wrap="square" lIns="0" tIns="0" rIns="0" bIns="0" rtlCol="0" anchor="ctr"/>
          <a:lstStyle/>
          <a:p>
            <a:pPr marL="0" indent="0" algn="ctr">
              <a:buNone/>
            </a:pPr>
            <a:r>
              <a:rPr lang="en-US" sz="1600" b="1" dirty="0">
                <a:solidFill>
                  <a:srgbClr val="FFFFFF"/>
                </a:solidFill>
              </a:rPr>
              <a:t>04</a:t>
            </a:r>
            <a:endParaRPr lang="en-US" sz="1600" dirty="0"/>
          </a:p>
        </p:txBody>
      </p:sp>
      <p:sp>
        <p:nvSpPr>
          <p:cNvPr id="28" name="Text 26"/>
          <p:cNvSpPr/>
          <p:nvPr/>
        </p:nvSpPr>
        <p:spPr>
          <a:xfrm>
            <a:off x="5596128" y="1901952"/>
            <a:ext cx="3246120" cy="320040"/>
          </a:xfrm>
          <a:prstGeom prst="rect">
            <a:avLst/>
          </a:prstGeom>
          <a:noFill/>
          <a:ln/>
        </p:spPr>
        <p:txBody>
          <a:bodyPr wrap="square" lIns="0" tIns="0" rIns="0" bIns="0" rtlCol="0" anchor="ctr"/>
          <a:lstStyle/>
          <a:p>
            <a:pPr marL="0" indent="0">
              <a:buNone/>
            </a:pPr>
            <a:r>
              <a:rPr lang="en-US" sz="1000" b="1" dirty="0">
                <a:solidFill>
                  <a:srgbClr val="0A1628"/>
                </a:solidFill>
              </a:rPr>
              <a:t>Compliance Issues &amp; E-Invoicing</a:t>
            </a:r>
            <a:endParaRPr lang="en-US" sz="1000" dirty="0"/>
          </a:p>
        </p:txBody>
      </p:sp>
      <p:sp>
        <p:nvSpPr>
          <p:cNvPr id="29" name="Text 27"/>
          <p:cNvSpPr/>
          <p:nvPr/>
        </p:nvSpPr>
        <p:spPr>
          <a:xfrm>
            <a:off x="5596128" y="2212848"/>
            <a:ext cx="3246120" cy="182880"/>
          </a:xfrm>
          <a:prstGeom prst="rect">
            <a:avLst/>
          </a:prstGeom>
          <a:noFill/>
          <a:ln/>
        </p:spPr>
        <p:txBody>
          <a:bodyPr wrap="square" lIns="0" tIns="0" rIns="0" bIns="0" rtlCol="0" anchor="ctr"/>
          <a:lstStyle/>
          <a:p>
            <a:pPr marL="0" indent="0">
              <a:buNone/>
            </a:pPr>
            <a:r>
              <a:rPr lang="en-US" sz="800" dirty="0">
                <a:solidFill>
                  <a:srgbClr val="64748B"/>
                </a:solidFill>
              </a:rPr>
              <a:t>Slides 15-16</a:t>
            </a:r>
            <a:endParaRPr lang="en-US" sz="800" dirty="0"/>
          </a:p>
        </p:txBody>
      </p:sp>
      <p:sp>
        <p:nvSpPr>
          <p:cNvPr id="30" name="Shape 28"/>
          <p:cNvSpPr/>
          <p:nvPr/>
        </p:nvSpPr>
        <p:spPr>
          <a:xfrm>
            <a:off x="457200" y="2523744"/>
            <a:ext cx="3931920" cy="621792"/>
          </a:xfrm>
          <a:prstGeom prst="rect">
            <a:avLst/>
          </a:prstGeom>
          <a:solidFill>
            <a:srgbClr val="FFFFFF"/>
          </a:solidFill>
          <a:ln w="6350">
            <a:solidFill>
              <a:srgbClr val="CBD5E1"/>
            </a:solidFill>
            <a:prstDash val="solid"/>
          </a:ln>
          <a:effectLst>
            <a:outerShdw blurRad="38100" dist="12700" dir="8100000" algn="bl" rotWithShape="0">
              <a:srgbClr val="000000">
                <a:alpha val="7000"/>
              </a:srgbClr>
            </a:outerShdw>
          </a:effectLst>
        </p:spPr>
        <p:txBody>
          <a:bodyPr/>
          <a:lstStyle/>
          <a:p>
            <a:endParaRPr lang="en-DE"/>
          </a:p>
        </p:txBody>
      </p:sp>
      <p:sp>
        <p:nvSpPr>
          <p:cNvPr id="31" name="Shape 29"/>
          <p:cNvSpPr/>
          <p:nvPr/>
        </p:nvSpPr>
        <p:spPr>
          <a:xfrm>
            <a:off x="457200" y="2523744"/>
            <a:ext cx="475488" cy="621792"/>
          </a:xfrm>
          <a:prstGeom prst="rect">
            <a:avLst/>
          </a:prstGeom>
          <a:solidFill>
            <a:srgbClr val="2C4A6E"/>
          </a:solidFill>
          <a:ln w="12700">
            <a:solidFill>
              <a:srgbClr val="2C4A6E"/>
            </a:solidFill>
            <a:prstDash val="solid"/>
          </a:ln>
        </p:spPr>
        <p:txBody>
          <a:bodyPr/>
          <a:lstStyle/>
          <a:p>
            <a:endParaRPr lang="en-DE"/>
          </a:p>
        </p:txBody>
      </p:sp>
      <p:sp>
        <p:nvSpPr>
          <p:cNvPr id="32" name="Text 30"/>
          <p:cNvSpPr/>
          <p:nvPr/>
        </p:nvSpPr>
        <p:spPr>
          <a:xfrm>
            <a:off x="493776" y="2688336"/>
            <a:ext cx="402336" cy="292608"/>
          </a:xfrm>
          <a:prstGeom prst="rect">
            <a:avLst/>
          </a:prstGeom>
          <a:noFill/>
          <a:ln/>
        </p:spPr>
        <p:txBody>
          <a:bodyPr wrap="square" lIns="0" tIns="0" rIns="0" bIns="0" rtlCol="0" anchor="ctr"/>
          <a:lstStyle/>
          <a:p>
            <a:pPr marL="0" indent="0" algn="ctr">
              <a:buNone/>
            </a:pPr>
            <a:r>
              <a:rPr lang="en-US" sz="1600" b="1" dirty="0">
                <a:solidFill>
                  <a:srgbClr val="FFFFFF"/>
                </a:solidFill>
              </a:rPr>
              <a:t>05</a:t>
            </a:r>
            <a:endParaRPr lang="en-US" sz="1600" dirty="0"/>
          </a:p>
        </p:txBody>
      </p:sp>
      <p:sp>
        <p:nvSpPr>
          <p:cNvPr id="33" name="Text 31"/>
          <p:cNvSpPr/>
          <p:nvPr/>
        </p:nvSpPr>
        <p:spPr>
          <a:xfrm>
            <a:off x="1024128" y="2615184"/>
            <a:ext cx="3246120" cy="320040"/>
          </a:xfrm>
          <a:prstGeom prst="rect">
            <a:avLst/>
          </a:prstGeom>
          <a:noFill/>
          <a:ln/>
        </p:spPr>
        <p:txBody>
          <a:bodyPr wrap="square" lIns="0" tIns="0" rIns="0" bIns="0" rtlCol="0" anchor="ctr"/>
          <a:lstStyle/>
          <a:p>
            <a:pPr marL="0" indent="0">
              <a:buNone/>
            </a:pPr>
            <a:r>
              <a:rPr lang="en-US" sz="1000" b="1" dirty="0">
                <a:solidFill>
                  <a:srgbClr val="0A1628"/>
                </a:solidFill>
              </a:rPr>
              <a:t>Advisory: Advance Payments</a:t>
            </a:r>
            <a:endParaRPr lang="en-US" sz="1000" dirty="0"/>
          </a:p>
        </p:txBody>
      </p:sp>
      <p:sp>
        <p:nvSpPr>
          <p:cNvPr id="34" name="Text 32"/>
          <p:cNvSpPr/>
          <p:nvPr/>
        </p:nvSpPr>
        <p:spPr>
          <a:xfrm>
            <a:off x="1024128" y="2926080"/>
            <a:ext cx="3246120" cy="182880"/>
          </a:xfrm>
          <a:prstGeom prst="rect">
            <a:avLst/>
          </a:prstGeom>
          <a:noFill/>
          <a:ln/>
        </p:spPr>
        <p:txBody>
          <a:bodyPr wrap="square" lIns="0" tIns="0" rIns="0" bIns="0" rtlCol="0" anchor="ctr"/>
          <a:lstStyle/>
          <a:p>
            <a:pPr marL="0" indent="0">
              <a:buNone/>
            </a:pPr>
            <a:r>
              <a:rPr lang="en-US" sz="800" dirty="0">
                <a:solidFill>
                  <a:srgbClr val="64748B"/>
                </a:solidFill>
              </a:rPr>
              <a:t>Slides 17</a:t>
            </a:r>
            <a:endParaRPr lang="en-US" sz="800" dirty="0"/>
          </a:p>
        </p:txBody>
      </p:sp>
      <p:sp>
        <p:nvSpPr>
          <p:cNvPr id="35" name="Shape 33"/>
          <p:cNvSpPr/>
          <p:nvPr/>
        </p:nvSpPr>
        <p:spPr>
          <a:xfrm>
            <a:off x="5029200" y="2523744"/>
            <a:ext cx="3931920" cy="621792"/>
          </a:xfrm>
          <a:prstGeom prst="rect">
            <a:avLst/>
          </a:prstGeom>
          <a:solidFill>
            <a:srgbClr val="FFFFFF"/>
          </a:solidFill>
          <a:ln w="6350">
            <a:solidFill>
              <a:srgbClr val="CBD5E1"/>
            </a:solidFill>
            <a:prstDash val="solid"/>
          </a:ln>
          <a:effectLst>
            <a:outerShdw blurRad="38100" dist="12700" dir="8100000" algn="bl" rotWithShape="0">
              <a:srgbClr val="000000">
                <a:alpha val="7000"/>
              </a:srgbClr>
            </a:outerShdw>
          </a:effectLst>
        </p:spPr>
        <p:txBody>
          <a:bodyPr/>
          <a:lstStyle/>
          <a:p>
            <a:endParaRPr lang="en-DE"/>
          </a:p>
        </p:txBody>
      </p:sp>
      <p:sp>
        <p:nvSpPr>
          <p:cNvPr id="36" name="Shape 34"/>
          <p:cNvSpPr/>
          <p:nvPr/>
        </p:nvSpPr>
        <p:spPr>
          <a:xfrm>
            <a:off x="5029200" y="2523744"/>
            <a:ext cx="475488" cy="621792"/>
          </a:xfrm>
          <a:prstGeom prst="rect">
            <a:avLst/>
          </a:prstGeom>
          <a:solidFill>
            <a:srgbClr val="C0392B"/>
          </a:solidFill>
          <a:ln w="12700">
            <a:solidFill>
              <a:srgbClr val="C0392B"/>
            </a:solidFill>
            <a:prstDash val="solid"/>
          </a:ln>
        </p:spPr>
        <p:txBody>
          <a:bodyPr/>
          <a:lstStyle/>
          <a:p>
            <a:endParaRPr lang="en-DE"/>
          </a:p>
        </p:txBody>
      </p:sp>
      <p:sp>
        <p:nvSpPr>
          <p:cNvPr id="37" name="Text 35"/>
          <p:cNvSpPr/>
          <p:nvPr/>
        </p:nvSpPr>
        <p:spPr>
          <a:xfrm>
            <a:off x="5065776" y="2688336"/>
            <a:ext cx="402336" cy="292608"/>
          </a:xfrm>
          <a:prstGeom prst="rect">
            <a:avLst/>
          </a:prstGeom>
          <a:noFill/>
          <a:ln/>
        </p:spPr>
        <p:txBody>
          <a:bodyPr wrap="square" lIns="0" tIns="0" rIns="0" bIns="0" rtlCol="0" anchor="ctr"/>
          <a:lstStyle/>
          <a:p>
            <a:pPr marL="0" indent="0" algn="ctr">
              <a:buNone/>
            </a:pPr>
            <a:r>
              <a:rPr lang="en-US" sz="1600" b="1" dirty="0">
                <a:solidFill>
                  <a:srgbClr val="FFFFFF"/>
                </a:solidFill>
              </a:rPr>
              <a:t>06</a:t>
            </a:r>
            <a:endParaRPr lang="en-US" sz="1600" dirty="0"/>
          </a:p>
        </p:txBody>
      </p:sp>
      <p:sp>
        <p:nvSpPr>
          <p:cNvPr id="38" name="Text 36"/>
          <p:cNvSpPr/>
          <p:nvPr/>
        </p:nvSpPr>
        <p:spPr>
          <a:xfrm>
            <a:off x="5596128" y="2615184"/>
            <a:ext cx="3246120" cy="320040"/>
          </a:xfrm>
          <a:prstGeom prst="rect">
            <a:avLst/>
          </a:prstGeom>
          <a:noFill/>
          <a:ln/>
        </p:spPr>
        <p:txBody>
          <a:bodyPr wrap="square" lIns="0" tIns="0" rIns="0" bIns="0" rtlCol="0" anchor="ctr"/>
          <a:lstStyle/>
          <a:p>
            <a:pPr marL="0" indent="0">
              <a:buNone/>
            </a:pPr>
            <a:r>
              <a:rPr lang="en-US" sz="1000" b="1" dirty="0">
                <a:solidFill>
                  <a:srgbClr val="0A1628"/>
                </a:solidFill>
              </a:rPr>
              <a:t>Risk Heatmap</a:t>
            </a:r>
            <a:endParaRPr lang="en-US" sz="1000" dirty="0"/>
          </a:p>
        </p:txBody>
      </p:sp>
      <p:sp>
        <p:nvSpPr>
          <p:cNvPr id="39" name="Text 37"/>
          <p:cNvSpPr/>
          <p:nvPr/>
        </p:nvSpPr>
        <p:spPr>
          <a:xfrm>
            <a:off x="5596128" y="2926080"/>
            <a:ext cx="3246120" cy="182880"/>
          </a:xfrm>
          <a:prstGeom prst="rect">
            <a:avLst/>
          </a:prstGeom>
          <a:noFill/>
          <a:ln/>
        </p:spPr>
        <p:txBody>
          <a:bodyPr wrap="square" lIns="0" tIns="0" rIns="0" bIns="0" rtlCol="0" anchor="ctr"/>
          <a:lstStyle/>
          <a:p>
            <a:pPr marL="0" indent="0">
              <a:buNone/>
            </a:pPr>
            <a:r>
              <a:rPr lang="en-US" sz="800" dirty="0">
                <a:solidFill>
                  <a:srgbClr val="64748B"/>
                </a:solidFill>
              </a:rPr>
              <a:t>Slides 18</a:t>
            </a:r>
            <a:endParaRPr lang="en-US" sz="800" dirty="0"/>
          </a:p>
        </p:txBody>
      </p:sp>
      <p:sp>
        <p:nvSpPr>
          <p:cNvPr id="40" name="Shape 38"/>
          <p:cNvSpPr/>
          <p:nvPr/>
        </p:nvSpPr>
        <p:spPr>
          <a:xfrm>
            <a:off x="457200" y="3236976"/>
            <a:ext cx="3931920" cy="621792"/>
          </a:xfrm>
          <a:prstGeom prst="rect">
            <a:avLst/>
          </a:prstGeom>
          <a:solidFill>
            <a:srgbClr val="FFFFFF"/>
          </a:solidFill>
          <a:ln w="6350">
            <a:solidFill>
              <a:srgbClr val="CBD5E1"/>
            </a:solidFill>
            <a:prstDash val="solid"/>
          </a:ln>
          <a:effectLst>
            <a:outerShdw blurRad="38100" dist="12700" dir="8100000" algn="bl" rotWithShape="0">
              <a:srgbClr val="000000">
                <a:alpha val="7000"/>
              </a:srgbClr>
            </a:outerShdw>
          </a:effectLst>
        </p:spPr>
        <p:txBody>
          <a:bodyPr/>
          <a:lstStyle/>
          <a:p>
            <a:endParaRPr lang="en-DE"/>
          </a:p>
        </p:txBody>
      </p:sp>
      <p:sp>
        <p:nvSpPr>
          <p:cNvPr id="41" name="Shape 39"/>
          <p:cNvSpPr/>
          <p:nvPr/>
        </p:nvSpPr>
        <p:spPr>
          <a:xfrm>
            <a:off x="457200" y="3236976"/>
            <a:ext cx="475488" cy="621792"/>
          </a:xfrm>
          <a:prstGeom prst="rect">
            <a:avLst/>
          </a:prstGeom>
          <a:solidFill>
            <a:srgbClr val="2C4A6E"/>
          </a:solidFill>
          <a:ln w="12700">
            <a:solidFill>
              <a:srgbClr val="2C4A6E"/>
            </a:solidFill>
            <a:prstDash val="solid"/>
          </a:ln>
        </p:spPr>
        <p:txBody>
          <a:bodyPr/>
          <a:lstStyle/>
          <a:p>
            <a:endParaRPr lang="en-DE"/>
          </a:p>
        </p:txBody>
      </p:sp>
      <p:sp>
        <p:nvSpPr>
          <p:cNvPr id="42" name="Text 40"/>
          <p:cNvSpPr/>
          <p:nvPr/>
        </p:nvSpPr>
        <p:spPr>
          <a:xfrm>
            <a:off x="493776" y="3401568"/>
            <a:ext cx="402336" cy="292608"/>
          </a:xfrm>
          <a:prstGeom prst="rect">
            <a:avLst/>
          </a:prstGeom>
          <a:noFill/>
          <a:ln/>
        </p:spPr>
        <p:txBody>
          <a:bodyPr wrap="square" lIns="0" tIns="0" rIns="0" bIns="0" rtlCol="0" anchor="ctr"/>
          <a:lstStyle/>
          <a:p>
            <a:pPr marL="0" indent="0" algn="ctr">
              <a:buNone/>
            </a:pPr>
            <a:r>
              <a:rPr lang="en-US" sz="1600" b="1" dirty="0">
                <a:solidFill>
                  <a:srgbClr val="FFFFFF"/>
                </a:solidFill>
              </a:rPr>
              <a:t>07</a:t>
            </a:r>
            <a:endParaRPr lang="en-US" sz="1600" dirty="0"/>
          </a:p>
        </p:txBody>
      </p:sp>
      <p:sp>
        <p:nvSpPr>
          <p:cNvPr id="43" name="Text 41"/>
          <p:cNvSpPr/>
          <p:nvPr/>
        </p:nvSpPr>
        <p:spPr>
          <a:xfrm>
            <a:off x="1024128" y="3328416"/>
            <a:ext cx="3246120" cy="320040"/>
          </a:xfrm>
          <a:prstGeom prst="rect">
            <a:avLst/>
          </a:prstGeom>
          <a:noFill/>
          <a:ln/>
        </p:spPr>
        <p:txBody>
          <a:bodyPr wrap="square" lIns="0" tIns="0" rIns="0" bIns="0" rtlCol="0" anchor="ctr"/>
          <a:lstStyle/>
          <a:p>
            <a:pPr marL="0" indent="0">
              <a:buNone/>
            </a:pPr>
            <a:r>
              <a:rPr lang="en-US" sz="1000" b="1" dirty="0">
                <a:solidFill>
                  <a:srgbClr val="0A1628"/>
                </a:solidFill>
              </a:rPr>
              <a:t>VAT Process Timeline</a:t>
            </a:r>
            <a:endParaRPr lang="en-US" sz="1000" dirty="0"/>
          </a:p>
        </p:txBody>
      </p:sp>
      <p:sp>
        <p:nvSpPr>
          <p:cNvPr id="44" name="Text 42"/>
          <p:cNvSpPr/>
          <p:nvPr/>
        </p:nvSpPr>
        <p:spPr>
          <a:xfrm>
            <a:off x="1024128" y="3639312"/>
            <a:ext cx="3246120" cy="182880"/>
          </a:xfrm>
          <a:prstGeom prst="rect">
            <a:avLst/>
          </a:prstGeom>
          <a:noFill/>
          <a:ln/>
        </p:spPr>
        <p:txBody>
          <a:bodyPr wrap="square" lIns="0" tIns="0" rIns="0" bIns="0" rtlCol="0" anchor="ctr"/>
          <a:lstStyle/>
          <a:p>
            <a:pPr marL="0" indent="0">
              <a:buNone/>
            </a:pPr>
            <a:r>
              <a:rPr lang="en-US" sz="800" dirty="0">
                <a:solidFill>
                  <a:srgbClr val="64748B"/>
                </a:solidFill>
              </a:rPr>
              <a:t>Slides 19</a:t>
            </a:r>
            <a:endParaRPr lang="en-US" sz="800" dirty="0"/>
          </a:p>
        </p:txBody>
      </p:sp>
      <p:sp>
        <p:nvSpPr>
          <p:cNvPr id="45" name="Shape 43"/>
          <p:cNvSpPr/>
          <p:nvPr/>
        </p:nvSpPr>
        <p:spPr>
          <a:xfrm>
            <a:off x="5029200" y="3236976"/>
            <a:ext cx="3931920" cy="621792"/>
          </a:xfrm>
          <a:prstGeom prst="rect">
            <a:avLst/>
          </a:prstGeom>
          <a:solidFill>
            <a:srgbClr val="FFFFFF"/>
          </a:solidFill>
          <a:ln w="6350">
            <a:solidFill>
              <a:srgbClr val="CBD5E1"/>
            </a:solidFill>
            <a:prstDash val="solid"/>
          </a:ln>
          <a:effectLst>
            <a:outerShdw blurRad="38100" dist="12700" dir="8100000" algn="bl" rotWithShape="0">
              <a:srgbClr val="000000">
                <a:alpha val="7000"/>
              </a:srgbClr>
            </a:outerShdw>
          </a:effectLst>
        </p:spPr>
        <p:txBody>
          <a:bodyPr/>
          <a:lstStyle/>
          <a:p>
            <a:endParaRPr lang="en-DE"/>
          </a:p>
        </p:txBody>
      </p:sp>
      <p:sp>
        <p:nvSpPr>
          <p:cNvPr id="46" name="Shape 44"/>
          <p:cNvSpPr/>
          <p:nvPr/>
        </p:nvSpPr>
        <p:spPr>
          <a:xfrm>
            <a:off x="5029200" y="3236976"/>
            <a:ext cx="475488" cy="621792"/>
          </a:xfrm>
          <a:prstGeom prst="rect">
            <a:avLst/>
          </a:prstGeom>
          <a:solidFill>
            <a:srgbClr val="2C4A6E"/>
          </a:solidFill>
          <a:ln w="12700">
            <a:solidFill>
              <a:srgbClr val="2C4A6E"/>
            </a:solidFill>
            <a:prstDash val="solid"/>
          </a:ln>
        </p:spPr>
        <p:txBody>
          <a:bodyPr/>
          <a:lstStyle/>
          <a:p>
            <a:endParaRPr lang="en-DE"/>
          </a:p>
        </p:txBody>
      </p:sp>
      <p:sp>
        <p:nvSpPr>
          <p:cNvPr id="47" name="Text 45"/>
          <p:cNvSpPr/>
          <p:nvPr/>
        </p:nvSpPr>
        <p:spPr>
          <a:xfrm>
            <a:off x="5065776" y="3401568"/>
            <a:ext cx="402336" cy="292608"/>
          </a:xfrm>
          <a:prstGeom prst="rect">
            <a:avLst/>
          </a:prstGeom>
          <a:noFill/>
          <a:ln/>
        </p:spPr>
        <p:txBody>
          <a:bodyPr wrap="square" lIns="0" tIns="0" rIns="0" bIns="0" rtlCol="0" anchor="ctr"/>
          <a:lstStyle/>
          <a:p>
            <a:pPr marL="0" indent="0" algn="ctr">
              <a:buNone/>
            </a:pPr>
            <a:r>
              <a:rPr lang="en-US" sz="1600" b="1" dirty="0">
                <a:solidFill>
                  <a:srgbClr val="FFFFFF"/>
                </a:solidFill>
              </a:rPr>
              <a:t>08</a:t>
            </a:r>
            <a:endParaRPr lang="en-US" sz="1600" dirty="0"/>
          </a:p>
        </p:txBody>
      </p:sp>
      <p:sp>
        <p:nvSpPr>
          <p:cNvPr id="48" name="Text 46"/>
          <p:cNvSpPr/>
          <p:nvPr/>
        </p:nvSpPr>
        <p:spPr>
          <a:xfrm>
            <a:off x="5596128" y="3328416"/>
            <a:ext cx="3246120" cy="320040"/>
          </a:xfrm>
          <a:prstGeom prst="rect">
            <a:avLst/>
          </a:prstGeom>
          <a:noFill/>
          <a:ln/>
        </p:spPr>
        <p:txBody>
          <a:bodyPr wrap="square" lIns="0" tIns="0" rIns="0" bIns="0" rtlCol="0" anchor="ctr"/>
          <a:lstStyle/>
          <a:p>
            <a:pPr marL="0" indent="0">
              <a:buNone/>
            </a:pPr>
            <a:r>
              <a:rPr lang="en-US" sz="1000" b="1" dirty="0">
                <a:solidFill>
                  <a:srgbClr val="0A1628"/>
                </a:solidFill>
              </a:rPr>
              <a:t>Tax Technology Layer</a:t>
            </a:r>
            <a:endParaRPr lang="en-US" sz="1000" dirty="0"/>
          </a:p>
        </p:txBody>
      </p:sp>
      <p:sp>
        <p:nvSpPr>
          <p:cNvPr id="49" name="Text 47"/>
          <p:cNvSpPr/>
          <p:nvPr/>
        </p:nvSpPr>
        <p:spPr>
          <a:xfrm>
            <a:off x="5596128" y="3639312"/>
            <a:ext cx="3246120" cy="182880"/>
          </a:xfrm>
          <a:prstGeom prst="rect">
            <a:avLst/>
          </a:prstGeom>
          <a:noFill/>
          <a:ln/>
        </p:spPr>
        <p:txBody>
          <a:bodyPr wrap="square" lIns="0" tIns="0" rIns="0" bIns="0" rtlCol="0" anchor="ctr"/>
          <a:lstStyle/>
          <a:p>
            <a:pPr marL="0" indent="0">
              <a:buNone/>
            </a:pPr>
            <a:r>
              <a:rPr lang="en-US" sz="800" dirty="0">
                <a:solidFill>
                  <a:srgbClr val="64748B"/>
                </a:solidFill>
              </a:rPr>
              <a:t>Slides 20</a:t>
            </a:r>
            <a:endParaRPr lang="en-US" sz="800" dirty="0"/>
          </a:p>
        </p:txBody>
      </p:sp>
      <p:sp>
        <p:nvSpPr>
          <p:cNvPr id="50" name="Shape 48"/>
          <p:cNvSpPr/>
          <p:nvPr/>
        </p:nvSpPr>
        <p:spPr>
          <a:xfrm>
            <a:off x="457200" y="3950208"/>
            <a:ext cx="3931920" cy="621792"/>
          </a:xfrm>
          <a:prstGeom prst="rect">
            <a:avLst/>
          </a:prstGeom>
          <a:solidFill>
            <a:srgbClr val="FFFFFF"/>
          </a:solidFill>
          <a:ln w="6350">
            <a:solidFill>
              <a:srgbClr val="CBD5E1"/>
            </a:solidFill>
            <a:prstDash val="solid"/>
          </a:ln>
          <a:effectLst>
            <a:outerShdw blurRad="38100" dist="12700" dir="8100000" algn="bl" rotWithShape="0">
              <a:srgbClr val="000000">
                <a:alpha val="7000"/>
              </a:srgbClr>
            </a:outerShdw>
          </a:effectLst>
        </p:spPr>
        <p:txBody>
          <a:bodyPr/>
          <a:lstStyle/>
          <a:p>
            <a:endParaRPr lang="en-DE"/>
          </a:p>
        </p:txBody>
      </p:sp>
      <p:sp>
        <p:nvSpPr>
          <p:cNvPr id="51" name="Shape 49"/>
          <p:cNvSpPr/>
          <p:nvPr/>
        </p:nvSpPr>
        <p:spPr>
          <a:xfrm>
            <a:off x="457200" y="3950208"/>
            <a:ext cx="475488" cy="621792"/>
          </a:xfrm>
          <a:prstGeom prst="rect">
            <a:avLst/>
          </a:prstGeom>
          <a:solidFill>
            <a:srgbClr val="006B6B"/>
          </a:solidFill>
          <a:ln w="12700">
            <a:solidFill>
              <a:srgbClr val="006B6B"/>
            </a:solidFill>
            <a:prstDash val="solid"/>
          </a:ln>
        </p:spPr>
        <p:txBody>
          <a:bodyPr/>
          <a:lstStyle/>
          <a:p>
            <a:endParaRPr lang="en-DE"/>
          </a:p>
        </p:txBody>
      </p:sp>
      <p:sp>
        <p:nvSpPr>
          <p:cNvPr id="52" name="Text 50"/>
          <p:cNvSpPr/>
          <p:nvPr/>
        </p:nvSpPr>
        <p:spPr>
          <a:xfrm>
            <a:off x="493776" y="4114800"/>
            <a:ext cx="402336" cy="292608"/>
          </a:xfrm>
          <a:prstGeom prst="rect">
            <a:avLst/>
          </a:prstGeom>
          <a:noFill/>
          <a:ln/>
        </p:spPr>
        <p:txBody>
          <a:bodyPr wrap="square" lIns="0" tIns="0" rIns="0" bIns="0" rtlCol="0" anchor="ctr"/>
          <a:lstStyle/>
          <a:p>
            <a:pPr marL="0" indent="0" algn="ctr">
              <a:buNone/>
            </a:pPr>
            <a:r>
              <a:rPr lang="en-US" sz="1600" b="1" dirty="0">
                <a:solidFill>
                  <a:srgbClr val="FFFFFF"/>
                </a:solidFill>
              </a:rPr>
              <a:t>09</a:t>
            </a:r>
            <a:endParaRPr lang="en-US" sz="1600" dirty="0"/>
          </a:p>
        </p:txBody>
      </p:sp>
      <p:sp>
        <p:nvSpPr>
          <p:cNvPr id="53" name="Text 51"/>
          <p:cNvSpPr/>
          <p:nvPr/>
        </p:nvSpPr>
        <p:spPr>
          <a:xfrm>
            <a:off x="1024128" y="4041648"/>
            <a:ext cx="3246120" cy="320040"/>
          </a:xfrm>
          <a:prstGeom prst="rect">
            <a:avLst/>
          </a:prstGeom>
          <a:noFill/>
          <a:ln/>
        </p:spPr>
        <p:txBody>
          <a:bodyPr wrap="square" lIns="0" tIns="0" rIns="0" bIns="0" rtlCol="0" anchor="ctr"/>
          <a:lstStyle/>
          <a:p>
            <a:pPr marL="0" indent="0">
              <a:buNone/>
            </a:pPr>
            <a:r>
              <a:rPr lang="en-US" sz="1000" b="1" dirty="0">
                <a:solidFill>
                  <a:srgbClr val="0A1628"/>
                </a:solidFill>
              </a:rPr>
              <a:t>Management Action Plan</a:t>
            </a:r>
            <a:endParaRPr lang="en-US" sz="1000" dirty="0"/>
          </a:p>
        </p:txBody>
      </p:sp>
      <p:sp>
        <p:nvSpPr>
          <p:cNvPr id="54" name="Text 52"/>
          <p:cNvSpPr/>
          <p:nvPr/>
        </p:nvSpPr>
        <p:spPr>
          <a:xfrm>
            <a:off x="1024128" y="4352544"/>
            <a:ext cx="3246120" cy="182880"/>
          </a:xfrm>
          <a:prstGeom prst="rect">
            <a:avLst/>
          </a:prstGeom>
          <a:noFill/>
          <a:ln/>
        </p:spPr>
        <p:txBody>
          <a:bodyPr wrap="square" lIns="0" tIns="0" rIns="0" bIns="0" rtlCol="0" anchor="ctr"/>
          <a:lstStyle/>
          <a:p>
            <a:pPr marL="0" indent="0">
              <a:buNone/>
            </a:pPr>
            <a:r>
              <a:rPr lang="en-US" sz="800" dirty="0">
                <a:solidFill>
                  <a:srgbClr val="64748B"/>
                </a:solidFill>
              </a:rPr>
              <a:t>Slides 21</a:t>
            </a:r>
            <a:endParaRPr lang="en-US" sz="800" dirty="0"/>
          </a:p>
        </p:txBody>
      </p:sp>
      <p:sp>
        <p:nvSpPr>
          <p:cNvPr id="55" name="Shape 53"/>
          <p:cNvSpPr/>
          <p:nvPr/>
        </p:nvSpPr>
        <p:spPr>
          <a:xfrm>
            <a:off x="5029200" y="3950208"/>
            <a:ext cx="3931920" cy="621792"/>
          </a:xfrm>
          <a:prstGeom prst="rect">
            <a:avLst/>
          </a:prstGeom>
          <a:solidFill>
            <a:srgbClr val="FFFFFF"/>
          </a:solidFill>
          <a:ln w="6350">
            <a:solidFill>
              <a:srgbClr val="CBD5E1"/>
            </a:solidFill>
            <a:prstDash val="solid"/>
          </a:ln>
          <a:effectLst>
            <a:outerShdw blurRad="38100" dist="12700" dir="8100000" algn="bl" rotWithShape="0">
              <a:srgbClr val="000000">
                <a:alpha val="7000"/>
              </a:srgbClr>
            </a:outerShdw>
          </a:effectLst>
        </p:spPr>
        <p:txBody>
          <a:bodyPr/>
          <a:lstStyle/>
          <a:p>
            <a:endParaRPr lang="en-DE"/>
          </a:p>
        </p:txBody>
      </p:sp>
      <p:sp>
        <p:nvSpPr>
          <p:cNvPr id="56" name="Shape 54"/>
          <p:cNvSpPr/>
          <p:nvPr/>
        </p:nvSpPr>
        <p:spPr>
          <a:xfrm>
            <a:off x="5029200" y="3950208"/>
            <a:ext cx="475488" cy="621792"/>
          </a:xfrm>
          <a:prstGeom prst="rect">
            <a:avLst/>
          </a:prstGeom>
          <a:solidFill>
            <a:srgbClr val="64748B"/>
          </a:solidFill>
          <a:ln w="12700">
            <a:solidFill>
              <a:srgbClr val="64748B"/>
            </a:solidFill>
            <a:prstDash val="solid"/>
          </a:ln>
        </p:spPr>
        <p:txBody>
          <a:bodyPr/>
          <a:lstStyle/>
          <a:p>
            <a:endParaRPr lang="en-DE"/>
          </a:p>
        </p:txBody>
      </p:sp>
      <p:sp>
        <p:nvSpPr>
          <p:cNvPr id="57" name="Text 55"/>
          <p:cNvSpPr/>
          <p:nvPr/>
        </p:nvSpPr>
        <p:spPr>
          <a:xfrm>
            <a:off x="5065776" y="4114800"/>
            <a:ext cx="402336" cy="292608"/>
          </a:xfrm>
          <a:prstGeom prst="rect">
            <a:avLst/>
          </a:prstGeom>
          <a:noFill/>
          <a:ln/>
        </p:spPr>
        <p:txBody>
          <a:bodyPr wrap="square" lIns="0" tIns="0" rIns="0" bIns="0" rtlCol="0" anchor="ctr"/>
          <a:lstStyle/>
          <a:p>
            <a:pPr marL="0" indent="0" algn="ctr">
              <a:buNone/>
            </a:pPr>
            <a:r>
              <a:rPr lang="en-US" sz="1600" b="1" dirty="0">
                <a:solidFill>
                  <a:srgbClr val="FFFFFF"/>
                </a:solidFill>
              </a:rPr>
              <a:t>10</a:t>
            </a:r>
            <a:endParaRPr lang="en-US" sz="1600" dirty="0"/>
          </a:p>
        </p:txBody>
      </p:sp>
      <p:sp>
        <p:nvSpPr>
          <p:cNvPr id="58" name="Text 56"/>
          <p:cNvSpPr/>
          <p:nvPr/>
        </p:nvSpPr>
        <p:spPr>
          <a:xfrm>
            <a:off x="5596128" y="4041648"/>
            <a:ext cx="3246120" cy="320040"/>
          </a:xfrm>
          <a:prstGeom prst="rect">
            <a:avLst/>
          </a:prstGeom>
          <a:noFill/>
          <a:ln/>
        </p:spPr>
        <p:txBody>
          <a:bodyPr wrap="square" lIns="0" tIns="0" rIns="0" bIns="0" rtlCol="0" anchor="ctr"/>
          <a:lstStyle/>
          <a:p>
            <a:pPr marL="0" indent="0">
              <a:buNone/>
            </a:pPr>
            <a:r>
              <a:rPr lang="en-US" sz="1000" b="1" dirty="0">
                <a:solidFill>
                  <a:srgbClr val="0A1628"/>
                </a:solidFill>
              </a:rPr>
              <a:t>Appendix - Legal Reference Index</a:t>
            </a:r>
            <a:endParaRPr lang="en-US" sz="1000" dirty="0"/>
          </a:p>
        </p:txBody>
      </p:sp>
      <p:sp>
        <p:nvSpPr>
          <p:cNvPr id="59" name="Text 57"/>
          <p:cNvSpPr/>
          <p:nvPr/>
        </p:nvSpPr>
        <p:spPr>
          <a:xfrm>
            <a:off x="5596128" y="4352544"/>
            <a:ext cx="3246120" cy="182880"/>
          </a:xfrm>
          <a:prstGeom prst="rect">
            <a:avLst/>
          </a:prstGeom>
          <a:noFill/>
          <a:ln/>
        </p:spPr>
        <p:txBody>
          <a:bodyPr wrap="square" lIns="0" tIns="0" rIns="0" bIns="0" rtlCol="0" anchor="ctr"/>
          <a:lstStyle/>
          <a:p>
            <a:pPr marL="0" indent="0">
              <a:buNone/>
            </a:pPr>
            <a:r>
              <a:rPr lang="en-US" sz="800" dirty="0">
                <a:solidFill>
                  <a:srgbClr val="64748B"/>
                </a:solidFill>
              </a:rPr>
              <a:t>Slides 22-23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4" name="Text 2"/>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5" name="Text 3"/>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EXEC SUMMARY</a:t>
            </a:r>
            <a:endParaRPr lang="en-US" sz="7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3 / 23</a:t>
            </a:r>
            <a:endParaRPr lang="en-US" sz="700" dirty="0"/>
          </a:p>
        </p:txBody>
      </p:sp>
      <p:sp>
        <p:nvSpPr>
          <p:cNvPr id="7" name="Text 5"/>
          <p:cNvSpPr/>
          <p:nvPr/>
        </p:nvSpPr>
        <p:spPr>
          <a:xfrm>
            <a:off x="411480" y="137160"/>
            <a:ext cx="6400800" cy="201168"/>
          </a:xfrm>
          <a:prstGeom prst="rect">
            <a:avLst/>
          </a:prstGeom>
          <a:noFill/>
          <a:ln/>
        </p:spPr>
        <p:txBody>
          <a:bodyPr wrap="square" lIns="0" tIns="0" rIns="0" bIns="0" rtlCol="0" anchor="ctr"/>
          <a:lstStyle/>
          <a:p>
            <a:pPr marL="0" indent="0">
              <a:buNone/>
            </a:pPr>
            <a:r>
              <a:rPr lang="en-US" sz="800" b="1" kern="0" spc="200" dirty="0">
                <a:solidFill>
                  <a:srgbClr val="006B6B"/>
                </a:solidFill>
              </a:rPr>
              <a:t>01 | EXECUTIVE SUMMARY</a:t>
            </a:r>
            <a:endParaRPr lang="en-US" sz="800" dirty="0"/>
          </a:p>
        </p:txBody>
      </p:sp>
      <p:sp>
        <p:nvSpPr>
          <p:cNvPr id="8" name="Text 6"/>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Key Findings at a Glance</a:t>
            </a:r>
            <a:endParaRPr lang="en-US" sz="2100" dirty="0"/>
          </a:p>
        </p:txBody>
      </p:sp>
      <p:sp>
        <p:nvSpPr>
          <p:cNvPr id="9" name="Text 7"/>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High-level audit conclusions for Ms. Schmidt (CFO) and Ms. Meyer (Purchasing)</a:t>
            </a:r>
            <a:endParaRPr lang="en-US" sz="950" dirty="0"/>
          </a:p>
        </p:txBody>
      </p:sp>
      <p:sp>
        <p:nvSpPr>
          <p:cNvPr id="10" name="Shape 8"/>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1" name="Shape 9"/>
          <p:cNvSpPr/>
          <p:nvPr/>
        </p:nvSpPr>
        <p:spPr>
          <a:xfrm>
            <a:off x="411480" y="1207008"/>
            <a:ext cx="2011680" cy="868680"/>
          </a:xfrm>
          <a:prstGeom prst="rect">
            <a:avLst/>
          </a:prstGeom>
          <a:solidFill>
            <a:srgbClr val="FFFFFF"/>
          </a:solidFill>
          <a:ln w="5080">
            <a:solidFill>
              <a:srgbClr val="CBD5E1"/>
            </a:solidFill>
            <a:prstDash val="solid"/>
          </a:ln>
          <a:effectLst>
            <a:outerShdw blurRad="50800" dist="25400" dir="8100000" algn="bl" rotWithShape="0">
              <a:srgbClr val="000000">
                <a:alpha val="8000"/>
              </a:srgbClr>
            </a:outerShdw>
          </a:effectLst>
        </p:spPr>
        <p:txBody>
          <a:bodyPr/>
          <a:lstStyle/>
          <a:p>
            <a:endParaRPr lang="en-DE"/>
          </a:p>
        </p:txBody>
      </p:sp>
      <p:sp>
        <p:nvSpPr>
          <p:cNvPr id="12" name="Shape 10"/>
          <p:cNvSpPr/>
          <p:nvPr/>
        </p:nvSpPr>
        <p:spPr>
          <a:xfrm>
            <a:off x="411480" y="1207008"/>
            <a:ext cx="2011680" cy="54864"/>
          </a:xfrm>
          <a:prstGeom prst="rect">
            <a:avLst/>
          </a:prstGeom>
          <a:solidFill>
            <a:srgbClr val="006B6B"/>
          </a:solidFill>
          <a:ln w="12700">
            <a:solidFill>
              <a:srgbClr val="006B6B"/>
            </a:solidFill>
            <a:prstDash val="solid"/>
          </a:ln>
        </p:spPr>
        <p:txBody>
          <a:bodyPr/>
          <a:lstStyle/>
          <a:p>
            <a:endParaRPr lang="en-DE"/>
          </a:p>
        </p:txBody>
      </p:sp>
      <p:sp>
        <p:nvSpPr>
          <p:cNvPr id="13" name="Text 11"/>
          <p:cNvSpPr/>
          <p:nvPr/>
        </p:nvSpPr>
        <p:spPr>
          <a:xfrm>
            <a:off x="411480" y="1298448"/>
            <a:ext cx="2011680" cy="438912"/>
          </a:xfrm>
          <a:prstGeom prst="rect">
            <a:avLst/>
          </a:prstGeom>
          <a:noFill/>
          <a:ln/>
        </p:spPr>
        <p:txBody>
          <a:bodyPr wrap="square" lIns="0" tIns="0" rIns="0" bIns="0" rtlCol="0" anchor="ctr"/>
          <a:lstStyle/>
          <a:p>
            <a:pPr marL="0" indent="0" algn="ctr">
              <a:buNone/>
            </a:pPr>
            <a:r>
              <a:rPr lang="en-US" sz="2800" b="1" dirty="0">
                <a:solidFill>
                  <a:srgbClr val="006B6B"/>
                </a:solidFill>
              </a:rPr>
              <a:t>3</a:t>
            </a:r>
            <a:endParaRPr lang="en-US" sz="2800" dirty="0"/>
          </a:p>
        </p:txBody>
      </p:sp>
      <p:sp>
        <p:nvSpPr>
          <p:cNvPr id="14" name="Text 12"/>
          <p:cNvSpPr/>
          <p:nvPr/>
        </p:nvSpPr>
        <p:spPr>
          <a:xfrm>
            <a:off x="411480" y="1755648"/>
            <a:ext cx="2011680" cy="256032"/>
          </a:xfrm>
          <a:prstGeom prst="rect">
            <a:avLst/>
          </a:prstGeom>
          <a:noFill/>
          <a:ln/>
        </p:spPr>
        <p:txBody>
          <a:bodyPr wrap="square" lIns="0" tIns="0" rIns="0" bIns="0" rtlCol="0" anchor="ctr"/>
          <a:lstStyle/>
          <a:p>
            <a:pPr marL="0" indent="0" algn="ctr">
              <a:buNone/>
            </a:pPr>
            <a:r>
              <a:rPr lang="en-US" sz="800" dirty="0">
                <a:solidFill>
                  <a:srgbClr val="64748B"/>
                </a:solidFill>
              </a:rPr>
              <a:t>Jurisdictions Covered</a:t>
            </a:r>
            <a:endParaRPr lang="en-US" sz="800" dirty="0"/>
          </a:p>
        </p:txBody>
      </p:sp>
      <p:sp>
        <p:nvSpPr>
          <p:cNvPr id="15" name="Shape 13"/>
          <p:cNvSpPr/>
          <p:nvPr/>
        </p:nvSpPr>
        <p:spPr>
          <a:xfrm>
            <a:off x="2560320" y="1207008"/>
            <a:ext cx="2011680" cy="868680"/>
          </a:xfrm>
          <a:prstGeom prst="rect">
            <a:avLst/>
          </a:prstGeom>
          <a:solidFill>
            <a:srgbClr val="FFFFFF"/>
          </a:solidFill>
          <a:ln w="5080">
            <a:solidFill>
              <a:srgbClr val="CBD5E1"/>
            </a:solidFill>
            <a:prstDash val="solid"/>
          </a:ln>
          <a:effectLst>
            <a:outerShdw blurRad="50800" dist="25400" dir="8100000" algn="bl" rotWithShape="0">
              <a:srgbClr val="000000">
                <a:alpha val="8000"/>
              </a:srgbClr>
            </a:outerShdw>
          </a:effectLst>
        </p:spPr>
        <p:txBody>
          <a:bodyPr/>
          <a:lstStyle/>
          <a:p>
            <a:endParaRPr lang="en-DE"/>
          </a:p>
        </p:txBody>
      </p:sp>
      <p:sp>
        <p:nvSpPr>
          <p:cNvPr id="16" name="Shape 14"/>
          <p:cNvSpPr/>
          <p:nvPr/>
        </p:nvSpPr>
        <p:spPr>
          <a:xfrm>
            <a:off x="2560320" y="1207008"/>
            <a:ext cx="2011680" cy="54864"/>
          </a:xfrm>
          <a:prstGeom prst="rect">
            <a:avLst/>
          </a:prstGeom>
          <a:solidFill>
            <a:srgbClr val="2C4A6E"/>
          </a:solidFill>
          <a:ln w="12700">
            <a:solidFill>
              <a:srgbClr val="2C4A6E"/>
            </a:solidFill>
            <a:prstDash val="solid"/>
          </a:ln>
        </p:spPr>
        <p:txBody>
          <a:bodyPr/>
          <a:lstStyle/>
          <a:p>
            <a:endParaRPr lang="en-DE"/>
          </a:p>
        </p:txBody>
      </p:sp>
      <p:sp>
        <p:nvSpPr>
          <p:cNvPr id="17" name="Text 15"/>
          <p:cNvSpPr/>
          <p:nvPr/>
        </p:nvSpPr>
        <p:spPr>
          <a:xfrm>
            <a:off x="2560320" y="1298448"/>
            <a:ext cx="2011680" cy="438912"/>
          </a:xfrm>
          <a:prstGeom prst="rect">
            <a:avLst/>
          </a:prstGeom>
          <a:noFill/>
          <a:ln/>
        </p:spPr>
        <p:txBody>
          <a:bodyPr wrap="square" lIns="0" tIns="0" rIns="0" bIns="0" rtlCol="0" anchor="ctr"/>
          <a:lstStyle/>
          <a:p>
            <a:pPr marL="0" indent="0" algn="ctr">
              <a:buNone/>
            </a:pPr>
            <a:r>
              <a:rPr lang="en-US" sz="2800" b="1" dirty="0">
                <a:solidFill>
                  <a:srgbClr val="2C4A6E"/>
                </a:solidFill>
              </a:rPr>
              <a:t>€5M+</a:t>
            </a:r>
            <a:endParaRPr lang="en-US" sz="2800" dirty="0"/>
          </a:p>
        </p:txBody>
      </p:sp>
      <p:sp>
        <p:nvSpPr>
          <p:cNvPr id="18" name="Text 16"/>
          <p:cNvSpPr/>
          <p:nvPr/>
        </p:nvSpPr>
        <p:spPr>
          <a:xfrm>
            <a:off x="2560320" y="1755648"/>
            <a:ext cx="2011680" cy="256032"/>
          </a:xfrm>
          <a:prstGeom prst="rect">
            <a:avLst/>
          </a:prstGeom>
          <a:noFill/>
          <a:ln/>
        </p:spPr>
        <p:txBody>
          <a:bodyPr wrap="square" lIns="0" tIns="0" rIns="0" bIns="0" rtlCol="0" anchor="ctr"/>
          <a:lstStyle/>
          <a:p>
            <a:pPr marL="0" indent="0" algn="ctr">
              <a:buNone/>
            </a:pPr>
            <a:r>
              <a:rPr lang="en-US" sz="800" dirty="0">
                <a:solidFill>
                  <a:srgbClr val="64748B"/>
                </a:solidFill>
              </a:rPr>
              <a:t>Annual Turnover</a:t>
            </a:r>
            <a:endParaRPr lang="en-US" sz="800" dirty="0"/>
          </a:p>
        </p:txBody>
      </p:sp>
      <p:sp>
        <p:nvSpPr>
          <p:cNvPr id="19" name="Shape 17"/>
          <p:cNvSpPr/>
          <p:nvPr/>
        </p:nvSpPr>
        <p:spPr>
          <a:xfrm>
            <a:off x="4709160" y="1207008"/>
            <a:ext cx="2011680" cy="868680"/>
          </a:xfrm>
          <a:prstGeom prst="rect">
            <a:avLst/>
          </a:prstGeom>
          <a:solidFill>
            <a:srgbClr val="FFFFFF"/>
          </a:solidFill>
          <a:ln w="5080">
            <a:solidFill>
              <a:srgbClr val="CBD5E1"/>
            </a:solidFill>
            <a:prstDash val="solid"/>
          </a:ln>
          <a:effectLst>
            <a:outerShdw blurRad="50800" dist="25400" dir="8100000" algn="bl" rotWithShape="0">
              <a:srgbClr val="000000">
                <a:alpha val="8000"/>
              </a:srgbClr>
            </a:outerShdw>
          </a:effectLst>
        </p:spPr>
        <p:txBody>
          <a:bodyPr/>
          <a:lstStyle/>
          <a:p>
            <a:endParaRPr lang="en-DE"/>
          </a:p>
        </p:txBody>
      </p:sp>
      <p:sp>
        <p:nvSpPr>
          <p:cNvPr id="20" name="Shape 18"/>
          <p:cNvSpPr/>
          <p:nvPr/>
        </p:nvSpPr>
        <p:spPr>
          <a:xfrm>
            <a:off x="4709160" y="1207008"/>
            <a:ext cx="2011680" cy="54864"/>
          </a:xfrm>
          <a:prstGeom prst="rect">
            <a:avLst/>
          </a:prstGeom>
          <a:solidFill>
            <a:srgbClr val="2C4A6E"/>
          </a:solidFill>
          <a:ln w="12700">
            <a:solidFill>
              <a:srgbClr val="2C4A6E"/>
            </a:solidFill>
            <a:prstDash val="solid"/>
          </a:ln>
        </p:spPr>
        <p:txBody>
          <a:bodyPr/>
          <a:lstStyle/>
          <a:p>
            <a:endParaRPr lang="en-DE"/>
          </a:p>
        </p:txBody>
      </p:sp>
      <p:sp>
        <p:nvSpPr>
          <p:cNvPr id="21" name="Text 19"/>
          <p:cNvSpPr/>
          <p:nvPr/>
        </p:nvSpPr>
        <p:spPr>
          <a:xfrm>
            <a:off x="4709160" y="1298448"/>
            <a:ext cx="2011680" cy="438912"/>
          </a:xfrm>
          <a:prstGeom prst="rect">
            <a:avLst/>
          </a:prstGeom>
          <a:noFill/>
          <a:ln/>
        </p:spPr>
        <p:txBody>
          <a:bodyPr wrap="square" lIns="0" tIns="0" rIns="0" bIns="0" rtlCol="0" anchor="ctr"/>
          <a:lstStyle/>
          <a:p>
            <a:pPr marL="0" indent="0" algn="ctr">
              <a:buNone/>
            </a:pPr>
            <a:r>
              <a:rPr lang="en-US" sz="2800" b="1" dirty="0">
                <a:solidFill>
                  <a:srgbClr val="2C4A6E"/>
                </a:solidFill>
              </a:rPr>
              <a:t>7</a:t>
            </a:r>
            <a:endParaRPr lang="en-US" sz="2800" dirty="0"/>
          </a:p>
        </p:txBody>
      </p:sp>
      <p:sp>
        <p:nvSpPr>
          <p:cNvPr id="22" name="Text 20"/>
          <p:cNvSpPr/>
          <p:nvPr/>
        </p:nvSpPr>
        <p:spPr>
          <a:xfrm>
            <a:off x="4709160" y="1755648"/>
            <a:ext cx="2011680" cy="256032"/>
          </a:xfrm>
          <a:prstGeom prst="rect">
            <a:avLst/>
          </a:prstGeom>
          <a:noFill/>
          <a:ln/>
        </p:spPr>
        <p:txBody>
          <a:bodyPr wrap="square" lIns="0" tIns="0" rIns="0" bIns="0" rtlCol="0" anchor="ctr"/>
          <a:lstStyle/>
          <a:p>
            <a:pPr marL="0" indent="0" algn="ctr">
              <a:buNone/>
            </a:pPr>
            <a:r>
              <a:rPr lang="en-US" sz="800" dirty="0">
                <a:solidFill>
                  <a:srgbClr val="64748B"/>
                </a:solidFill>
              </a:rPr>
              <a:t>Transactions Analysed</a:t>
            </a:r>
            <a:endParaRPr lang="en-US" sz="800" dirty="0"/>
          </a:p>
        </p:txBody>
      </p:sp>
      <p:sp>
        <p:nvSpPr>
          <p:cNvPr id="23" name="Shape 21"/>
          <p:cNvSpPr/>
          <p:nvPr/>
        </p:nvSpPr>
        <p:spPr>
          <a:xfrm>
            <a:off x="6858000" y="1207008"/>
            <a:ext cx="2011680" cy="868680"/>
          </a:xfrm>
          <a:prstGeom prst="rect">
            <a:avLst/>
          </a:prstGeom>
          <a:solidFill>
            <a:srgbClr val="FFFFFF"/>
          </a:solidFill>
          <a:ln w="5080">
            <a:solidFill>
              <a:srgbClr val="CBD5E1"/>
            </a:solidFill>
            <a:prstDash val="solid"/>
          </a:ln>
          <a:effectLst>
            <a:outerShdw blurRad="50800" dist="25400" dir="8100000" algn="bl" rotWithShape="0">
              <a:srgbClr val="000000">
                <a:alpha val="8000"/>
              </a:srgbClr>
            </a:outerShdw>
          </a:effectLst>
        </p:spPr>
        <p:txBody>
          <a:bodyPr/>
          <a:lstStyle/>
          <a:p>
            <a:endParaRPr lang="en-DE"/>
          </a:p>
        </p:txBody>
      </p:sp>
      <p:sp>
        <p:nvSpPr>
          <p:cNvPr id="24" name="Shape 22"/>
          <p:cNvSpPr/>
          <p:nvPr/>
        </p:nvSpPr>
        <p:spPr>
          <a:xfrm>
            <a:off x="6858000" y="1207008"/>
            <a:ext cx="2011680" cy="54864"/>
          </a:xfrm>
          <a:prstGeom prst="rect">
            <a:avLst/>
          </a:prstGeom>
          <a:solidFill>
            <a:srgbClr val="C0392B"/>
          </a:solidFill>
          <a:ln w="12700">
            <a:solidFill>
              <a:srgbClr val="C0392B"/>
            </a:solidFill>
            <a:prstDash val="solid"/>
          </a:ln>
        </p:spPr>
        <p:txBody>
          <a:bodyPr/>
          <a:lstStyle/>
          <a:p>
            <a:endParaRPr lang="en-DE"/>
          </a:p>
        </p:txBody>
      </p:sp>
      <p:sp>
        <p:nvSpPr>
          <p:cNvPr id="25" name="Text 23"/>
          <p:cNvSpPr/>
          <p:nvPr/>
        </p:nvSpPr>
        <p:spPr>
          <a:xfrm>
            <a:off x="6858000" y="1298448"/>
            <a:ext cx="2011680" cy="438912"/>
          </a:xfrm>
          <a:prstGeom prst="rect">
            <a:avLst/>
          </a:prstGeom>
          <a:noFill/>
          <a:ln/>
        </p:spPr>
        <p:txBody>
          <a:bodyPr wrap="square" lIns="0" tIns="0" rIns="0" bIns="0" rtlCol="0" anchor="ctr"/>
          <a:lstStyle/>
          <a:p>
            <a:pPr marL="0" indent="0" algn="ctr">
              <a:buNone/>
            </a:pPr>
            <a:r>
              <a:rPr lang="en-US" sz="2800" b="1" dirty="0">
                <a:solidFill>
                  <a:srgbClr val="C0392B"/>
                </a:solidFill>
              </a:rPr>
              <a:t>4</a:t>
            </a:r>
            <a:endParaRPr lang="en-US" sz="2800" dirty="0"/>
          </a:p>
        </p:txBody>
      </p:sp>
      <p:sp>
        <p:nvSpPr>
          <p:cNvPr id="26" name="Text 24"/>
          <p:cNvSpPr/>
          <p:nvPr/>
        </p:nvSpPr>
        <p:spPr>
          <a:xfrm>
            <a:off x="6858000" y="1755648"/>
            <a:ext cx="2011680" cy="256032"/>
          </a:xfrm>
          <a:prstGeom prst="rect">
            <a:avLst/>
          </a:prstGeom>
          <a:noFill/>
          <a:ln/>
        </p:spPr>
        <p:txBody>
          <a:bodyPr wrap="square" lIns="0" tIns="0" rIns="0" bIns="0" rtlCol="0" anchor="ctr"/>
          <a:lstStyle/>
          <a:p>
            <a:pPr marL="0" indent="0" algn="ctr">
              <a:buNone/>
            </a:pPr>
            <a:r>
              <a:rPr lang="en-US" sz="800" dirty="0">
                <a:solidFill>
                  <a:srgbClr val="64748B"/>
                </a:solidFill>
              </a:rPr>
              <a:t>High-Risk Areas Identified</a:t>
            </a:r>
            <a:endParaRPr lang="en-US" sz="800" dirty="0"/>
          </a:p>
        </p:txBody>
      </p:sp>
      <p:sp>
        <p:nvSpPr>
          <p:cNvPr id="27" name="Shape 25"/>
          <p:cNvSpPr/>
          <p:nvPr/>
        </p:nvSpPr>
        <p:spPr>
          <a:xfrm>
            <a:off x="411480" y="2176272"/>
            <a:ext cx="8503920" cy="566928"/>
          </a:xfrm>
          <a:prstGeom prst="rect">
            <a:avLst/>
          </a:prstGeom>
          <a:solidFill>
            <a:srgbClr val="FEF2F2"/>
          </a:solidFill>
          <a:ln w="635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28" name="Shape 26"/>
          <p:cNvSpPr/>
          <p:nvPr/>
        </p:nvSpPr>
        <p:spPr>
          <a:xfrm>
            <a:off x="411480" y="2176272"/>
            <a:ext cx="36576" cy="566928"/>
          </a:xfrm>
          <a:prstGeom prst="rect">
            <a:avLst/>
          </a:prstGeom>
          <a:solidFill>
            <a:srgbClr val="C0392B"/>
          </a:solidFill>
          <a:ln w="12700">
            <a:solidFill>
              <a:srgbClr val="C0392B"/>
            </a:solidFill>
            <a:prstDash val="solid"/>
          </a:ln>
        </p:spPr>
        <p:txBody>
          <a:bodyPr/>
          <a:lstStyle/>
          <a:p>
            <a:endParaRPr lang="en-DE"/>
          </a:p>
        </p:txBody>
      </p:sp>
      <p:sp>
        <p:nvSpPr>
          <p:cNvPr id="29" name="Text 27"/>
          <p:cNvSpPr/>
          <p:nvPr/>
        </p:nvSpPr>
        <p:spPr>
          <a:xfrm>
            <a:off x="512064" y="2212848"/>
            <a:ext cx="2743200" cy="182880"/>
          </a:xfrm>
          <a:prstGeom prst="rect">
            <a:avLst/>
          </a:prstGeom>
          <a:noFill/>
          <a:ln/>
        </p:spPr>
        <p:txBody>
          <a:bodyPr wrap="square" lIns="0" tIns="0" rIns="0" bIns="0" rtlCol="0" anchor="ctr"/>
          <a:lstStyle/>
          <a:p>
            <a:pPr marL="0" indent="0">
              <a:buNone/>
            </a:pPr>
            <a:r>
              <a:rPr lang="en-US" sz="800" b="1" dirty="0">
                <a:solidFill>
                  <a:srgbClr val="C0392B"/>
                </a:solidFill>
              </a:rPr>
              <a:t>🔴  CRITICAL - Late Filing</a:t>
            </a:r>
            <a:endParaRPr lang="en-US" sz="800" dirty="0"/>
          </a:p>
        </p:txBody>
      </p:sp>
      <p:sp>
        <p:nvSpPr>
          <p:cNvPr id="30" name="Text 28"/>
          <p:cNvSpPr/>
          <p:nvPr/>
        </p:nvSpPr>
        <p:spPr>
          <a:xfrm>
            <a:off x="512064" y="2404872"/>
            <a:ext cx="8321040" cy="301752"/>
          </a:xfrm>
          <a:prstGeom prst="rect">
            <a:avLst/>
          </a:prstGeom>
          <a:noFill/>
          <a:ln/>
        </p:spPr>
        <p:txBody>
          <a:bodyPr wrap="square" lIns="0" tIns="0" rIns="0" bIns="0" rtlCol="0" anchor="ctr"/>
          <a:lstStyle/>
          <a:p>
            <a:pPr marL="0" indent="0">
              <a:buNone/>
            </a:pPr>
            <a:r>
              <a:rPr lang="en-US" sz="780" dirty="0">
                <a:solidFill>
                  <a:srgbClr val="1B2E4B"/>
                </a:solidFill>
              </a:rPr>
              <a:t>2024 Annual VAT return filed in April 2026 - 9 months after the 31 July 2025 deadline (§ 149 Abs. 2 Abgabenordnung). Mandatory late-filing penalty under § 152 Abs. 2 AO applies (minimum €225). Immediate regulatory response required.</a:t>
            </a:r>
            <a:endParaRPr lang="en-US" sz="780" dirty="0"/>
          </a:p>
        </p:txBody>
      </p:sp>
      <p:sp>
        <p:nvSpPr>
          <p:cNvPr id="31" name="Shape 29"/>
          <p:cNvSpPr/>
          <p:nvPr/>
        </p:nvSpPr>
        <p:spPr>
          <a:xfrm>
            <a:off x="411480" y="2798064"/>
            <a:ext cx="8503920" cy="566928"/>
          </a:xfrm>
          <a:prstGeom prst="rect">
            <a:avLst/>
          </a:prstGeom>
          <a:solidFill>
            <a:srgbClr val="FEF2F2"/>
          </a:solidFill>
          <a:ln w="635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32" name="Shape 30"/>
          <p:cNvSpPr/>
          <p:nvPr/>
        </p:nvSpPr>
        <p:spPr>
          <a:xfrm>
            <a:off x="411480" y="2798064"/>
            <a:ext cx="36576" cy="566928"/>
          </a:xfrm>
          <a:prstGeom prst="rect">
            <a:avLst/>
          </a:prstGeom>
          <a:solidFill>
            <a:srgbClr val="C0392B"/>
          </a:solidFill>
          <a:ln w="12700">
            <a:solidFill>
              <a:srgbClr val="C0392B"/>
            </a:solidFill>
            <a:prstDash val="solid"/>
          </a:ln>
        </p:spPr>
        <p:txBody>
          <a:bodyPr/>
          <a:lstStyle/>
          <a:p>
            <a:endParaRPr lang="en-DE"/>
          </a:p>
        </p:txBody>
      </p:sp>
      <p:sp>
        <p:nvSpPr>
          <p:cNvPr id="33" name="Text 31"/>
          <p:cNvSpPr/>
          <p:nvPr/>
        </p:nvSpPr>
        <p:spPr>
          <a:xfrm>
            <a:off x="512064" y="2834640"/>
            <a:ext cx="2743200" cy="182880"/>
          </a:xfrm>
          <a:prstGeom prst="rect">
            <a:avLst/>
          </a:prstGeom>
          <a:noFill/>
          <a:ln/>
        </p:spPr>
        <p:txBody>
          <a:bodyPr wrap="square" lIns="0" tIns="0" rIns="0" bIns="0" rtlCol="0" anchor="ctr"/>
          <a:lstStyle/>
          <a:p>
            <a:pPr marL="0" indent="0">
              <a:buNone/>
            </a:pPr>
            <a:r>
              <a:rPr lang="en-US" sz="800" b="1" dirty="0">
                <a:solidFill>
                  <a:srgbClr val="C0392B"/>
                </a:solidFill>
              </a:rPr>
              <a:t>🔴  HIGH - E-Invoicing Gap</a:t>
            </a:r>
            <a:endParaRPr lang="en-US" sz="800" dirty="0"/>
          </a:p>
        </p:txBody>
      </p:sp>
      <p:sp>
        <p:nvSpPr>
          <p:cNvPr id="34" name="Text 32"/>
          <p:cNvSpPr/>
          <p:nvPr/>
        </p:nvSpPr>
        <p:spPr>
          <a:xfrm>
            <a:off x="512064" y="3026664"/>
            <a:ext cx="8321040" cy="301752"/>
          </a:xfrm>
          <a:prstGeom prst="rect">
            <a:avLst/>
          </a:prstGeom>
          <a:noFill/>
          <a:ln/>
        </p:spPr>
        <p:txBody>
          <a:bodyPr wrap="square" lIns="0" tIns="0" rIns="0" bIns="0" rtlCol="0" anchor="ctr"/>
          <a:lstStyle/>
          <a:p>
            <a:pPr marL="0" indent="0">
              <a:buNone/>
            </a:pPr>
            <a:r>
              <a:rPr lang="en-US" sz="780" dirty="0">
                <a:solidFill>
                  <a:srgbClr val="1B2E4B"/>
                </a:solidFill>
              </a:rPr>
              <a:t>No e-invoicing infrastructure in place despite the legal obligation to receive structured electronic invoices (XRechnung / ZUGFeRD format, European Standard EN 16931) since 01.01.2025. Issuance obligation for Strabam AG commences 01.01.2027.</a:t>
            </a:r>
            <a:endParaRPr lang="en-US" sz="780" dirty="0"/>
          </a:p>
        </p:txBody>
      </p:sp>
      <p:sp>
        <p:nvSpPr>
          <p:cNvPr id="35" name="Shape 33"/>
          <p:cNvSpPr/>
          <p:nvPr/>
        </p:nvSpPr>
        <p:spPr>
          <a:xfrm>
            <a:off x="411480" y="3419856"/>
            <a:ext cx="8503920" cy="566928"/>
          </a:xfrm>
          <a:prstGeom prst="rect">
            <a:avLst/>
          </a:prstGeom>
          <a:solidFill>
            <a:srgbClr val="FFFBEB"/>
          </a:solidFill>
          <a:ln w="6350">
            <a:solidFill>
              <a:srgbClr val="D97706"/>
            </a:solidFill>
            <a:prstDash val="solid"/>
          </a:ln>
          <a:effectLst>
            <a:outerShdw blurRad="38100" dist="12700" dir="8100000" algn="bl" rotWithShape="0">
              <a:srgbClr val="000000">
                <a:alpha val="6000"/>
              </a:srgbClr>
            </a:outerShdw>
          </a:effectLst>
        </p:spPr>
        <p:txBody>
          <a:bodyPr/>
          <a:lstStyle/>
          <a:p>
            <a:endParaRPr lang="en-DE"/>
          </a:p>
        </p:txBody>
      </p:sp>
      <p:sp>
        <p:nvSpPr>
          <p:cNvPr id="36" name="Shape 34"/>
          <p:cNvSpPr/>
          <p:nvPr/>
        </p:nvSpPr>
        <p:spPr>
          <a:xfrm>
            <a:off x="411480" y="3419856"/>
            <a:ext cx="36576" cy="566928"/>
          </a:xfrm>
          <a:prstGeom prst="rect">
            <a:avLst/>
          </a:prstGeom>
          <a:solidFill>
            <a:srgbClr val="D97706"/>
          </a:solidFill>
          <a:ln w="12700">
            <a:solidFill>
              <a:srgbClr val="D97706"/>
            </a:solidFill>
            <a:prstDash val="solid"/>
          </a:ln>
        </p:spPr>
        <p:txBody>
          <a:bodyPr/>
          <a:lstStyle/>
          <a:p>
            <a:endParaRPr lang="en-DE"/>
          </a:p>
        </p:txBody>
      </p:sp>
      <p:sp>
        <p:nvSpPr>
          <p:cNvPr id="37" name="Text 35"/>
          <p:cNvSpPr/>
          <p:nvPr/>
        </p:nvSpPr>
        <p:spPr>
          <a:xfrm>
            <a:off x="512064" y="3456432"/>
            <a:ext cx="2743200" cy="182880"/>
          </a:xfrm>
          <a:prstGeom prst="rect">
            <a:avLst/>
          </a:prstGeom>
          <a:noFill/>
          <a:ln/>
        </p:spPr>
        <p:txBody>
          <a:bodyPr wrap="square" lIns="0" tIns="0" rIns="0" bIns="0" rtlCol="0" anchor="ctr"/>
          <a:lstStyle/>
          <a:p>
            <a:pPr marL="0" indent="0">
              <a:buNone/>
            </a:pPr>
            <a:r>
              <a:rPr lang="en-US" sz="800" b="1" dirty="0">
                <a:solidFill>
                  <a:srgbClr val="D97706"/>
                </a:solidFill>
              </a:rPr>
              <a:t>🟡  MEDIUM - Intra-EU Documentation</a:t>
            </a:r>
            <a:endParaRPr lang="en-US" sz="800" dirty="0"/>
          </a:p>
        </p:txBody>
      </p:sp>
      <p:sp>
        <p:nvSpPr>
          <p:cNvPr id="38" name="Text 36"/>
          <p:cNvSpPr/>
          <p:nvPr/>
        </p:nvSpPr>
        <p:spPr>
          <a:xfrm>
            <a:off x="512064" y="3648456"/>
            <a:ext cx="8321040" cy="301752"/>
          </a:xfrm>
          <a:prstGeom prst="rect">
            <a:avLst/>
          </a:prstGeom>
          <a:noFill/>
          <a:ln/>
        </p:spPr>
        <p:txBody>
          <a:bodyPr wrap="square" lIns="0" tIns="0" rIns="0" bIns="0" rtlCol="0" anchor="ctr"/>
          <a:lstStyle/>
          <a:p>
            <a:pPr marL="0" indent="0">
              <a:buNone/>
            </a:pPr>
            <a:r>
              <a:rPr lang="en-US" sz="780" dirty="0">
                <a:solidFill>
                  <a:srgbClr val="1B2E4B"/>
                </a:solidFill>
              </a:rPr>
              <a:t>Intra-Community Supplies DE→ESP and ESP→DE require robust Convention on the Contract for the International Carriage of Goods by Road (CMR) transport documentation to sustain the 0% VAT exemption under § 6a UStG in future VAT audits.</a:t>
            </a:r>
            <a:endParaRPr lang="en-US" sz="780" dirty="0"/>
          </a:p>
        </p:txBody>
      </p:sp>
      <p:sp>
        <p:nvSpPr>
          <p:cNvPr id="39" name="Shape 37"/>
          <p:cNvSpPr/>
          <p:nvPr/>
        </p:nvSpPr>
        <p:spPr>
          <a:xfrm>
            <a:off x="411480" y="4041648"/>
            <a:ext cx="8503920" cy="566928"/>
          </a:xfrm>
          <a:prstGeom prst="rect">
            <a:avLst/>
          </a:prstGeom>
          <a:solidFill>
            <a:srgbClr val="F0FDF4"/>
          </a:solidFill>
          <a:ln w="6350">
            <a:solidFill>
              <a:srgbClr val="15803D"/>
            </a:solidFill>
            <a:prstDash val="solid"/>
          </a:ln>
          <a:effectLst>
            <a:outerShdw blurRad="38100" dist="12700" dir="8100000" algn="bl" rotWithShape="0">
              <a:srgbClr val="000000">
                <a:alpha val="6000"/>
              </a:srgbClr>
            </a:outerShdw>
          </a:effectLst>
        </p:spPr>
        <p:txBody>
          <a:bodyPr/>
          <a:lstStyle/>
          <a:p>
            <a:endParaRPr lang="en-DE"/>
          </a:p>
        </p:txBody>
      </p:sp>
      <p:sp>
        <p:nvSpPr>
          <p:cNvPr id="40" name="Shape 38"/>
          <p:cNvSpPr/>
          <p:nvPr/>
        </p:nvSpPr>
        <p:spPr>
          <a:xfrm>
            <a:off x="411480" y="4041648"/>
            <a:ext cx="36576" cy="566928"/>
          </a:xfrm>
          <a:prstGeom prst="rect">
            <a:avLst/>
          </a:prstGeom>
          <a:solidFill>
            <a:srgbClr val="15803D"/>
          </a:solidFill>
          <a:ln w="12700">
            <a:solidFill>
              <a:srgbClr val="15803D"/>
            </a:solidFill>
            <a:prstDash val="solid"/>
          </a:ln>
        </p:spPr>
        <p:txBody>
          <a:bodyPr/>
          <a:lstStyle/>
          <a:p>
            <a:endParaRPr lang="en-DE"/>
          </a:p>
        </p:txBody>
      </p:sp>
      <p:sp>
        <p:nvSpPr>
          <p:cNvPr id="41" name="Text 39"/>
          <p:cNvSpPr/>
          <p:nvPr/>
        </p:nvSpPr>
        <p:spPr>
          <a:xfrm>
            <a:off x="512064" y="4078224"/>
            <a:ext cx="2743200" cy="182880"/>
          </a:xfrm>
          <a:prstGeom prst="rect">
            <a:avLst/>
          </a:prstGeom>
          <a:noFill/>
          <a:ln/>
        </p:spPr>
        <p:txBody>
          <a:bodyPr wrap="square" lIns="0" tIns="0" rIns="0" bIns="0" rtlCol="0" anchor="ctr"/>
          <a:lstStyle/>
          <a:p>
            <a:pPr marL="0" indent="0">
              <a:buNone/>
            </a:pPr>
            <a:r>
              <a:rPr lang="en-US" sz="800" b="1" dirty="0">
                <a:solidFill>
                  <a:srgbClr val="15803D"/>
                </a:solidFill>
              </a:rPr>
              <a:t>🟢  LOW - Core Supply Chain Sound</a:t>
            </a:r>
            <a:endParaRPr lang="en-US" sz="800" dirty="0"/>
          </a:p>
        </p:txBody>
      </p:sp>
      <p:sp>
        <p:nvSpPr>
          <p:cNvPr id="42" name="Text 40"/>
          <p:cNvSpPr/>
          <p:nvPr/>
        </p:nvSpPr>
        <p:spPr>
          <a:xfrm>
            <a:off x="512064" y="4270248"/>
            <a:ext cx="8321040" cy="301752"/>
          </a:xfrm>
          <a:prstGeom prst="rect">
            <a:avLst/>
          </a:prstGeom>
          <a:noFill/>
          <a:ln/>
        </p:spPr>
        <p:txBody>
          <a:bodyPr wrap="square" lIns="0" tIns="0" rIns="0" bIns="0" rtlCol="0" anchor="ctr"/>
          <a:lstStyle/>
          <a:p>
            <a:pPr marL="0" indent="0">
              <a:buNone/>
            </a:pPr>
            <a:r>
              <a:rPr lang="en-US" sz="780" dirty="0">
                <a:solidFill>
                  <a:srgbClr val="1B2E4B"/>
                </a:solidFill>
              </a:rPr>
              <a:t>Domestic German B2B supply chain is structurally correct. VAT audit for fiscal years 2020-2023 returned no adverse findings from the German Tax Authority (Finanzamt).</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4" name="Text 2"/>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5" name="Text 3"/>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EXEC SUMMARY</a:t>
            </a:r>
            <a:endParaRPr lang="en-US" sz="7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4 / 23</a:t>
            </a:r>
            <a:endParaRPr lang="en-US" sz="700" dirty="0"/>
          </a:p>
        </p:txBody>
      </p:sp>
      <p:sp>
        <p:nvSpPr>
          <p:cNvPr id="7" name="Text 5"/>
          <p:cNvSpPr/>
          <p:nvPr/>
        </p:nvSpPr>
        <p:spPr>
          <a:xfrm>
            <a:off x="411480" y="137160"/>
            <a:ext cx="6400800" cy="201168"/>
          </a:xfrm>
          <a:prstGeom prst="rect">
            <a:avLst/>
          </a:prstGeom>
          <a:noFill/>
          <a:ln/>
        </p:spPr>
        <p:txBody>
          <a:bodyPr wrap="square" lIns="0" tIns="0" rIns="0" bIns="0" rtlCol="0" anchor="ctr"/>
          <a:lstStyle/>
          <a:p>
            <a:pPr marL="0" indent="0">
              <a:buNone/>
            </a:pPr>
            <a:r>
              <a:rPr lang="en-US" sz="800" b="1" kern="0" spc="200" dirty="0">
                <a:solidFill>
                  <a:srgbClr val="006B6B"/>
                </a:solidFill>
              </a:rPr>
              <a:t>01 | EXECUTIVE SUMMARY</a:t>
            </a:r>
            <a:endParaRPr lang="en-US" sz="800" dirty="0"/>
          </a:p>
        </p:txBody>
      </p:sp>
      <p:sp>
        <p:nvSpPr>
          <p:cNvPr id="8" name="Text 6"/>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Scope of Engagement &amp; Methodology</a:t>
            </a:r>
            <a:endParaRPr lang="en-US" sz="2100" dirty="0"/>
          </a:p>
        </p:txBody>
      </p:sp>
      <p:sp>
        <p:nvSpPr>
          <p:cNvPr id="9" name="Text 7"/>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Engagement context, parties and analytical approach</a:t>
            </a:r>
            <a:endParaRPr lang="en-US" sz="950" dirty="0"/>
          </a:p>
        </p:txBody>
      </p:sp>
      <p:sp>
        <p:nvSpPr>
          <p:cNvPr id="10" name="Shape 8"/>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1" name="Shape 9"/>
          <p:cNvSpPr/>
          <p:nvPr/>
        </p:nvSpPr>
        <p:spPr>
          <a:xfrm>
            <a:off x="411480" y="1234440"/>
            <a:ext cx="4114800" cy="1188720"/>
          </a:xfrm>
          <a:prstGeom prst="rect">
            <a:avLst/>
          </a:prstGeom>
          <a:solidFill>
            <a:srgbClr val="FFFFFF"/>
          </a:solidFill>
          <a:ln w="5080">
            <a:solidFill>
              <a:srgbClr val="CBD5E1"/>
            </a:solidFill>
            <a:prstDash val="solid"/>
          </a:ln>
          <a:effectLst>
            <a:outerShdw blurRad="50800" dist="25400" dir="8100000" algn="bl" rotWithShape="0">
              <a:srgbClr val="000000">
                <a:alpha val="8000"/>
              </a:srgbClr>
            </a:outerShdw>
          </a:effectLst>
        </p:spPr>
        <p:txBody>
          <a:bodyPr/>
          <a:lstStyle/>
          <a:p>
            <a:endParaRPr lang="en-DE"/>
          </a:p>
        </p:txBody>
      </p:sp>
      <p:sp>
        <p:nvSpPr>
          <p:cNvPr id="12" name="Shape 10"/>
          <p:cNvSpPr/>
          <p:nvPr/>
        </p:nvSpPr>
        <p:spPr>
          <a:xfrm>
            <a:off x="411480" y="1234440"/>
            <a:ext cx="36576" cy="1188720"/>
          </a:xfrm>
          <a:prstGeom prst="rect">
            <a:avLst/>
          </a:prstGeom>
          <a:solidFill>
            <a:srgbClr val="006B6B"/>
          </a:solidFill>
          <a:ln w="12700">
            <a:solidFill>
              <a:srgbClr val="006B6B"/>
            </a:solidFill>
            <a:prstDash val="solid"/>
          </a:ln>
        </p:spPr>
        <p:txBody>
          <a:bodyPr/>
          <a:lstStyle/>
          <a:p>
            <a:endParaRPr lang="en-DE"/>
          </a:p>
        </p:txBody>
      </p:sp>
      <p:sp>
        <p:nvSpPr>
          <p:cNvPr id="13" name="Text 11"/>
          <p:cNvSpPr/>
          <p:nvPr/>
        </p:nvSpPr>
        <p:spPr>
          <a:xfrm>
            <a:off x="521208" y="1298448"/>
            <a:ext cx="3931920" cy="201168"/>
          </a:xfrm>
          <a:prstGeom prst="rect">
            <a:avLst/>
          </a:prstGeom>
          <a:noFill/>
          <a:ln/>
        </p:spPr>
        <p:txBody>
          <a:bodyPr wrap="square" lIns="0" tIns="0" rIns="0" bIns="0" rtlCol="0" anchor="ctr"/>
          <a:lstStyle/>
          <a:p>
            <a:pPr marL="0" indent="0">
              <a:buNone/>
            </a:pPr>
            <a:r>
              <a:rPr lang="en-US" sz="900" b="1" dirty="0">
                <a:solidFill>
                  <a:srgbClr val="006B6B"/>
                </a:solidFill>
              </a:rPr>
              <a:t>Entities in Scope</a:t>
            </a:r>
            <a:endParaRPr lang="en-US" sz="900" dirty="0"/>
          </a:p>
        </p:txBody>
      </p:sp>
      <p:sp>
        <p:nvSpPr>
          <p:cNvPr id="14" name="Text 12"/>
          <p:cNvSpPr/>
          <p:nvPr/>
        </p:nvSpPr>
        <p:spPr>
          <a:xfrm>
            <a:off x="521208" y="1536192"/>
            <a:ext cx="3931920" cy="822960"/>
          </a:xfrm>
          <a:prstGeom prst="rect">
            <a:avLst/>
          </a:prstGeom>
          <a:noFill/>
          <a:ln/>
        </p:spPr>
        <p:txBody>
          <a:bodyPr wrap="square" lIns="0" tIns="0" rIns="0" bIns="0" rtlCol="0" anchor="ctr"/>
          <a:lstStyle/>
          <a:p>
            <a:pPr marL="342900" indent="-342900">
              <a:spcAft>
                <a:spcPts val="300"/>
              </a:spcAft>
              <a:buSzPct val="100000"/>
              <a:buChar char="•"/>
            </a:pPr>
            <a:r>
              <a:rPr lang="en-US" sz="850" dirty="0">
                <a:solidFill>
                  <a:srgbClr val="1B2E4B"/>
                </a:solidFill>
              </a:rPr>
              <a:t>Strabam AG - Germany (Parent, Importer of Record)</a:t>
            </a:r>
            <a:endParaRPr lang="en-US" sz="850" dirty="0"/>
          </a:p>
          <a:p>
            <a:pPr marL="342900" indent="-342900">
              <a:spcAft>
                <a:spcPts val="300"/>
              </a:spcAft>
              <a:buSzPct val="100000"/>
              <a:buChar char="•"/>
            </a:pPr>
            <a:r>
              <a:rPr lang="en-US" sz="850" dirty="0">
                <a:solidFill>
                  <a:srgbClr val="1B2E4B"/>
                </a:solidFill>
              </a:rPr>
              <a:t>Spanish Subsidiary - Spain (100% subsidiary, independent legal entity, VAT registered)</a:t>
            </a:r>
            <a:endParaRPr lang="en-US" sz="850" dirty="0"/>
          </a:p>
          <a:p>
            <a:pPr marL="342900" indent="-342900">
              <a:spcAft>
                <a:spcPts val="300"/>
              </a:spcAft>
              <a:buSzPct val="100000"/>
              <a:buChar char="•"/>
            </a:pPr>
            <a:r>
              <a:rPr lang="en-US" sz="850" dirty="0">
                <a:solidFill>
                  <a:srgbClr val="1B2E4B"/>
                </a:solidFill>
              </a:rPr>
              <a:t>Strabam </a:t>
            </a:r>
            <a:r>
              <a:rPr lang="en-US" sz="850" dirty="0" err="1">
                <a:solidFill>
                  <a:srgbClr val="1B2E4B"/>
                </a:solidFill>
              </a:rPr>
              <a:t>S.p.l</a:t>
            </a:r>
            <a:r>
              <a:rPr lang="en-US" sz="850" dirty="0">
                <a:solidFill>
                  <a:srgbClr val="1B2E4B"/>
                </a:solidFill>
              </a:rPr>
              <a:t> - Poland (independent entity, VAT registered)</a:t>
            </a:r>
            <a:endParaRPr lang="en-US" sz="850" dirty="0"/>
          </a:p>
        </p:txBody>
      </p:sp>
      <p:sp>
        <p:nvSpPr>
          <p:cNvPr id="15" name="Shape 13"/>
          <p:cNvSpPr/>
          <p:nvPr/>
        </p:nvSpPr>
        <p:spPr>
          <a:xfrm>
            <a:off x="4754880" y="1234440"/>
            <a:ext cx="4114800" cy="1188720"/>
          </a:xfrm>
          <a:prstGeom prst="rect">
            <a:avLst/>
          </a:prstGeom>
          <a:solidFill>
            <a:srgbClr val="FFFFFF"/>
          </a:solidFill>
          <a:ln w="5080">
            <a:solidFill>
              <a:srgbClr val="CBD5E1"/>
            </a:solidFill>
            <a:prstDash val="solid"/>
          </a:ln>
          <a:effectLst>
            <a:outerShdw blurRad="50800" dist="25400" dir="8100000" algn="bl" rotWithShape="0">
              <a:srgbClr val="000000">
                <a:alpha val="8000"/>
              </a:srgbClr>
            </a:outerShdw>
          </a:effectLst>
        </p:spPr>
        <p:txBody>
          <a:bodyPr/>
          <a:lstStyle/>
          <a:p>
            <a:endParaRPr lang="en-DE"/>
          </a:p>
        </p:txBody>
      </p:sp>
      <p:sp>
        <p:nvSpPr>
          <p:cNvPr id="16" name="Shape 14"/>
          <p:cNvSpPr/>
          <p:nvPr/>
        </p:nvSpPr>
        <p:spPr>
          <a:xfrm>
            <a:off x="4754880" y="1234440"/>
            <a:ext cx="36576" cy="1188720"/>
          </a:xfrm>
          <a:prstGeom prst="rect">
            <a:avLst/>
          </a:prstGeom>
          <a:solidFill>
            <a:srgbClr val="006B6B"/>
          </a:solidFill>
          <a:ln w="12700">
            <a:solidFill>
              <a:srgbClr val="006B6B"/>
            </a:solidFill>
            <a:prstDash val="solid"/>
          </a:ln>
        </p:spPr>
        <p:txBody>
          <a:bodyPr/>
          <a:lstStyle/>
          <a:p>
            <a:endParaRPr lang="en-DE"/>
          </a:p>
        </p:txBody>
      </p:sp>
      <p:sp>
        <p:nvSpPr>
          <p:cNvPr id="17" name="Text 15"/>
          <p:cNvSpPr/>
          <p:nvPr/>
        </p:nvSpPr>
        <p:spPr>
          <a:xfrm>
            <a:off x="4864608" y="1298448"/>
            <a:ext cx="3931920" cy="201168"/>
          </a:xfrm>
          <a:prstGeom prst="rect">
            <a:avLst/>
          </a:prstGeom>
          <a:noFill/>
          <a:ln/>
        </p:spPr>
        <p:txBody>
          <a:bodyPr wrap="square" lIns="0" tIns="0" rIns="0" bIns="0" rtlCol="0" anchor="ctr"/>
          <a:lstStyle/>
          <a:p>
            <a:pPr marL="0" indent="0">
              <a:buNone/>
            </a:pPr>
            <a:r>
              <a:rPr lang="en-US" sz="900" b="1" dirty="0">
                <a:solidFill>
                  <a:srgbClr val="006B6B"/>
                </a:solidFill>
              </a:rPr>
              <a:t>Points of Contact</a:t>
            </a:r>
            <a:endParaRPr lang="en-US" sz="900" dirty="0"/>
          </a:p>
        </p:txBody>
      </p:sp>
      <p:sp>
        <p:nvSpPr>
          <p:cNvPr id="18" name="Text 16"/>
          <p:cNvSpPr/>
          <p:nvPr/>
        </p:nvSpPr>
        <p:spPr>
          <a:xfrm>
            <a:off x="4864608" y="1536192"/>
            <a:ext cx="3931920" cy="822960"/>
          </a:xfrm>
          <a:prstGeom prst="rect">
            <a:avLst/>
          </a:prstGeom>
          <a:noFill/>
          <a:ln/>
        </p:spPr>
        <p:txBody>
          <a:bodyPr wrap="square" lIns="0" tIns="0" rIns="0" bIns="0" rtlCol="0" anchor="ctr"/>
          <a:lstStyle/>
          <a:p>
            <a:pPr marL="342900" indent="-342900">
              <a:spcAft>
                <a:spcPts val="300"/>
              </a:spcAft>
              <a:buSzPct val="100000"/>
              <a:buChar char="•"/>
            </a:pPr>
            <a:r>
              <a:rPr lang="en-US" sz="850" dirty="0">
                <a:solidFill>
                  <a:srgbClr val="1B2E4B"/>
                </a:solidFill>
              </a:rPr>
              <a:t>Ms. Schmidt, Chief Financial Officer (CFO) - Germany</a:t>
            </a:r>
            <a:endParaRPr lang="en-US" sz="850" dirty="0"/>
          </a:p>
          <a:p>
            <a:pPr marL="342900" indent="-342900">
              <a:spcAft>
                <a:spcPts val="300"/>
              </a:spcAft>
              <a:buSzPct val="100000"/>
              <a:buChar char="•"/>
            </a:pPr>
            <a:r>
              <a:rPr lang="en-US" sz="850" dirty="0">
                <a:solidFill>
                  <a:srgbClr val="1B2E4B"/>
                </a:solidFill>
              </a:rPr>
              <a:t>Ms. Meyer, Purchasing Department - Germany</a:t>
            </a:r>
            <a:endParaRPr lang="en-US" sz="850" dirty="0"/>
          </a:p>
        </p:txBody>
      </p:sp>
      <p:sp>
        <p:nvSpPr>
          <p:cNvPr id="19" name="Shape 17"/>
          <p:cNvSpPr/>
          <p:nvPr/>
        </p:nvSpPr>
        <p:spPr>
          <a:xfrm>
            <a:off x="411480" y="2532888"/>
            <a:ext cx="4114800" cy="1188720"/>
          </a:xfrm>
          <a:prstGeom prst="rect">
            <a:avLst/>
          </a:prstGeom>
          <a:solidFill>
            <a:srgbClr val="FFFFFF"/>
          </a:solidFill>
          <a:ln w="5080">
            <a:solidFill>
              <a:srgbClr val="CBD5E1"/>
            </a:solidFill>
            <a:prstDash val="solid"/>
          </a:ln>
          <a:effectLst>
            <a:outerShdw blurRad="50800" dist="25400" dir="8100000" algn="bl" rotWithShape="0">
              <a:srgbClr val="000000">
                <a:alpha val="8000"/>
              </a:srgbClr>
            </a:outerShdw>
          </a:effectLst>
        </p:spPr>
        <p:txBody>
          <a:bodyPr/>
          <a:lstStyle/>
          <a:p>
            <a:endParaRPr lang="en-DE"/>
          </a:p>
        </p:txBody>
      </p:sp>
      <p:sp>
        <p:nvSpPr>
          <p:cNvPr id="20" name="Shape 18"/>
          <p:cNvSpPr/>
          <p:nvPr/>
        </p:nvSpPr>
        <p:spPr>
          <a:xfrm>
            <a:off x="411480" y="2532888"/>
            <a:ext cx="36576" cy="1188720"/>
          </a:xfrm>
          <a:prstGeom prst="rect">
            <a:avLst/>
          </a:prstGeom>
          <a:solidFill>
            <a:srgbClr val="006B6B"/>
          </a:solidFill>
          <a:ln w="12700">
            <a:solidFill>
              <a:srgbClr val="006B6B"/>
            </a:solidFill>
            <a:prstDash val="solid"/>
          </a:ln>
        </p:spPr>
        <p:txBody>
          <a:bodyPr/>
          <a:lstStyle/>
          <a:p>
            <a:endParaRPr lang="en-DE"/>
          </a:p>
        </p:txBody>
      </p:sp>
      <p:sp>
        <p:nvSpPr>
          <p:cNvPr id="21" name="Text 19"/>
          <p:cNvSpPr/>
          <p:nvPr/>
        </p:nvSpPr>
        <p:spPr>
          <a:xfrm>
            <a:off x="521208" y="2596896"/>
            <a:ext cx="3931920" cy="201168"/>
          </a:xfrm>
          <a:prstGeom prst="rect">
            <a:avLst/>
          </a:prstGeom>
          <a:noFill/>
          <a:ln/>
        </p:spPr>
        <p:txBody>
          <a:bodyPr wrap="square" lIns="0" tIns="0" rIns="0" bIns="0" rtlCol="0" anchor="ctr"/>
          <a:lstStyle/>
          <a:p>
            <a:pPr marL="0" indent="0">
              <a:buNone/>
            </a:pPr>
            <a:r>
              <a:rPr lang="en-US" sz="900" b="1" dirty="0">
                <a:solidFill>
                  <a:srgbClr val="006B6B"/>
                </a:solidFill>
              </a:rPr>
              <a:t>Fiscal Period</a:t>
            </a:r>
            <a:endParaRPr lang="en-US" sz="900" dirty="0"/>
          </a:p>
        </p:txBody>
      </p:sp>
      <p:sp>
        <p:nvSpPr>
          <p:cNvPr id="22" name="Text 20"/>
          <p:cNvSpPr/>
          <p:nvPr/>
        </p:nvSpPr>
        <p:spPr>
          <a:xfrm>
            <a:off x="521208" y="2834640"/>
            <a:ext cx="3931920" cy="822960"/>
          </a:xfrm>
          <a:prstGeom prst="rect">
            <a:avLst/>
          </a:prstGeom>
          <a:noFill/>
          <a:ln/>
        </p:spPr>
        <p:txBody>
          <a:bodyPr wrap="square" lIns="0" tIns="0" rIns="0" bIns="0" rtlCol="0" anchor="ctr"/>
          <a:lstStyle/>
          <a:p>
            <a:pPr marL="342900" indent="-342900">
              <a:spcAft>
                <a:spcPts val="300"/>
              </a:spcAft>
              <a:buSzPct val="100000"/>
              <a:buChar char="•"/>
            </a:pPr>
            <a:r>
              <a:rPr lang="en-US" sz="850" dirty="0">
                <a:solidFill>
                  <a:srgbClr val="1B2E4B"/>
                </a:solidFill>
              </a:rPr>
              <a:t>Primary focus: Fiscal Year 2024 &amp; forward-looking</a:t>
            </a:r>
            <a:endParaRPr lang="en-US" sz="850" dirty="0"/>
          </a:p>
          <a:p>
            <a:pPr marL="342900" indent="-342900">
              <a:spcAft>
                <a:spcPts val="300"/>
              </a:spcAft>
              <a:buSzPct val="100000"/>
              <a:buChar char="•"/>
            </a:pPr>
            <a:r>
              <a:rPr lang="en-US" sz="850" dirty="0">
                <a:solidFill>
                  <a:srgbClr val="1B2E4B"/>
                </a:solidFill>
              </a:rPr>
              <a:t>Reference audit period: Fiscal Years 2020-2023 (no adverse findings)</a:t>
            </a:r>
            <a:endParaRPr lang="en-US" sz="850" dirty="0"/>
          </a:p>
          <a:p>
            <a:pPr marL="342900" indent="-342900">
              <a:spcAft>
                <a:spcPts val="300"/>
              </a:spcAft>
              <a:buSzPct val="100000"/>
              <a:buChar char="•"/>
            </a:pPr>
            <a:r>
              <a:rPr lang="en-US" sz="850" dirty="0">
                <a:solidFill>
                  <a:srgbClr val="1B2E4B"/>
                </a:solidFill>
              </a:rPr>
              <a:t>Last VAT audit concluded in 2025</a:t>
            </a:r>
            <a:endParaRPr lang="en-US" sz="850" dirty="0"/>
          </a:p>
        </p:txBody>
      </p:sp>
      <p:sp>
        <p:nvSpPr>
          <p:cNvPr id="23" name="Shape 21"/>
          <p:cNvSpPr/>
          <p:nvPr/>
        </p:nvSpPr>
        <p:spPr>
          <a:xfrm>
            <a:off x="4754880" y="2532888"/>
            <a:ext cx="4114800" cy="1188720"/>
          </a:xfrm>
          <a:prstGeom prst="rect">
            <a:avLst/>
          </a:prstGeom>
          <a:solidFill>
            <a:srgbClr val="FFFFFF"/>
          </a:solidFill>
          <a:ln w="5080">
            <a:solidFill>
              <a:srgbClr val="CBD5E1"/>
            </a:solidFill>
            <a:prstDash val="solid"/>
          </a:ln>
          <a:effectLst>
            <a:outerShdw blurRad="50800" dist="25400" dir="8100000" algn="bl" rotWithShape="0">
              <a:srgbClr val="000000">
                <a:alpha val="8000"/>
              </a:srgbClr>
            </a:outerShdw>
          </a:effectLst>
        </p:spPr>
        <p:txBody>
          <a:bodyPr/>
          <a:lstStyle/>
          <a:p>
            <a:endParaRPr lang="en-DE"/>
          </a:p>
        </p:txBody>
      </p:sp>
      <p:sp>
        <p:nvSpPr>
          <p:cNvPr id="24" name="Shape 22"/>
          <p:cNvSpPr/>
          <p:nvPr/>
        </p:nvSpPr>
        <p:spPr>
          <a:xfrm>
            <a:off x="4754880" y="2532888"/>
            <a:ext cx="36576" cy="1188720"/>
          </a:xfrm>
          <a:prstGeom prst="rect">
            <a:avLst/>
          </a:prstGeom>
          <a:solidFill>
            <a:srgbClr val="006B6B"/>
          </a:solidFill>
          <a:ln w="12700">
            <a:solidFill>
              <a:srgbClr val="006B6B"/>
            </a:solidFill>
            <a:prstDash val="solid"/>
          </a:ln>
        </p:spPr>
        <p:txBody>
          <a:bodyPr/>
          <a:lstStyle/>
          <a:p>
            <a:endParaRPr lang="en-DE"/>
          </a:p>
        </p:txBody>
      </p:sp>
      <p:sp>
        <p:nvSpPr>
          <p:cNvPr id="25" name="Text 23"/>
          <p:cNvSpPr/>
          <p:nvPr/>
        </p:nvSpPr>
        <p:spPr>
          <a:xfrm>
            <a:off x="4864608" y="2596896"/>
            <a:ext cx="3931920" cy="201168"/>
          </a:xfrm>
          <a:prstGeom prst="rect">
            <a:avLst/>
          </a:prstGeom>
          <a:noFill/>
          <a:ln/>
        </p:spPr>
        <p:txBody>
          <a:bodyPr wrap="square" lIns="0" tIns="0" rIns="0" bIns="0" rtlCol="0" anchor="ctr"/>
          <a:lstStyle/>
          <a:p>
            <a:pPr marL="0" indent="0">
              <a:buNone/>
            </a:pPr>
            <a:r>
              <a:rPr lang="en-US" sz="900" b="1" dirty="0">
                <a:solidFill>
                  <a:srgbClr val="006B6B"/>
                </a:solidFill>
              </a:rPr>
              <a:t>Engagement Type</a:t>
            </a:r>
            <a:endParaRPr lang="en-US" sz="900" dirty="0"/>
          </a:p>
        </p:txBody>
      </p:sp>
      <p:sp>
        <p:nvSpPr>
          <p:cNvPr id="26" name="Text 24"/>
          <p:cNvSpPr/>
          <p:nvPr/>
        </p:nvSpPr>
        <p:spPr>
          <a:xfrm>
            <a:off x="4864608" y="2834640"/>
            <a:ext cx="3931920" cy="822960"/>
          </a:xfrm>
          <a:prstGeom prst="rect">
            <a:avLst/>
          </a:prstGeom>
          <a:noFill/>
          <a:ln/>
        </p:spPr>
        <p:txBody>
          <a:bodyPr wrap="square" lIns="0" tIns="0" rIns="0" bIns="0" rtlCol="0" anchor="ctr"/>
          <a:lstStyle/>
          <a:p>
            <a:pPr marL="342900" indent="-342900">
              <a:spcAft>
                <a:spcPts val="300"/>
              </a:spcAft>
              <a:buSzPct val="100000"/>
              <a:buChar char="•"/>
            </a:pPr>
            <a:r>
              <a:rPr lang="en-US" sz="850" dirty="0">
                <a:solidFill>
                  <a:srgbClr val="1B2E4B"/>
                </a:solidFill>
              </a:rPr>
              <a:t>Internal audit-style VAT advisory</a:t>
            </a:r>
            <a:endParaRPr lang="en-US" sz="850" dirty="0"/>
          </a:p>
          <a:p>
            <a:pPr marL="342900" indent="-342900">
              <a:spcAft>
                <a:spcPts val="300"/>
              </a:spcAft>
              <a:buSzPct val="100000"/>
              <a:buChar char="•"/>
            </a:pPr>
            <a:r>
              <a:rPr lang="en-US" sz="850" dirty="0">
                <a:solidFill>
                  <a:srgbClr val="1B2E4B"/>
                </a:solidFill>
              </a:rPr>
              <a:t>Multi-jurisdictional compliance review</a:t>
            </a:r>
            <a:endParaRPr lang="en-US" sz="850" dirty="0"/>
          </a:p>
          <a:p>
            <a:pPr marL="342900" indent="-342900">
              <a:spcAft>
                <a:spcPts val="300"/>
              </a:spcAft>
              <a:buSzPct val="100000"/>
              <a:buChar char="•"/>
            </a:pPr>
            <a:r>
              <a:rPr lang="en-US" sz="850" dirty="0">
                <a:solidFill>
                  <a:srgbClr val="1B2E4B"/>
                </a:solidFill>
              </a:rPr>
              <a:t>Tax Technology readiness assessment</a:t>
            </a:r>
            <a:endParaRPr lang="en-US" sz="850" dirty="0"/>
          </a:p>
        </p:txBody>
      </p:sp>
      <p:sp>
        <p:nvSpPr>
          <p:cNvPr id="27" name="Text 25"/>
          <p:cNvSpPr/>
          <p:nvPr/>
        </p:nvSpPr>
        <p:spPr>
          <a:xfrm>
            <a:off x="411480" y="3877056"/>
            <a:ext cx="2286000" cy="182880"/>
          </a:xfrm>
          <a:prstGeom prst="rect">
            <a:avLst/>
          </a:prstGeom>
          <a:noFill/>
          <a:ln/>
        </p:spPr>
        <p:txBody>
          <a:bodyPr wrap="square" lIns="0" tIns="0" rIns="0" bIns="0" rtlCol="0" anchor="ctr"/>
          <a:lstStyle/>
          <a:p>
            <a:pPr marL="0" indent="0">
              <a:buNone/>
            </a:pPr>
            <a:r>
              <a:rPr lang="en-US" sz="750" b="1" kern="0" spc="200" dirty="0">
                <a:solidFill>
                  <a:srgbClr val="006B6B"/>
                </a:solidFill>
              </a:rPr>
              <a:t>METHODOLOGY</a:t>
            </a:r>
            <a:endParaRPr lang="en-US" sz="750" dirty="0"/>
          </a:p>
        </p:txBody>
      </p:sp>
      <p:sp>
        <p:nvSpPr>
          <p:cNvPr id="28" name="Shape 26"/>
          <p:cNvSpPr/>
          <p:nvPr/>
        </p:nvSpPr>
        <p:spPr>
          <a:xfrm>
            <a:off x="411480" y="4096512"/>
            <a:ext cx="1572768" cy="530352"/>
          </a:xfrm>
          <a:prstGeom prst="rect">
            <a:avLst/>
          </a:prstGeom>
          <a:solidFill>
            <a:srgbClr val="006B6B"/>
          </a:solidFill>
          <a:ln w="12700">
            <a:solidFill>
              <a:srgbClr val="006B6B"/>
            </a:solidFill>
            <a:prstDash val="solid"/>
          </a:ln>
        </p:spPr>
        <p:txBody>
          <a:bodyPr/>
          <a:lstStyle/>
          <a:p>
            <a:endParaRPr lang="en-DE"/>
          </a:p>
        </p:txBody>
      </p:sp>
      <p:sp>
        <p:nvSpPr>
          <p:cNvPr id="29" name="Text 27"/>
          <p:cNvSpPr/>
          <p:nvPr/>
        </p:nvSpPr>
        <p:spPr>
          <a:xfrm>
            <a:off x="411480" y="4096512"/>
            <a:ext cx="1572768" cy="530352"/>
          </a:xfrm>
          <a:prstGeom prst="rect">
            <a:avLst/>
          </a:prstGeom>
          <a:noFill/>
          <a:ln/>
        </p:spPr>
        <p:txBody>
          <a:bodyPr wrap="square" lIns="0" tIns="0" rIns="0" bIns="0" rtlCol="0" anchor="ctr"/>
          <a:lstStyle/>
          <a:p>
            <a:pPr marL="0" indent="0" algn="ctr">
              <a:buNone/>
            </a:pPr>
            <a:r>
              <a:rPr lang="en-US" sz="800" b="1" dirty="0">
                <a:solidFill>
                  <a:srgbClr val="FFFFFF"/>
                </a:solidFill>
              </a:rPr>
              <a:t>Document</a:t>
            </a:r>
            <a:endParaRPr lang="en-US" sz="800" dirty="0"/>
          </a:p>
          <a:p>
            <a:pPr marL="0" indent="0" algn="ctr">
              <a:buNone/>
            </a:pPr>
            <a:r>
              <a:rPr lang="en-US" sz="800" b="1" dirty="0">
                <a:solidFill>
                  <a:srgbClr val="FFFFFF"/>
                </a:solidFill>
              </a:rPr>
              <a:t>Review</a:t>
            </a:r>
            <a:endParaRPr lang="en-US" sz="800" dirty="0"/>
          </a:p>
        </p:txBody>
      </p:sp>
      <p:sp>
        <p:nvSpPr>
          <p:cNvPr id="30" name="Shape 28"/>
          <p:cNvSpPr/>
          <p:nvPr/>
        </p:nvSpPr>
        <p:spPr>
          <a:xfrm>
            <a:off x="1984248" y="4306824"/>
            <a:ext cx="100584" cy="109728"/>
          </a:xfrm>
          <a:prstGeom prst="rect">
            <a:avLst/>
          </a:prstGeom>
          <a:solidFill>
            <a:srgbClr val="0A1628"/>
          </a:solidFill>
          <a:ln w="12700">
            <a:solidFill>
              <a:srgbClr val="0A1628"/>
            </a:solidFill>
            <a:prstDash val="solid"/>
          </a:ln>
        </p:spPr>
        <p:txBody>
          <a:bodyPr/>
          <a:lstStyle/>
          <a:p>
            <a:endParaRPr lang="en-DE"/>
          </a:p>
        </p:txBody>
      </p:sp>
      <p:sp>
        <p:nvSpPr>
          <p:cNvPr id="31" name="Shape 29"/>
          <p:cNvSpPr/>
          <p:nvPr/>
        </p:nvSpPr>
        <p:spPr>
          <a:xfrm>
            <a:off x="2084832" y="4096512"/>
            <a:ext cx="1572768" cy="530352"/>
          </a:xfrm>
          <a:prstGeom prst="rect">
            <a:avLst/>
          </a:prstGeom>
          <a:solidFill>
            <a:srgbClr val="006B6B"/>
          </a:solidFill>
          <a:ln w="12700">
            <a:solidFill>
              <a:srgbClr val="006B6B"/>
            </a:solidFill>
            <a:prstDash val="solid"/>
          </a:ln>
        </p:spPr>
        <p:txBody>
          <a:bodyPr/>
          <a:lstStyle/>
          <a:p>
            <a:endParaRPr lang="en-DE"/>
          </a:p>
        </p:txBody>
      </p:sp>
      <p:sp>
        <p:nvSpPr>
          <p:cNvPr id="32" name="Text 30"/>
          <p:cNvSpPr/>
          <p:nvPr/>
        </p:nvSpPr>
        <p:spPr>
          <a:xfrm>
            <a:off x="2084832" y="4096512"/>
            <a:ext cx="1572768" cy="530352"/>
          </a:xfrm>
          <a:prstGeom prst="rect">
            <a:avLst/>
          </a:prstGeom>
          <a:noFill/>
          <a:ln/>
        </p:spPr>
        <p:txBody>
          <a:bodyPr wrap="square" lIns="0" tIns="0" rIns="0" bIns="0" rtlCol="0" anchor="ctr"/>
          <a:lstStyle/>
          <a:p>
            <a:pPr marL="0" indent="0" algn="ctr">
              <a:buNone/>
            </a:pPr>
            <a:r>
              <a:rPr lang="en-US" sz="800" b="1" dirty="0">
                <a:solidFill>
                  <a:srgbClr val="FFFFFF"/>
                </a:solidFill>
              </a:rPr>
              <a:t>Legal Analysis</a:t>
            </a:r>
            <a:endParaRPr lang="en-US" sz="800" dirty="0"/>
          </a:p>
          <a:p>
            <a:pPr marL="0" indent="0" algn="ctr">
              <a:buNone/>
            </a:pPr>
            <a:r>
              <a:rPr lang="en-US" sz="800" b="1" dirty="0">
                <a:solidFill>
                  <a:srgbClr val="FFFFFF"/>
                </a:solidFill>
              </a:rPr>
              <a:t>(UStG / AO)</a:t>
            </a:r>
            <a:endParaRPr lang="en-US" sz="800" dirty="0"/>
          </a:p>
        </p:txBody>
      </p:sp>
      <p:sp>
        <p:nvSpPr>
          <p:cNvPr id="33" name="Shape 31"/>
          <p:cNvSpPr/>
          <p:nvPr/>
        </p:nvSpPr>
        <p:spPr>
          <a:xfrm>
            <a:off x="3657600" y="4306824"/>
            <a:ext cx="100584" cy="109728"/>
          </a:xfrm>
          <a:prstGeom prst="rect">
            <a:avLst/>
          </a:prstGeom>
          <a:solidFill>
            <a:srgbClr val="0A1628"/>
          </a:solidFill>
          <a:ln w="12700">
            <a:solidFill>
              <a:srgbClr val="0A1628"/>
            </a:solidFill>
            <a:prstDash val="solid"/>
          </a:ln>
        </p:spPr>
        <p:txBody>
          <a:bodyPr/>
          <a:lstStyle/>
          <a:p>
            <a:endParaRPr lang="en-DE"/>
          </a:p>
        </p:txBody>
      </p:sp>
      <p:sp>
        <p:nvSpPr>
          <p:cNvPr id="34" name="Shape 32"/>
          <p:cNvSpPr/>
          <p:nvPr/>
        </p:nvSpPr>
        <p:spPr>
          <a:xfrm>
            <a:off x="3758184" y="4096512"/>
            <a:ext cx="1572768" cy="530352"/>
          </a:xfrm>
          <a:prstGeom prst="rect">
            <a:avLst/>
          </a:prstGeom>
          <a:solidFill>
            <a:srgbClr val="006B6B"/>
          </a:solidFill>
          <a:ln w="12700">
            <a:solidFill>
              <a:srgbClr val="006B6B"/>
            </a:solidFill>
            <a:prstDash val="solid"/>
          </a:ln>
        </p:spPr>
        <p:txBody>
          <a:bodyPr/>
          <a:lstStyle/>
          <a:p>
            <a:endParaRPr lang="en-DE"/>
          </a:p>
        </p:txBody>
      </p:sp>
      <p:sp>
        <p:nvSpPr>
          <p:cNvPr id="35" name="Text 33"/>
          <p:cNvSpPr/>
          <p:nvPr/>
        </p:nvSpPr>
        <p:spPr>
          <a:xfrm>
            <a:off x="3758184" y="4096512"/>
            <a:ext cx="1572768" cy="530352"/>
          </a:xfrm>
          <a:prstGeom prst="rect">
            <a:avLst/>
          </a:prstGeom>
          <a:noFill/>
          <a:ln/>
        </p:spPr>
        <p:txBody>
          <a:bodyPr wrap="square" lIns="0" tIns="0" rIns="0" bIns="0" rtlCol="0" anchor="ctr"/>
          <a:lstStyle/>
          <a:p>
            <a:pPr marL="0" indent="0" algn="ctr">
              <a:buNone/>
            </a:pPr>
            <a:r>
              <a:rPr lang="en-US" sz="800" b="1" dirty="0">
                <a:solidFill>
                  <a:srgbClr val="FFFFFF"/>
                </a:solidFill>
              </a:rPr>
              <a:t>Risk</a:t>
            </a:r>
            <a:endParaRPr lang="en-US" sz="800" dirty="0"/>
          </a:p>
          <a:p>
            <a:pPr marL="0" indent="0" algn="ctr">
              <a:buNone/>
            </a:pPr>
            <a:r>
              <a:rPr lang="en-US" sz="800" b="1" dirty="0">
                <a:solidFill>
                  <a:srgbClr val="FFFFFF"/>
                </a:solidFill>
              </a:rPr>
              <a:t>Scoring</a:t>
            </a:r>
            <a:endParaRPr lang="en-US" sz="800" dirty="0"/>
          </a:p>
        </p:txBody>
      </p:sp>
      <p:sp>
        <p:nvSpPr>
          <p:cNvPr id="36" name="Shape 34"/>
          <p:cNvSpPr/>
          <p:nvPr/>
        </p:nvSpPr>
        <p:spPr>
          <a:xfrm>
            <a:off x="5330952" y="4306824"/>
            <a:ext cx="100584" cy="109728"/>
          </a:xfrm>
          <a:prstGeom prst="rect">
            <a:avLst/>
          </a:prstGeom>
          <a:solidFill>
            <a:srgbClr val="0A1628"/>
          </a:solidFill>
          <a:ln w="12700">
            <a:solidFill>
              <a:srgbClr val="0A1628"/>
            </a:solidFill>
            <a:prstDash val="solid"/>
          </a:ln>
        </p:spPr>
        <p:txBody>
          <a:bodyPr/>
          <a:lstStyle/>
          <a:p>
            <a:endParaRPr lang="en-DE"/>
          </a:p>
        </p:txBody>
      </p:sp>
      <p:sp>
        <p:nvSpPr>
          <p:cNvPr id="37" name="Shape 35"/>
          <p:cNvSpPr/>
          <p:nvPr/>
        </p:nvSpPr>
        <p:spPr>
          <a:xfrm>
            <a:off x="5431536" y="4096512"/>
            <a:ext cx="1572768" cy="530352"/>
          </a:xfrm>
          <a:prstGeom prst="rect">
            <a:avLst/>
          </a:prstGeom>
          <a:solidFill>
            <a:srgbClr val="006B6B"/>
          </a:solidFill>
          <a:ln w="12700">
            <a:solidFill>
              <a:srgbClr val="006B6B"/>
            </a:solidFill>
            <a:prstDash val="solid"/>
          </a:ln>
        </p:spPr>
        <p:txBody>
          <a:bodyPr/>
          <a:lstStyle/>
          <a:p>
            <a:endParaRPr lang="en-DE"/>
          </a:p>
        </p:txBody>
      </p:sp>
      <p:sp>
        <p:nvSpPr>
          <p:cNvPr id="38" name="Text 36"/>
          <p:cNvSpPr/>
          <p:nvPr/>
        </p:nvSpPr>
        <p:spPr>
          <a:xfrm>
            <a:off x="5431536" y="4096512"/>
            <a:ext cx="1572768" cy="530352"/>
          </a:xfrm>
          <a:prstGeom prst="rect">
            <a:avLst/>
          </a:prstGeom>
          <a:noFill/>
          <a:ln/>
        </p:spPr>
        <p:txBody>
          <a:bodyPr wrap="square" lIns="0" tIns="0" rIns="0" bIns="0" rtlCol="0" anchor="ctr"/>
          <a:lstStyle/>
          <a:p>
            <a:pPr marL="0" indent="0" algn="ctr">
              <a:buNone/>
            </a:pPr>
            <a:r>
              <a:rPr lang="en-US" sz="800" b="1" dirty="0">
                <a:solidFill>
                  <a:srgbClr val="FFFFFF"/>
                </a:solidFill>
              </a:rPr>
              <a:t>Advisory</a:t>
            </a:r>
            <a:endParaRPr lang="en-US" sz="800" dirty="0"/>
          </a:p>
          <a:p>
            <a:pPr marL="0" indent="0" algn="ctr">
              <a:buNone/>
            </a:pPr>
            <a:r>
              <a:rPr lang="en-US" sz="800" b="1" dirty="0">
                <a:solidFill>
                  <a:srgbClr val="FFFFFF"/>
                </a:solidFill>
              </a:rPr>
              <a:t>Drafting</a:t>
            </a:r>
            <a:endParaRPr lang="en-US" sz="800" dirty="0"/>
          </a:p>
        </p:txBody>
      </p:sp>
      <p:sp>
        <p:nvSpPr>
          <p:cNvPr id="39" name="Shape 37"/>
          <p:cNvSpPr/>
          <p:nvPr/>
        </p:nvSpPr>
        <p:spPr>
          <a:xfrm>
            <a:off x="7004304" y="4306824"/>
            <a:ext cx="100584" cy="109728"/>
          </a:xfrm>
          <a:prstGeom prst="rect">
            <a:avLst/>
          </a:prstGeom>
          <a:solidFill>
            <a:srgbClr val="0A1628"/>
          </a:solidFill>
          <a:ln w="12700">
            <a:solidFill>
              <a:srgbClr val="0A1628"/>
            </a:solidFill>
            <a:prstDash val="solid"/>
          </a:ln>
        </p:spPr>
        <p:txBody>
          <a:bodyPr/>
          <a:lstStyle/>
          <a:p>
            <a:endParaRPr lang="en-DE"/>
          </a:p>
        </p:txBody>
      </p:sp>
      <p:sp>
        <p:nvSpPr>
          <p:cNvPr id="40" name="Shape 38"/>
          <p:cNvSpPr/>
          <p:nvPr/>
        </p:nvSpPr>
        <p:spPr>
          <a:xfrm>
            <a:off x="7104888" y="4096512"/>
            <a:ext cx="1572768" cy="530352"/>
          </a:xfrm>
          <a:prstGeom prst="rect">
            <a:avLst/>
          </a:prstGeom>
          <a:solidFill>
            <a:srgbClr val="006B6B"/>
          </a:solidFill>
          <a:ln w="12700">
            <a:solidFill>
              <a:srgbClr val="006B6B"/>
            </a:solidFill>
            <a:prstDash val="solid"/>
          </a:ln>
        </p:spPr>
        <p:txBody>
          <a:bodyPr/>
          <a:lstStyle/>
          <a:p>
            <a:endParaRPr lang="en-DE"/>
          </a:p>
        </p:txBody>
      </p:sp>
      <p:sp>
        <p:nvSpPr>
          <p:cNvPr id="41" name="Text 39"/>
          <p:cNvSpPr/>
          <p:nvPr/>
        </p:nvSpPr>
        <p:spPr>
          <a:xfrm>
            <a:off x="7104888" y="4096512"/>
            <a:ext cx="1572768" cy="530352"/>
          </a:xfrm>
          <a:prstGeom prst="rect">
            <a:avLst/>
          </a:prstGeom>
          <a:noFill/>
          <a:ln/>
        </p:spPr>
        <p:txBody>
          <a:bodyPr wrap="square" lIns="0" tIns="0" rIns="0" bIns="0" rtlCol="0" anchor="ctr"/>
          <a:lstStyle/>
          <a:p>
            <a:pPr marL="0" indent="0" algn="ctr">
              <a:buNone/>
            </a:pPr>
            <a:r>
              <a:rPr lang="en-US" sz="800" b="1" dirty="0">
                <a:solidFill>
                  <a:srgbClr val="FFFFFF"/>
                </a:solidFill>
              </a:rPr>
              <a:t>Action</a:t>
            </a:r>
            <a:endParaRPr lang="en-US" sz="800" dirty="0"/>
          </a:p>
          <a:p>
            <a:pPr marL="0" indent="0" algn="ctr">
              <a:buNone/>
            </a:pPr>
            <a:r>
              <a:rPr lang="en-US" sz="800" b="1" dirty="0">
                <a:solidFill>
                  <a:srgbClr val="FFFFFF"/>
                </a:solidFill>
              </a:rPr>
              <a:t>Planning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4" name="Text 2"/>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5" name="Text 3"/>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BUSINESS MODEL</a:t>
            </a:r>
            <a:endParaRPr lang="en-US" sz="7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5 / 23</a:t>
            </a:r>
            <a:endParaRPr lang="en-US" sz="700" dirty="0"/>
          </a:p>
        </p:txBody>
      </p:sp>
      <p:sp>
        <p:nvSpPr>
          <p:cNvPr id="7" name="Text 5"/>
          <p:cNvSpPr/>
          <p:nvPr/>
        </p:nvSpPr>
        <p:spPr>
          <a:xfrm>
            <a:off x="411480" y="137160"/>
            <a:ext cx="6400800" cy="201168"/>
          </a:xfrm>
          <a:prstGeom prst="rect">
            <a:avLst/>
          </a:prstGeom>
          <a:noFill/>
          <a:ln/>
        </p:spPr>
        <p:txBody>
          <a:bodyPr wrap="square" lIns="0" tIns="0" rIns="0" bIns="0" rtlCol="0" anchor="ctr"/>
          <a:lstStyle/>
          <a:p>
            <a:pPr marL="0" indent="0">
              <a:buNone/>
            </a:pPr>
            <a:r>
              <a:rPr lang="en-US" sz="800" b="1" kern="0" spc="200" dirty="0">
                <a:solidFill>
                  <a:srgbClr val="006B6B"/>
                </a:solidFill>
              </a:rPr>
              <a:t>02 | BUSINESS MODEL</a:t>
            </a:r>
            <a:endParaRPr lang="en-US" sz="800" dirty="0"/>
          </a:p>
        </p:txBody>
      </p:sp>
      <p:sp>
        <p:nvSpPr>
          <p:cNvPr id="8" name="Text 6"/>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Entity Structure &amp; VAT Registration Map</a:t>
            </a:r>
            <a:endParaRPr lang="en-US" sz="2100" dirty="0"/>
          </a:p>
        </p:txBody>
      </p:sp>
      <p:sp>
        <p:nvSpPr>
          <p:cNvPr id="9" name="Text 7"/>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Three-entity structure across Germany, Spain and Poland</a:t>
            </a:r>
            <a:endParaRPr lang="en-US" sz="950" dirty="0"/>
          </a:p>
        </p:txBody>
      </p:sp>
      <p:sp>
        <p:nvSpPr>
          <p:cNvPr id="10" name="Shape 8"/>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1" name="Shape 9"/>
          <p:cNvSpPr/>
          <p:nvPr/>
        </p:nvSpPr>
        <p:spPr>
          <a:xfrm>
            <a:off x="411480" y="1207008"/>
            <a:ext cx="2606040" cy="1463040"/>
          </a:xfrm>
          <a:prstGeom prst="rect">
            <a:avLst/>
          </a:prstGeom>
          <a:solidFill>
            <a:srgbClr val="0A1628"/>
          </a:solidFill>
          <a:ln w="12700">
            <a:solidFill>
              <a:srgbClr val="0A1628"/>
            </a:solidFill>
            <a:prstDash val="solid"/>
          </a:ln>
          <a:effectLst>
            <a:outerShdw blurRad="50800" dist="25400" dir="8100000" algn="bl" rotWithShape="0">
              <a:srgbClr val="000000">
                <a:alpha val="8000"/>
              </a:srgbClr>
            </a:outerShdw>
          </a:effectLst>
        </p:spPr>
        <p:txBody>
          <a:bodyPr/>
          <a:lstStyle/>
          <a:p>
            <a:endParaRPr lang="en-DE"/>
          </a:p>
        </p:txBody>
      </p:sp>
      <p:sp>
        <p:nvSpPr>
          <p:cNvPr id="12" name="Text 10"/>
          <p:cNvSpPr/>
          <p:nvPr/>
        </p:nvSpPr>
        <p:spPr>
          <a:xfrm>
            <a:off x="502920" y="1261872"/>
            <a:ext cx="2423160" cy="310896"/>
          </a:xfrm>
          <a:prstGeom prst="rect">
            <a:avLst/>
          </a:prstGeom>
          <a:noFill/>
          <a:ln/>
        </p:spPr>
        <p:txBody>
          <a:bodyPr wrap="square" lIns="0" tIns="0" rIns="0" bIns="0" rtlCol="0" anchor="ctr"/>
          <a:lstStyle/>
          <a:p>
            <a:pPr marL="0" indent="0">
              <a:buNone/>
            </a:pPr>
            <a:r>
              <a:rPr lang="en-US" sz="1150" b="1" dirty="0">
                <a:solidFill>
                  <a:srgbClr val="FFFFFF"/>
                </a:solidFill>
              </a:rPr>
              <a:t>Strabam AG</a:t>
            </a:r>
            <a:endParaRPr lang="en-US" sz="1150" dirty="0"/>
          </a:p>
        </p:txBody>
      </p:sp>
      <p:sp>
        <p:nvSpPr>
          <p:cNvPr id="13" name="Text 11"/>
          <p:cNvSpPr/>
          <p:nvPr/>
        </p:nvSpPr>
        <p:spPr>
          <a:xfrm>
            <a:off x="502920" y="1572768"/>
            <a:ext cx="2423160" cy="201168"/>
          </a:xfrm>
          <a:prstGeom prst="rect">
            <a:avLst/>
          </a:prstGeom>
          <a:noFill/>
          <a:ln/>
        </p:spPr>
        <p:txBody>
          <a:bodyPr wrap="square" lIns="0" tIns="0" rIns="0" bIns="0" rtlCol="0" anchor="ctr"/>
          <a:lstStyle/>
          <a:p>
            <a:pPr marL="0" indent="0">
              <a:buNone/>
            </a:pPr>
            <a:r>
              <a:rPr lang="en-US" sz="900" dirty="0">
                <a:solidFill>
                  <a:srgbClr val="AACCDD"/>
                </a:solidFill>
              </a:rPr>
              <a:t>Germany 🇩🇪</a:t>
            </a:r>
            <a:endParaRPr lang="en-US" sz="900" dirty="0"/>
          </a:p>
        </p:txBody>
      </p:sp>
      <p:sp>
        <p:nvSpPr>
          <p:cNvPr id="14" name="Text 12"/>
          <p:cNvSpPr/>
          <p:nvPr/>
        </p:nvSpPr>
        <p:spPr>
          <a:xfrm>
            <a:off x="502920" y="1783080"/>
            <a:ext cx="2423160" cy="310896"/>
          </a:xfrm>
          <a:prstGeom prst="rect">
            <a:avLst/>
          </a:prstGeom>
          <a:noFill/>
          <a:ln/>
        </p:spPr>
        <p:txBody>
          <a:bodyPr wrap="square" lIns="0" tIns="0" rIns="0" bIns="0" rtlCol="0" anchor="ctr"/>
          <a:lstStyle/>
          <a:p>
            <a:pPr marL="0" indent="0">
              <a:buNone/>
            </a:pPr>
            <a:r>
              <a:rPr lang="en-US" sz="850" dirty="0">
                <a:solidFill>
                  <a:srgbClr val="CCDDE8"/>
                </a:solidFill>
              </a:rPr>
              <a:t>Parent Company · Importer of Record</a:t>
            </a:r>
            <a:endParaRPr lang="en-US" sz="850" dirty="0"/>
          </a:p>
        </p:txBody>
      </p:sp>
      <p:sp>
        <p:nvSpPr>
          <p:cNvPr id="15" name="Text 13"/>
          <p:cNvSpPr/>
          <p:nvPr/>
        </p:nvSpPr>
        <p:spPr>
          <a:xfrm>
            <a:off x="502920" y="2103120"/>
            <a:ext cx="2423160" cy="310896"/>
          </a:xfrm>
          <a:prstGeom prst="rect">
            <a:avLst/>
          </a:prstGeom>
          <a:noFill/>
          <a:ln/>
        </p:spPr>
        <p:txBody>
          <a:bodyPr wrap="square" lIns="0" tIns="0" rIns="0" bIns="0" rtlCol="0" anchor="ctr"/>
          <a:lstStyle/>
          <a:p>
            <a:pPr marL="0" indent="0">
              <a:buNone/>
            </a:pPr>
            <a:r>
              <a:rPr lang="en-US" sz="800" i="1" dirty="0">
                <a:solidFill>
                  <a:srgbClr val="88CCBB"/>
                </a:solidFill>
              </a:rPr>
              <a:t>100% shareholder of ESP subsidiary</a:t>
            </a:r>
            <a:endParaRPr lang="en-US" sz="800" dirty="0"/>
          </a:p>
        </p:txBody>
      </p:sp>
      <p:sp>
        <p:nvSpPr>
          <p:cNvPr id="16" name="Text 14"/>
          <p:cNvSpPr/>
          <p:nvPr/>
        </p:nvSpPr>
        <p:spPr>
          <a:xfrm>
            <a:off x="502920" y="2423160"/>
            <a:ext cx="2423160" cy="201168"/>
          </a:xfrm>
          <a:prstGeom prst="rect">
            <a:avLst/>
          </a:prstGeom>
          <a:noFill/>
          <a:ln/>
        </p:spPr>
        <p:txBody>
          <a:bodyPr wrap="square" lIns="0" tIns="0" rIns="0" bIns="0" rtlCol="0" anchor="ctr"/>
          <a:lstStyle/>
          <a:p>
            <a:pPr marL="0" indent="0">
              <a:buNone/>
            </a:pPr>
            <a:r>
              <a:rPr lang="en-US" sz="850" b="1" dirty="0">
                <a:solidFill>
                  <a:srgbClr val="AAFFCC"/>
                </a:solidFill>
              </a:rPr>
              <a:t>VAT Registered (DE)</a:t>
            </a:r>
            <a:endParaRPr lang="en-US" sz="850" dirty="0"/>
          </a:p>
        </p:txBody>
      </p:sp>
      <p:sp>
        <p:nvSpPr>
          <p:cNvPr id="17" name="Shape 15"/>
          <p:cNvSpPr/>
          <p:nvPr/>
        </p:nvSpPr>
        <p:spPr>
          <a:xfrm>
            <a:off x="3246120" y="1207008"/>
            <a:ext cx="2606040" cy="1463040"/>
          </a:xfrm>
          <a:prstGeom prst="rect">
            <a:avLst/>
          </a:prstGeom>
          <a:solidFill>
            <a:srgbClr val="2C4A6E"/>
          </a:solidFill>
          <a:ln w="1270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18" name="Text 16"/>
          <p:cNvSpPr/>
          <p:nvPr/>
        </p:nvSpPr>
        <p:spPr>
          <a:xfrm>
            <a:off x="3337560" y="1261872"/>
            <a:ext cx="2423160" cy="310896"/>
          </a:xfrm>
          <a:prstGeom prst="rect">
            <a:avLst/>
          </a:prstGeom>
          <a:noFill/>
          <a:ln/>
        </p:spPr>
        <p:txBody>
          <a:bodyPr wrap="square" lIns="0" tIns="0" rIns="0" bIns="0" rtlCol="0" anchor="ctr"/>
          <a:lstStyle/>
          <a:p>
            <a:pPr marL="0" indent="0">
              <a:buNone/>
            </a:pPr>
            <a:r>
              <a:rPr lang="en-US" sz="1150" b="1" dirty="0">
                <a:solidFill>
                  <a:srgbClr val="FFFFFF"/>
                </a:solidFill>
              </a:rPr>
              <a:t>Spanish Subsidiary</a:t>
            </a:r>
            <a:endParaRPr lang="en-US" sz="1150" dirty="0"/>
          </a:p>
        </p:txBody>
      </p:sp>
      <p:sp>
        <p:nvSpPr>
          <p:cNvPr id="19" name="Text 17"/>
          <p:cNvSpPr/>
          <p:nvPr/>
        </p:nvSpPr>
        <p:spPr>
          <a:xfrm>
            <a:off x="3337560" y="1572768"/>
            <a:ext cx="2423160" cy="201168"/>
          </a:xfrm>
          <a:prstGeom prst="rect">
            <a:avLst/>
          </a:prstGeom>
          <a:noFill/>
          <a:ln/>
        </p:spPr>
        <p:txBody>
          <a:bodyPr wrap="square" lIns="0" tIns="0" rIns="0" bIns="0" rtlCol="0" anchor="ctr"/>
          <a:lstStyle/>
          <a:p>
            <a:pPr marL="0" indent="0">
              <a:buNone/>
            </a:pPr>
            <a:r>
              <a:rPr lang="en-US" sz="900" dirty="0">
                <a:solidFill>
                  <a:srgbClr val="AACCDD"/>
                </a:solidFill>
              </a:rPr>
              <a:t>Spain 🇪🇸</a:t>
            </a:r>
            <a:endParaRPr lang="en-US" sz="900" dirty="0"/>
          </a:p>
        </p:txBody>
      </p:sp>
      <p:sp>
        <p:nvSpPr>
          <p:cNvPr id="20" name="Text 18"/>
          <p:cNvSpPr/>
          <p:nvPr/>
        </p:nvSpPr>
        <p:spPr>
          <a:xfrm>
            <a:off x="3337560" y="1783080"/>
            <a:ext cx="2423160" cy="310896"/>
          </a:xfrm>
          <a:prstGeom prst="rect">
            <a:avLst/>
          </a:prstGeom>
          <a:noFill/>
          <a:ln/>
        </p:spPr>
        <p:txBody>
          <a:bodyPr wrap="square" lIns="0" tIns="0" rIns="0" bIns="0" rtlCol="0" anchor="ctr"/>
          <a:lstStyle/>
          <a:p>
            <a:pPr marL="0" indent="0">
              <a:buNone/>
            </a:pPr>
            <a:r>
              <a:rPr lang="en-US" sz="850" dirty="0">
                <a:solidFill>
                  <a:srgbClr val="CCDDE8"/>
                </a:solidFill>
              </a:rPr>
              <a:t>100% Subsidiary · Independent Legal Entity</a:t>
            </a:r>
            <a:endParaRPr lang="en-US" sz="850" dirty="0"/>
          </a:p>
        </p:txBody>
      </p:sp>
      <p:sp>
        <p:nvSpPr>
          <p:cNvPr id="21" name="Text 19"/>
          <p:cNvSpPr/>
          <p:nvPr/>
        </p:nvSpPr>
        <p:spPr>
          <a:xfrm>
            <a:off x="3337560" y="2103120"/>
            <a:ext cx="2423160" cy="310896"/>
          </a:xfrm>
          <a:prstGeom prst="rect">
            <a:avLst/>
          </a:prstGeom>
          <a:noFill/>
          <a:ln/>
        </p:spPr>
        <p:txBody>
          <a:bodyPr wrap="square" lIns="0" tIns="0" rIns="0" bIns="0" rtlCol="0" anchor="ctr"/>
          <a:lstStyle/>
          <a:p>
            <a:pPr marL="0" indent="0">
              <a:buNone/>
            </a:pPr>
            <a:r>
              <a:rPr lang="en-US" sz="800" i="1" dirty="0">
                <a:solidFill>
                  <a:srgbClr val="88CCBB"/>
                </a:solidFill>
              </a:rPr>
              <a:t>Production facility - large machinery from €0.5M</a:t>
            </a:r>
            <a:endParaRPr lang="en-US" sz="800" dirty="0"/>
          </a:p>
        </p:txBody>
      </p:sp>
      <p:sp>
        <p:nvSpPr>
          <p:cNvPr id="22" name="Text 20"/>
          <p:cNvSpPr/>
          <p:nvPr/>
        </p:nvSpPr>
        <p:spPr>
          <a:xfrm>
            <a:off x="3337560" y="2423160"/>
            <a:ext cx="2423160" cy="201168"/>
          </a:xfrm>
          <a:prstGeom prst="rect">
            <a:avLst/>
          </a:prstGeom>
          <a:noFill/>
          <a:ln/>
        </p:spPr>
        <p:txBody>
          <a:bodyPr wrap="square" lIns="0" tIns="0" rIns="0" bIns="0" rtlCol="0" anchor="ctr"/>
          <a:lstStyle/>
          <a:p>
            <a:pPr marL="0" indent="0">
              <a:buNone/>
            </a:pPr>
            <a:r>
              <a:rPr lang="en-US" sz="850" b="1" dirty="0">
                <a:solidFill>
                  <a:srgbClr val="AAFFCC"/>
                </a:solidFill>
              </a:rPr>
              <a:t>VAT Registered (ESP)</a:t>
            </a:r>
            <a:endParaRPr lang="en-US" sz="850" dirty="0"/>
          </a:p>
        </p:txBody>
      </p:sp>
      <p:sp>
        <p:nvSpPr>
          <p:cNvPr id="23" name="Shape 21"/>
          <p:cNvSpPr/>
          <p:nvPr/>
        </p:nvSpPr>
        <p:spPr>
          <a:xfrm>
            <a:off x="6080760" y="1207008"/>
            <a:ext cx="2606040" cy="1463040"/>
          </a:xfrm>
          <a:prstGeom prst="rect">
            <a:avLst/>
          </a:prstGeom>
          <a:solidFill>
            <a:srgbClr val="006B6B"/>
          </a:solidFill>
          <a:ln w="12700">
            <a:solidFill>
              <a:srgbClr val="006B6B"/>
            </a:solidFill>
            <a:prstDash val="solid"/>
          </a:ln>
          <a:effectLst>
            <a:outerShdw blurRad="50800" dist="25400" dir="8100000" algn="bl" rotWithShape="0">
              <a:srgbClr val="000000">
                <a:alpha val="8000"/>
              </a:srgbClr>
            </a:outerShdw>
          </a:effectLst>
        </p:spPr>
        <p:txBody>
          <a:bodyPr/>
          <a:lstStyle/>
          <a:p>
            <a:endParaRPr lang="en-DE"/>
          </a:p>
        </p:txBody>
      </p:sp>
      <p:sp>
        <p:nvSpPr>
          <p:cNvPr id="24" name="Text 22"/>
          <p:cNvSpPr/>
          <p:nvPr/>
        </p:nvSpPr>
        <p:spPr>
          <a:xfrm>
            <a:off x="6172200" y="1261872"/>
            <a:ext cx="2423160" cy="310896"/>
          </a:xfrm>
          <a:prstGeom prst="rect">
            <a:avLst/>
          </a:prstGeom>
          <a:noFill/>
          <a:ln/>
        </p:spPr>
        <p:txBody>
          <a:bodyPr wrap="square" lIns="0" tIns="0" rIns="0" bIns="0" rtlCol="0" anchor="ctr"/>
          <a:lstStyle/>
          <a:p>
            <a:pPr marL="0" indent="0">
              <a:buNone/>
            </a:pPr>
            <a:r>
              <a:rPr lang="en-US" sz="1150" b="1" dirty="0">
                <a:solidFill>
                  <a:srgbClr val="FFFFFF"/>
                </a:solidFill>
              </a:rPr>
              <a:t>Strabam S.p.l</a:t>
            </a:r>
            <a:endParaRPr lang="en-US" sz="1150" dirty="0"/>
          </a:p>
        </p:txBody>
      </p:sp>
      <p:sp>
        <p:nvSpPr>
          <p:cNvPr id="25" name="Text 23"/>
          <p:cNvSpPr/>
          <p:nvPr/>
        </p:nvSpPr>
        <p:spPr>
          <a:xfrm>
            <a:off x="6172200" y="1572768"/>
            <a:ext cx="2423160" cy="201168"/>
          </a:xfrm>
          <a:prstGeom prst="rect">
            <a:avLst/>
          </a:prstGeom>
          <a:noFill/>
          <a:ln/>
        </p:spPr>
        <p:txBody>
          <a:bodyPr wrap="square" lIns="0" tIns="0" rIns="0" bIns="0" rtlCol="0" anchor="ctr"/>
          <a:lstStyle/>
          <a:p>
            <a:pPr marL="0" indent="0">
              <a:buNone/>
            </a:pPr>
            <a:r>
              <a:rPr lang="en-US" sz="900" dirty="0">
                <a:solidFill>
                  <a:srgbClr val="AACCDD"/>
                </a:solidFill>
              </a:rPr>
              <a:t>Poland 🇵🇱</a:t>
            </a:r>
            <a:endParaRPr lang="en-US" sz="900" dirty="0"/>
          </a:p>
        </p:txBody>
      </p:sp>
      <p:sp>
        <p:nvSpPr>
          <p:cNvPr id="26" name="Text 24"/>
          <p:cNvSpPr/>
          <p:nvPr/>
        </p:nvSpPr>
        <p:spPr>
          <a:xfrm>
            <a:off x="6172200" y="1783080"/>
            <a:ext cx="2423160" cy="310896"/>
          </a:xfrm>
          <a:prstGeom prst="rect">
            <a:avLst/>
          </a:prstGeom>
          <a:noFill/>
          <a:ln/>
        </p:spPr>
        <p:txBody>
          <a:bodyPr wrap="square" lIns="0" tIns="0" rIns="0" bIns="0" rtlCol="0" anchor="ctr"/>
          <a:lstStyle/>
          <a:p>
            <a:pPr marL="0" indent="0">
              <a:buNone/>
            </a:pPr>
            <a:r>
              <a:rPr lang="en-US" sz="850" dirty="0">
                <a:solidFill>
                  <a:srgbClr val="CCDDE8"/>
                </a:solidFill>
              </a:rPr>
              <a:t>Independent Entity (not subsidiary)</a:t>
            </a:r>
            <a:endParaRPr lang="en-US" sz="850" dirty="0"/>
          </a:p>
        </p:txBody>
      </p:sp>
      <p:sp>
        <p:nvSpPr>
          <p:cNvPr id="27" name="Text 25"/>
          <p:cNvSpPr/>
          <p:nvPr/>
        </p:nvSpPr>
        <p:spPr>
          <a:xfrm>
            <a:off x="6172200" y="2103120"/>
            <a:ext cx="2423160" cy="310896"/>
          </a:xfrm>
          <a:prstGeom prst="rect">
            <a:avLst/>
          </a:prstGeom>
          <a:noFill/>
          <a:ln/>
        </p:spPr>
        <p:txBody>
          <a:bodyPr wrap="square" lIns="0" tIns="0" rIns="0" bIns="0" rtlCol="0" anchor="ctr"/>
          <a:lstStyle/>
          <a:p>
            <a:pPr marL="0" indent="0">
              <a:buNone/>
            </a:pPr>
            <a:r>
              <a:rPr lang="en-US" sz="800" i="1" dirty="0">
                <a:solidFill>
                  <a:srgbClr val="88CCBB"/>
                </a:solidFill>
              </a:rPr>
              <a:t>Small machinery production - local steel</a:t>
            </a:r>
            <a:endParaRPr lang="en-US" sz="800" dirty="0"/>
          </a:p>
        </p:txBody>
      </p:sp>
      <p:sp>
        <p:nvSpPr>
          <p:cNvPr id="28" name="Text 26"/>
          <p:cNvSpPr/>
          <p:nvPr/>
        </p:nvSpPr>
        <p:spPr>
          <a:xfrm>
            <a:off x="6172200" y="2423160"/>
            <a:ext cx="2423160" cy="201168"/>
          </a:xfrm>
          <a:prstGeom prst="rect">
            <a:avLst/>
          </a:prstGeom>
          <a:noFill/>
          <a:ln/>
        </p:spPr>
        <p:txBody>
          <a:bodyPr wrap="square" lIns="0" tIns="0" rIns="0" bIns="0" rtlCol="0" anchor="ctr"/>
          <a:lstStyle/>
          <a:p>
            <a:pPr marL="0" indent="0">
              <a:buNone/>
            </a:pPr>
            <a:r>
              <a:rPr lang="en-US" sz="850" b="1" dirty="0">
                <a:solidFill>
                  <a:srgbClr val="AAFFCC"/>
                </a:solidFill>
              </a:rPr>
              <a:t>VAT Registered (PL)</a:t>
            </a:r>
            <a:endParaRPr lang="en-US" sz="850" dirty="0"/>
          </a:p>
        </p:txBody>
      </p:sp>
      <p:sp>
        <p:nvSpPr>
          <p:cNvPr id="31" name="Text 29"/>
          <p:cNvSpPr/>
          <p:nvPr/>
        </p:nvSpPr>
        <p:spPr>
          <a:xfrm>
            <a:off x="411480" y="2724912"/>
            <a:ext cx="5852160" cy="228600"/>
          </a:xfrm>
          <a:prstGeom prst="rect">
            <a:avLst/>
          </a:prstGeom>
          <a:noFill/>
          <a:ln/>
        </p:spPr>
        <p:txBody>
          <a:bodyPr wrap="square" lIns="0" tIns="0" rIns="0" bIns="0" rtlCol="0" anchor="ctr"/>
          <a:lstStyle/>
          <a:p>
            <a:pPr marL="0" indent="0">
              <a:buNone/>
            </a:pPr>
            <a:r>
              <a:rPr lang="en-US" sz="800" i="1" dirty="0">
                <a:solidFill>
                  <a:srgbClr val="64748B"/>
                </a:solidFill>
              </a:rPr>
              <a:t>§ 2 Abs. 2 Nr. 2 UStG: no VAT fiscal unity (Organschaft) formed between DE and ESP</a:t>
            </a:r>
            <a:endParaRPr lang="en-US" sz="800" dirty="0"/>
          </a:p>
        </p:txBody>
      </p:sp>
      <p:sp>
        <p:nvSpPr>
          <p:cNvPr id="32" name="Text 30"/>
          <p:cNvSpPr/>
          <p:nvPr/>
        </p:nvSpPr>
        <p:spPr>
          <a:xfrm>
            <a:off x="411480" y="3017520"/>
            <a:ext cx="4572000" cy="182880"/>
          </a:xfrm>
          <a:prstGeom prst="rect">
            <a:avLst/>
          </a:prstGeom>
          <a:noFill/>
          <a:ln/>
        </p:spPr>
        <p:txBody>
          <a:bodyPr wrap="square" lIns="0" tIns="0" rIns="0" bIns="0" rtlCol="0" anchor="ctr"/>
          <a:lstStyle/>
          <a:p>
            <a:pPr marL="0" indent="0">
              <a:buNone/>
            </a:pPr>
            <a:r>
              <a:rPr lang="en-US" sz="750" b="1" kern="0" spc="200" dirty="0">
                <a:solidFill>
                  <a:srgbClr val="006B6B"/>
                </a:solidFill>
              </a:rPr>
              <a:t>PRODUCT &amp; MARKET OVERVIEW</a:t>
            </a:r>
            <a:endParaRPr lang="en-US" sz="750" dirty="0"/>
          </a:p>
        </p:txBody>
      </p:sp>
      <p:sp>
        <p:nvSpPr>
          <p:cNvPr id="33" name="Shape 31"/>
          <p:cNvSpPr/>
          <p:nvPr/>
        </p:nvSpPr>
        <p:spPr>
          <a:xfrm>
            <a:off x="411480" y="3246120"/>
            <a:ext cx="8503920" cy="420624"/>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4" name="Shape 32"/>
          <p:cNvSpPr/>
          <p:nvPr/>
        </p:nvSpPr>
        <p:spPr>
          <a:xfrm>
            <a:off x="411480" y="3246120"/>
            <a:ext cx="36576" cy="420624"/>
          </a:xfrm>
          <a:prstGeom prst="rect">
            <a:avLst/>
          </a:prstGeom>
          <a:solidFill>
            <a:srgbClr val="0A1628"/>
          </a:solidFill>
          <a:ln w="12700">
            <a:solidFill>
              <a:srgbClr val="0A1628"/>
            </a:solidFill>
            <a:prstDash val="solid"/>
          </a:ln>
        </p:spPr>
        <p:txBody>
          <a:bodyPr/>
          <a:lstStyle/>
          <a:p>
            <a:endParaRPr lang="en-DE"/>
          </a:p>
        </p:txBody>
      </p:sp>
      <p:sp>
        <p:nvSpPr>
          <p:cNvPr id="35" name="Text 33"/>
          <p:cNvSpPr/>
          <p:nvPr/>
        </p:nvSpPr>
        <p:spPr>
          <a:xfrm>
            <a:off x="512064" y="3300984"/>
            <a:ext cx="2103120" cy="310896"/>
          </a:xfrm>
          <a:prstGeom prst="rect">
            <a:avLst/>
          </a:prstGeom>
          <a:noFill/>
          <a:ln/>
        </p:spPr>
        <p:txBody>
          <a:bodyPr wrap="square" lIns="0" tIns="0" rIns="0" bIns="0" rtlCol="0" anchor="ctr"/>
          <a:lstStyle/>
          <a:p>
            <a:pPr marL="0" indent="0">
              <a:buNone/>
            </a:pPr>
            <a:r>
              <a:rPr lang="en-US" sz="850" b="1" dirty="0">
                <a:solidFill>
                  <a:srgbClr val="0A1628"/>
                </a:solidFill>
              </a:rPr>
              <a:t>Strabam AG (DE)</a:t>
            </a:r>
            <a:endParaRPr lang="en-US" sz="850" dirty="0"/>
          </a:p>
        </p:txBody>
      </p:sp>
      <p:sp>
        <p:nvSpPr>
          <p:cNvPr id="36" name="Text 34"/>
          <p:cNvSpPr/>
          <p:nvPr/>
        </p:nvSpPr>
        <p:spPr>
          <a:xfrm>
            <a:off x="2697480" y="3300984"/>
            <a:ext cx="3657600" cy="310896"/>
          </a:xfrm>
          <a:prstGeom prst="rect">
            <a:avLst/>
          </a:prstGeom>
          <a:noFill/>
          <a:ln/>
        </p:spPr>
        <p:txBody>
          <a:bodyPr wrap="square" lIns="0" tIns="0" rIns="0" bIns="0" rtlCol="0" anchor="ctr"/>
          <a:lstStyle/>
          <a:p>
            <a:pPr marL="0" indent="0">
              <a:buNone/>
            </a:pPr>
            <a:r>
              <a:rPr lang="en-US" sz="850" dirty="0">
                <a:solidFill>
                  <a:srgbClr val="1B2E4B"/>
                </a:solidFill>
              </a:rPr>
              <a:t>Import of raw materials, assembly, Berlin warehouse dispatch</a:t>
            </a:r>
            <a:endParaRPr lang="en-US" sz="850" dirty="0"/>
          </a:p>
        </p:txBody>
      </p:sp>
      <p:sp>
        <p:nvSpPr>
          <p:cNvPr id="37" name="Text 35"/>
          <p:cNvSpPr/>
          <p:nvPr/>
        </p:nvSpPr>
        <p:spPr>
          <a:xfrm>
            <a:off x="6446520" y="3300984"/>
            <a:ext cx="2377440" cy="310896"/>
          </a:xfrm>
          <a:prstGeom prst="rect">
            <a:avLst/>
          </a:prstGeom>
          <a:noFill/>
          <a:ln/>
        </p:spPr>
        <p:txBody>
          <a:bodyPr wrap="square" lIns="0" tIns="0" rIns="0" bIns="0" rtlCol="0" anchor="ctr"/>
          <a:lstStyle/>
          <a:p>
            <a:pPr marL="0" indent="0">
              <a:buNone/>
            </a:pPr>
            <a:r>
              <a:rPr lang="en-US" sz="850" dirty="0">
                <a:solidFill>
                  <a:srgbClr val="006B6B"/>
                </a:solidFill>
              </a:rPr>
              <a:t>▸ German B2B customers only</a:t>
            </a:r>
            <a:endParaRPr lang="en-US" sz="850" dirty="0"/>
          </a:p>
        </p:txBody>
      </p:sp>
      <p:sp>
        <p:nvSpPr>
          <p:cNvPr id="38" name="Shape 36"/>
          <p:cNvSpPr/>
          <p:nvPr/>
        </p:nvSpPr>
        <p:spPr>
          <a:xfrm>
            <a:off x="411480" y="3721608"/>
            <a:ext cx="8503920" cy="420624"/>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9" name="Shape 37"/>
          <p:cNvSpPr/>
          <p:nvPr/>
        </p:nvSpPr>
        <p:spPr>
          <a:xfrm>
            <a:off x="411480" y="3721608"/>
            <a:ext cx="36576" cy="420624"/>
          </a:xfrm>
          <a:prstGeom prst="rect">
            <a:avLst/>
          </a:prstGeom>
          <a:solidFill>
            <a:srgbClr val="2C4A6E"/>
          </a:solidFill>
          <a:ln w="12700">
            <a:solidFill>
              <a:srgbClr val="2C4A6E"/>
            </a:solidFill>
            <a:prstDash val="solid"/>
          </a:ln>
        </p:spPr>
        <p:txBody>
          <a:bodyPr/>
          <a:lstStyle/>
          <a:p>
            <a:endParaRPr lang="en-DE"/>
          </a:p>
        </p:txBody>
      </p:sp>
      <p:sp>
        <p:nvSpPr>
          <p:cNvPr id="40" name="Text 38"/>
          <p:cNvSpPr/>
          <p:nvPr/>
        </p:nvSpPr>
        <p:spPr>
          <a:xfrm>
            <a:off x="512064" y="3776472"/>
            <a:ext cx="2103120" cy="310896"/>
          </a:xfrm>
          <a:prstGeom prst="rect">
            <a:avLst/>
          </a:prstGeom>
          <a:noFill/>
          <a:ln/>
        </p:spPr>
        <p:txBody>
          <a:bodyPr wrap="square" lIns="0" tIns="0" rIns="0" bIns="0" rtlCol="0" anchor="ctr"/>
          <a:lstStyle/>
          <a:p>
            <a:pPr marL="0" indent="0">
              <a:buNone/>
            </a:pPr>
            <a:r>
              <a:rPr lang="en-US" sz="850" b="1" dirty="0">
                <a:solidFill>
                  <a:srgbClr val="2C4A6E"/>
                </a:solidFill>
              </a:rPr>
              <a:t>Spanish Subsidiary</a:t>
            </a:r>
            <a:endParaRPr lang="en-US" sz="850" dirty="0"/>
          </a:p>
        </p:txBody>
      </p:sp>
      <p:sp>
        <p:nvSpPr>
          <p:cNvPr id="41" name="Text 39"/>
          <p:cNvSpPr/>
          <p:nvPr/>
        </p:nvSpPr>
        <p:spPr>
          <a:xfrm>
            <a:off x="2697480" y="3776472"/>
            <a:ext cx="3657600" cy="310896"/>
          </a:xfrm>
          <a:prstGeom prst="rect">
            <a:avLst/>
          </a:prstGeom>
          <a:noFill/>
          <a:ln/>
        </p:spPr>
        <p:txBody>
          <a:bodyPr wrap="square" lIns="0" tIns="0" rIns="0" bIns="0" rtlCol="0" anchor="ctr"/>
          <a:lstStyle/>
          <a:p>
            <a:pPr marL="0" indent="0">
              <a:buNone/>
            </a:pPr>
            <a:r>
              <a:rPr lang="en-US" sz="850" dirty="0">
                <a:solidFill>
                  <a:srgbClr val="1B2E4B"/>
                </a:solidFill>
              </a:rPr>
              <a:t>Large machinery production (from €0.5M - no upper limit)</a:t>
            </a:r>
            <a:endParaRPr lang="en-US" sz="850" dirty="0"/>
          </a:p>
        </p:txBody>
      </p:sp>
      <p:sp>
        <p:nvSpPr>
          <p:cNvPr id="42" name="Text 40"/>
          <p:cNvSpPr/>
          <p:nvPr/>
        </p:nvSpPr>
        <p:spPr>
          <a:xfrm>
            <a:off x="6446520" y="3776472"/>
            <a:ext cx="2377440" cy="310896"/>
          </a:xfrm>
          <a:prstGeom prst="rect">
            <a:avLst/>
          </a:prstGeom>
          <a:noFill/>
          <a:ln/>
        </p:spPr>
        <p:txBody>
          <a:bodyPr wrap="square" lIns="0" tIns="0" rIns="0" bIns="0" rtlCol="0" anchor="ctr"/>
          <a:lstStyle/>
          <a:p>
            <a:pPr marL="0" indent="0">
              <a:buNone/>
            </a:pPr>
            <a:r>
              <a:rPr lang="en-US" sz="850" dirty="0">
                <a:solidFill>
                  <a:srgbClr val="006B6B"/>
                </a:solidFill>
              </a:rPr>
              <a:t>▸ Dispatched to DE → German B2B customers</a:t>
            </a:r>
            <a:endParaRPr lang="en-US" sz="850" dirty="0"/>
          </a:p>
        </p:txBody>
      </p:sp>
      <p:sp>
        <p:nvSpPr>
          <p:cNvPr id="43" name="Shape 41"/>
          <p:cNvSpPr/>
          <p:nvPr/>
        </p:nvSpPr>
        <p:spPr>
          <a:xfrm>
            <a:off x="411480" y="4197096"/>
            <a:ext cx="8503920" cy="420624"/>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4" name="Shape 42"/>
          <p:cNvSpPr/>
          <p:nvPr/>
        </p:nvSpPr>
        <p:spPr>
          <a:xfrm>
            <a:off x="411480" y="4197096"/>
            <a:ext cx="36576" cy="420624"/>
          </a:xfrm>
          <a:prstGeom prst="rect">
            <a:avLst/>
          </a:prstGeom>
          <a:solidFill>
            <a:srgbClr val="006B6B"/>
          </a:solidFill>
          <a:ln w="12700">
            <a:solidFill>
              <a:srgbClr val="006B6B"/>
            </a:solidFill>
            <a:prstDash val="solid"/>
          </a:ln>
        </p:spPr>
        <p:txBody>
          <a:bodyPr/>
          <a:lstStyle/>
          <a:p>
            <a:endParaRPr lang="en-DE"/>
          </a:p>
        </p:txBody>
      </p:sp>
      <p:sp>
        <p:nvSpPr>
          <p:cNvPr id="45" name="Text 43"/>
          <p:cNvSpPr/>
          <p:nvPr/>
        </p:nvSpPr>
        <p:spPr>
          <a:xfrm>
            <a:off x="512064" y="4251960"/>
            <a:ext cx="2103120" cy="310896"/>
          </a:xfrm>
          <a:prstGeom prst="rect">
            <a:avLst/>
          </a:prstGeom>
          <a:noFill/>
          <a:ln/>
        </p:spPr>
        <p:txBody>
          <a:bodyPr wrap="square" lIns="0" tIns="0" rIns="0" bIns="0" rtlCol="0" anchor="ctr"/>
          <a:lstStyle/>
          <a:p>
            <a:pPr marL="0" indent="0">
              <a:buNone/>
            </a:pPr>
            <a:r>
              <a:rPr lang="en-US" sz="850" b="1" dirty="0">
                <a:solidFill>
                  <a:srgbClr val="006B6B"/>
                </a:solidFill>
              </a:rPr>
              <a:t>Strabam S.p.l (PL)</a:t>
            </a:r>
            <a:endParaRPr lang="en-US" sz="850" dirty="0"/>
          </a:p>
        </p:txBody>
      </p:sp>
      <p:sp>
        <p:nvSpPr>
          <p:cNvPr id="46" name="Text 44"/>
          <p:cNvSpPr/>
          <p:nvPr/>
        </p:nvSpPr>
        <p:spPr>
          <a:xfrm>
            <a:off x="2697480" y="4251960"/>
            <a:ext cx="3657600" cy="310896"/>
          </a:xfrm>
          <a:prstGeom prst="rect">
            <a:avLst/>
          </a:prstGeom>
          <a:noFill/>
          <a:ln/>
        </p:spPr>
        <p:txBody>
          <a:bodyPr wrap="square" lIns="0" tIns="0" rIns="0" bIns="0" rtlCol="0" anchor="ctr"/>
          <a:lstStyle/>
          <a:p>
            <a:pPr marL="0" indent="0">
              <a:buNone/>
            </a:pPr>
            <a:r>
              <a:rPr lang="en-US" sz="850" dirty="0">
                <a:solidFill>
                  <a:srgbClr val="1B2E4B"/>
                </a:solidFill>
              </a:rPr>
              <a:t>Small machinery (locally sourced steel)</a:t>
            </a:r>
            <a:endParaRPr lang="en-US" sz="850" dirty="0"/>
          </a:p>
        </p:txBody>
      </p:sp>
      <p:sp>
        <p:nvSpPr>
          <p:cNvPr id="47" name="Text 45"/>
          <p:cNvSpPr/>
          <p:nvPr/>
        </p:nvSpPr>
        <p:spPr>
          <a:xfrm>
            <a:off x="6446520" y="4251960"/>
            <a:ext cx="2377440" cy="310896"/>
          </a:xfrm>
          <a:prstGeom prst="rect">
            <a:avLst/>
          </a:prstGeom>
          <a:noFill/>
          <a:ln/>
        </p:spPr>
        <p:txBody>
          <a:bodyPr wrap="square" lIns="0" tIns="0" rIns="0" bIns="0" rtlCol="0" anchor="ctr"/>
          <a:lstStyle/>
          <a:p>
            <a:pPr marL="0" indent="0">
              <a:buNone/>
            </a:pPr>
            <a:r>
              <a:rPr lang="en-US" sz="850" dirty="0">
                <a:solidFill>
                  <a:srgbClr val="006B6B"/>
                </a:solidFill>
              </a:rPr>
              <a:t>▸ All EU except Germany and Poland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4" name="Text 2"/>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5" name="Text 3"/>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BUSINESS MODEL</a:t>
            </a:r>
            <a:endParaRPr lang="en-US" sz="7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6 / 23</a:t>
            </a:r>
            <a:endParaRPr lang="en-US" sz="700" dirty="0"/>
          </a:p>
        </p:txBody>
      </p:sp>
      <p:sp>
        <p:nvSpPr>
          <p:cNvPr id="7" name="Text 5"/>
          <p:cNvSpPr/>
          <p:nvPr/>
        </p:nvSpPr>
        <p:spPr>
          <a:xfrm>
            <a:off x="411480" y="137160"/>
            <a:ext cx="6400800" cy="201168"/>
          </a:xfrm>
          <a:prstGeom prst="rect">
            <a:avLst/>
          </a:prstGeom>
          <a:noFill/>
          <a:ln/>
        </p:spPr>
        <p:txBody>
          <a:bodyPr wrap="square" lIns="0" tIns="0" rIns="0" bIns="0" rtlCol="0" anchor="ctr"/>
          <a:lstStyle/>
          <a:p>
            <a:pPr marL="0" indent="0">
              <a:buNone/>
            </a:pPr>
            <a:r>
              <a:rPr lang="en-US" sz="800" b="1" kern="0" spc="200" dirty="0">
                <a:solidFill>
                  <a:srgbClr val="006B6B"/>
                </a:solidFill>
              </a:rPr>
              <a:t>02 | BUSINESS MODEL</a:t>
            </a:r>
            <a:endParaRPr lang="en-US" sz="800" dirty="0"/>
          </a:p>
        </p:txBody>
      </p:sp>
      <p:sp>
        <p:nvSpPr>
          <p:cNvPr id="8" name="Text 6"/>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End-to-End Supply Chain Flow</a:t>
            </a:r>
            <a:endParaRPr lang="en-US" sz="2100" dirty="0"/>
          </a:p>
        </p:txBody>
      </p:sp>
      <p:sp>
        <p:nvSpPr>
          <p:cNvPr id="9" name="Text 7"/>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Visual overview of both product flows with applicable VAT treatments</a:t>
            </a:r>
            <a:endParaRPr lang="en-US" sz="950" dirty="0"/>
          </a:p>
        </p:txBody>
      </p:sp>
      <p:sp>
        <p:nvSpPr>
          <p:cNvPr id="10" name="Shape 8"/>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1" name="Text 9"/>
          <p:cNvSpPr/>
          <p:nvPr/>
        </p:nvSpPr>
        <p:spPr>
          <a:xfrm>
            <a:off x="411480" y="1207008"/>
            <a:ext cx="7315200" cy="182880"/>
          </a:xfrm>
          <a:prstGeom prst="rect">
            <a:avLst/>
          </a:prstGeom>
          <a:noFill/>
          <a:ln/>
        </p:spPr>
        <p:txBody>
          <a:bodyPr wrap="square" lIns="0" tIns="0" rIns="0" bIns="0" rtlCol="0" anchor="ctr"/>
          <a:lstStyle/>
          <a:p>
            <a:pPr marL="0" indent="0">
              <a:buNone/>
            </a:pPr>
            <a:r>
              <a:rPr lang="en-US" sz="750" b="1" kern="0" spc="150" dirty="0">
                <a:solidFill>
                  <a:srgbClr val="0A1628"/>
                </a:solidFill>
              </a:rPr>
              <a:t>LARGE MACHINERY FLOW  (from €0.5M - no upper limit)</a:t>
            </a:r>
            <a:endParaRPr lang="en-US" sz="750" dirty="0"/>
          </a:p>
        </p:txBody>
      </p:sp>
      <p:sp>
        <p:nvSpPr>
          <p:cNvPr id="12" name="Shape 10"/>
          <p:cNvSpPr/>
          <p:nvPr/>
        </p:nvSpPr>
        <p:spPr>
          <a:xfrm>
            <a:off x="411480" y="1679436"/>
            <a:ext cx="1088136" cy="694944"/>
          </a:xfrm>
          <a:prstGeom prst="rect">
            <a:avLst/>
          </a:prstGeom>
          <a:solidFill>
            <a:srgbClr val="64748B"/>
          </a:solidFill>
          <a:ln w="12700">
            <a:solidFill>
              <a:srgbClr val="64748B"/>
            </a:solidFill>
            <a:prstDash val="solid"/>
          </a:ln>
          <a:effectLst>
            <a:outerShdw blurRad="50800" dist="25400" dir="8100000" algn="bl" rotWithShape="0">
              <a:srgbClr val="000000">
                <a:alpha val="8000"/>
              </a:srgbClr>
            </a:outerShdw>
          </a:effectLst>
        </p:spPr>
        <p:txBody>
          <a:bodyPr/>
          <a:lstStyle/>
          <a:p>
            <a:endParaRPr lang="en-DE"/>
          </a:p>
        </p:txBody>
      </p:sp>
      <p:sp>
        <p:nvSpPr>
          <p:cNvPr id="13" name="Text 11"/>
          <p:cNvSpPr/>
          <p:nvPr/>
        </p:nvSpPr>
        <p:spPr>
          <a:xfrm>
            <a:off x="167640" y="1717535"/>
            <a:ext cx="1572768" cy="310896"/>
          </a:xfrm>
          <a:prstGeom prst="rect">
            <a:avLst/>
          </a:prstGeom>
          <a:noFill/>
          <a:ln/>
        </p:spPr>
        <p:txBody>
          <a:bodyPr wrap="square" lIns="0" tIns="0" rIns="0" bIns="0" rtlCol="0" anchor="ctr"/>
          <a:lstStyle/>
          <a:p>
            <a:pPr marL="0" indent="0" algn="ctr">
              <a:buNone/>
            </a:pPr>
            <a:r>
              <a:rPr lang="en-US" sz="850" b="1" dirty="0">
                <a:solidFill>
                  <a:srgbClr val="FFFFFF"/>
                </a:solidFill>
              </a:rPr>
              <a:t>China</a:t>
            </a:r>
            <a:endParaRPr lang="en-US" sz="850" dirty="0"/>
          </a:p>
        </p:txBody>
      </p:sp>
      <p:sp>
        <p:nvSpPr>
          <p:cNvPr id="14" name="Text 12"/>
          <p:cNvSpPr/>
          <p:nvPr/>
        </p:nvSpPr>
        <p:spPr>
          <a:xfrm>
            <a:off x="167640" y="1935468"/>
            <a:ext cx="1572768" cy="457200"/>
          </a:xfrm>
          <a:prstGeom prst="rect">
            <a:avLst/>
          </a:prstGeom>
          <a:noFill/>
          <a:ln/>
        </p:spPr>
        <p:txBody>
          <a:bodyPr wrap="square" lIns="0" tIns="0" rIns="0" bIns="0" rtlCol="0" anchor="ctr"/>
          <a:lstStyle/>
          <a:p>
            <a:pPr marL="0" indent="0" algn="ctr">
              <a:buNone/>
            </a:pPr>
            <a:r>
              <a:rPr lang="en-US" sz="720" dirty="0">
                <a:solidFill>
                  <a:srgbClr val="CCDDE8"/>
                </a:solidFill>
              </a:rPr>
              <a:t>Steel Supplier</a:t>
            </a:r>
            <a:endParaRPr lang="en-US" sz="720" dirty="0"/>
          </a:p>
          <a:p>
            <a:pPr marL="0" indent="0" algn="ctr">
              <a:buNone/>
            </a:pPr>
            <a:r>
              <a:rPr lang="en-US" sz="720" dirty="0">
                <a:solidFill>
                  <a:srgbClr val="CCDDE8"/>
                </a:solidFill>
              </a:rPr>
              <a:t>(Third Country)</a:t>
            </a:r>
            <a:endParaRPr lang="en-US" sz="720" dirty="0"/>
          </a:p>
        </p:txBody>
      </p:sp>
      <p:sp>
        <p:nvSpPr>
          <p:cNvPr id="15" name="Shape 13"/>
          <p:cNvSpPr/>
          <p:nvPr/>
        </p:nvSpPr>
        <p:spPr>
          <a:xfrm>
            <a:off x="1507988" y="2100060"/>
            <a:ext cx="611145" cy="0"/>
          </a:xfrm>
          <a:prstGeom prst="line">
            <a:avLst/>
          </a:prstGeom>
          <a:noFill/>
          <a:ln w="19050">
            <a:solidFill>
              <a:srgbClr val="006B6B"/>
            </a:solidFill>
            <a:prstDash val="solid"/>
          </a:ln>
        </p:spPr>
        <p:txBody>
          <a:bodyPr/>
          <a:lstStyle/>
          <a:p>
            <a:endParaRPr lang="en-DE"/>
          </a:p>
        </p:txBody>
      </p:sp>
      <p:sp>
        <p:nvSpPr>
          <p:cNvPr id="16" name="Text 14"/>
          <p:cNvSpPr/>
          <p:nvPr/>
        </p:nvSpPr>
        <p:spPr>
          <a:xfrm>
            <a:off x="1417320" y="1725156"/>
            <a:ext cx="749808" cy="457200"/>
          </a:xfrm>
          <a:prstGeom prst="rect">
            <a:avLst/>
          </a:prstGeom>
          <a:noFill/>
          <a:ln/>
        </p:spPr>
        <p:txBody>
          <a:bodyPr wrap="square" lIns="0" tIns="0" rIns="0" bIns="0" rtlCol="0" anchor="ctr"/>
          <a:lstStyle/>
          <a:p>
            <a:pPr marL="0" indent="0" algn="ctr">
              <a:buNone/>
            </a:pPr>
            <a:r>
              <a:rPr lang="en-US" sz="650" dirty="0">
                <a:solidFill>
                  <a:srgbClr val="006B6B"/>
                </a:solidFill>
              </a:rPr>
              <a:t>Import VAT</a:t>
            </a:r>
            <a:endParaRPr lang="en-US" sz="650" dirty="0"/>
          </a:p>
          <a:p>
            <a:pPr marL="0" indent="0" algn="ctr">
              <a:buNone/>
            </a:pPr>
            <a:r>
              <a:rPr lang="en-US" sz="650" dirty="0">
                <a:solidFill>
                  <a:srgbClr val="006B6B"/>
                </a:solidFill>
              </a:rPr>
              <a:t>§ 21 UStG</a:t>
            </a:r>
            <a:endParaRPr lang="en-US" sz="650" dirty="0"/>
          </a:p>
        </p:txBody>
      </p:sp>
      <p:sp>
        <p:nvSpPr>
          <p:cNvPr id="17" name="Shape 15"/>
          <p:cNvSpPr/>
          <p:nvPr/>
        </p:nvSpPr>
        <p:spPr>
          <a:xfrm>
            <a:off x="2130552" y="1679436"/>
            <a:ext cx="1088136" cy="694944"/>
          </a:xfrm>
          <a:prstGeom prst="rect">
            <a:avLst/>
          </a:prstGeom>
          <a:solidFill>
            <a:srgbClr val="0A1628"/>
          </a:solidFill>
          <a:ln w="12700">
            <a:solidFill>
              <a:srgbClr val="0A1628"/>
            </a:solidFill>
            <a:prstDash val="solid"/>
          </a:ln>
          <a:effectLst>
            <a:outerShdw blurRad="50800" dist="25400" dir="8100000" algn="bl" rotWithShape="0">
              <a:srgbClr val="000000">
                <a:alpha val="8000"/>
              </a:srgbClr>
            </a:outerShdw>
          </a:effectLst>
        </p:spPr>
        <p:txBody>
          <a:bodyPr/>
          <a:lstStyle/>
          <a:p>
            <a:endParaRPr lang="en-DE"/>
          </a:p>
        </p:txBody>
      </p:sp>
      <p:sp>
        <p:nvSpPr>
          <p:cNvPr id="18" name="Text 16"/>
          <p:cNvSpPr/>
          <p:nvPr/>
        </p:nvSpPr>
        <p:spPr>
          <a:xfrm>
            <a:off x="1886712" y="1717535"/>
            <a:ext cx="1572768" cy="310896"/>
          </a:xfrm>
          <a:prstGeom prst="rect">
            <a:avLst/>
          </a:prstGeom>
          <a:noFill/>
          <a:ln/>
        </p:spPr>
        <p:txBody>
          <a:bodyPr wrap="square" lIns="0" tIns="0" rIns="0" bIns="0" rtlCol="0" anchor="ctr"/>
          <a:lstStyle/>
          <a:p>
            <a:pPr marL="0" indent="0" algn="ctr">
              <a:buNone/>
            </a:pPr>
            <a:r>
              <a:rPr lang="en-US" sz="850" b="1" dirty="0">
                <a:solidFill>
                  <a:srgbClr val="FFFFFF"/>
                </a:solidFill>
              </a:rPr>
              <a:t>Strabam AG</a:t>
            </a:r>
            <a:endParaRPr lang="en-US" sz="850" dirty="0"/>
          </a:p>
          <a:p>
            <a:pPr marL="0" indent="0" algn="ctr">
              <a:buNone/>
            </a:pPr>
            <a:r>
              <a:rPr lang="en-US" sz="850" b="1" dirty="0">
                <a:solidFill>
                  <a:srgbClr val="FFFFFF"/>
                </a:solidFill>
              </a:rPr>
              <a:t>Germany</a:t>
            </a:r>
            <a:endParaRPr lang="en-US" sz="850" dirty="0"/>
          </a:p>
        </p:txBody>
      </p:sp>
      <p:sp>
        <p:nvSpPr>
          <p:cNvPr id="19" name="Text 17"/>
          <p:cNvSpPr/>
          <p:nvPr/>
        </p:nvSpPr>
        <p:spPr>
          <a:xfrm>
            <a:off x="1886712" y="1935468"/>
            <a:ext cx="1572768" cy="457200"/>
          </a:xfrm>
          <a:prstGeom prst="rect">
            <a:avLst/>
          </a:prstGeom>
          <a:noFill/>
          <a:ln/>
        </p:spPr>
        <p:txBody>
          <a:bodyPr wrap="square" lIns="0" tIns="0" rIns="0" bIns="0" rtlCol="0" anchor="ctr"/>
          <a:lstStyle/>
          <a:p>
            <a:pPr marL="0" indent="0" algn="ctr">
              <a:buNone/>
            </a:pPr>
            <a:r>
              <a:rPr lang="en-US" sz="720" dirty="0">
                <a:solidFill>
                  <a:srgbClr val="CCDDE8"/>
                </a:solidFill>
              </a:rPr>
              <a:t>Import + Assembly</a:t>
            </a:r>
            <a:endParaRPr lang="en-US" sz="720" dirty="0"/>
          </a:p>
          <a:p>
            <a:pPr marL="0" indent="0" algn="ctr">
              <a:buNone/>
            </a:pPr>
            <a:r>
              <a:rPr lang="en-US" sz="720" dirty="0">
                <a:solidFill>
                  <a:srgbClr val="CCDDE8"/>
                </a:solidFill>
              </a:rPr>
              <a:t>Berlin Warehouse</a:t>
            </a:r>
            <a:endParaRPr lang="en-US" sz="720" dirty="0"/>
          </a:p>
        </p:txBody>
      </p:sp>
      <p:sp>
        <p:nvSpPr>
          <p:cNvPr id="20" name="Shape 18"/>
          <p:cNvSpPr/>
          <p:nvPr/>
        </p:nvSpPr>
        <p:spPr>
          <a:xfrm>
            <a:off x="3224975" y="2100060"/>
            <a:ext cx="813435" cy="0"/>
          </a:xfrm>
          <a:prstGeom prst="line">
            <a:avLst/>
          </a:prstGeom>
          <a:noFill/>
          <a:ln w="19050">
            <a:solidFill>
              <a:srgbClr val="006B6B"/>
            </a:solidFill>
            <a:prstDash val="solid"/>
          </a:ln>
        </p:spPr>
        <p:txBody>
          <a:bodyPr/>
          <a:lstStyle/>
          <a:p>
            <a:endParaRPr lang="en-DE"/>
          </a:p>
        </p:txBody>
      </p:sp>
      <p:sp>
        <p:nvSpPr>
          <p:cNvPr id="21" name="Text 19"/>
          <p:cNvSpPr/>
          <p:nvPr/>
        </p:nvSpPr>
        <p:spPr>
          <a:xfrm>
            <a:off x="3235452" y="1725156"/>
            <a:ext cx="749808" cy="457200"/>
          </a:xfrm>
          <a:prstGeom prst="rect">
            <a:avLst/>
          </a:prstGeom>
          <a:noFill/>
          <a:ln/>
        </p:spPr>
        <p:txBody>
          <a:bodyPr wrap="square" lIns="0" tIns="0" rIns="0" bIns="0" rtlCol="0" anchor="ctr"/>
          <a:lstStyle/>
          <a:p>
            <a:pPr marL="0" indent="0" algn="ctr">
              <a:buNone/>
            </a:pPr>
            <a:r>
              <a:rPr lang="en-US" sz="650" dirty="0">
                <a:solidFill>
                  <a:srgbClr val="006B6B"/>
                </a:solidFill>
              </a:rPr>
              <a:t>ICS 0%</a:t>
            </a:r>
            <a:endParaRPr lang="en-US" sz="650" dirty="0"/>
          </a:p>
          <a:p>
            <a:pPr marL="0" indent="0" algn="ctr">
              <a:buNone/>
            </a:pPr>
            <a:r>
              <a:rPr lang="en-US" sz="650" dirty="0">
                <a:solidFill>
                  <a:srgbClr val="006B6B"/>
                </a:solidFill>
              </a:rPr>
              <a:t>§ 6a UStG (DE→ESP)</a:t>
            </a:r>
            <a:endParaRPr lang="en-US" sz="650" dirty="0"/>
          </a:p>
        </p:txBody>
      </p:sp>
      <p:sp>
        <p:nvSpPr>
          <p:cNvPr id="22" name="Shape 20"/>
          <p:cNvSpPr/>
          <p:nvPr/>
        </p:nvSpPr>
        <p:spPr>
          <a:xfrm>
            <a:off x="4013385" y="1679436"/>
            <a:ext cx="989215" cy="694944"/>
          </a:xfrm>
          <a:prstGeom prst="rect">
            <a:avLst/>
          </a:prstGeom>
          <a:solidFill>
            <a:srgbClr val="2C4A6E"/>
          </a:solidFill>
          <a:ln w="1270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23" name="Text 21"/>
          <p:cNvSpPr/>
          <p:nvPr/>
        </p:nvSpPr>
        <p:spPr>
          <a:xfrm>
            <a:off x="3720084" y="1717535"/>
            <a:ext cx="1572768" cy="310896"/>
          </a:xfrm>
          <a:prstGeom prst="rect">
            <a:avLst/>
          </a:prstGeom>
          <a:noFill/>
          <a:ln/>
        </p:spPr>
        <p:txBody>
          <a:bodyPr wrap="square" lIns="0" tIns="0" rIns="0" bIns="0" rtlCol="0" anchor="ctr"/>
          <a:lstStyle/>
          <a:p>
            <a:pPr marL="0" indent="0" algn="ctr">
              <a:buNone/>
            </a:pPr>
            <a:r>
              <a:rPr lang="en-US" sz="850" b="1" dirty="0">
                <a:solidFill>
                  <a:srgbClr val="FFFFFF"/>
                </a:solidFill>
              </a:rPr>
              <a:t>Spanish</a:t>
            </a:r>
            <a:endParaRPr lang="en-US" sz="850" dirty="0"/>
          </a:p>
          <a:p>
            <a:pPr marL="0" indent="0" algn="ctr">
              <a:buNone/>
            </a:pPr>
            <a:r>
              <a:rPr lang="en-US" sz="850" b="1" dirty="0">
                <a:solidFill>
                  <a:srgbClr val="FFFFFF"/>
                </a:solidFill>
              </a:rPr>
              <a:t>Subsidiary</a:t>
            </a:r>
            <a:endParaRPr lang="en-US" sz="850" dirty="0"/>
          </a:p>
        </p:txBody>
      </p:sp>
      <p:sp>
        <p:nvSpPr>
          <p:cNvPr id="24" name="Text 22"/>
          <p:cNvSpPr/>
          <p:nvPr/>
        </p:nvSpPr>
        <p:spPr>
          <a:xfrm>
            <a:off x="3720084" y="1935468"/>
            <a:ext cx="1572768" cy="457200"/>
          </a:xfrm>
          <a:prstGeom prst="rect">
            <a:avLst/>
          </a:prstGeom>
          <a:noFill/>
          <a:ln/>
        </p:spPr>
        <p:txBody>
          <a:bodyPr wrap="square" lIns="0" tIns="0" rIns="0" bIns="0" rtlCol="0" anchor="ctr"/>
          <a:lstStyle/>
          <a:p>
            <a:pPr marL="0" indent="0" algn="ctr">
              <a:buNone/>
            </a:pPr>
            <a:r>
              <a:rPr lang="en-US" sz="720" dirty="0">
                <a:solidFill>
                  <a:srgbClr val="CCDDE8"/>
                </a:solidFill>
              </a:rPr>
              <a:t>Large Machine</a:t>
            </a:r>
            <a:endParaRPr lang="en-US" sz="720" dirty="0"/>
          </a:p>
          <a:p>
            <a:pPr marL="0" indent="0" algn="ctr">
              <a:buNone/>
            </a:pPr>
            <a:r>
              <a:rPr lang="en-US" sz="720" dirty="0">
                <a:solidFill>
                  <a:srgbClr val="CCDDE8"/>
                </a:solidFill>
              </a:rPr>
              <a:t>Production (ESP)</a:t>
            </a:r>
            <a:endParaRPr lang="en-US" sz="720" dirty="0"/>
          </a:p>
        </p:txBody>
      </p:sp>
      <p:sp>
        <p:nvSpPr>
          <p:cNvPr id="25" name="Shape 23"/>
          <p:cNvSpPr/>
          <p:nvPr/>
        </p:nvSpPr>
        <p:spPr>
          <a:xfrm>
            <a:off x="5034361" y="2100060"/>
            <a:ext cx="739486" cy="0"/>
          </a:xfrm>
          <a:prstGeom prst="line">
            <a:avLst/>
          </a:prstGeom>
          <a:noFill/>
          <a:ln w="19050">
            <a:solidFill>
              <a:srgbClr val="006B6B"/>
            </a:solidFill>
            <a:prstDash val="solid"/>
          </a:ln>
        </p:spPr>
        <p:txBody>
          <a:bodyPr/>
          <a:lstStyle/>
          <a:p>
            <a:endParaRPr lang="en-DE"/>
          </a:p>
        </p:txBody>
      </p:sp>
      <p:sp>
        <p:nvSpPr>
          <p:cNvPr id="26" name="Text 24"/>
          <p:cNvSpPr/>
          <p:nvPr/>
        </p:nvSpPr>
        <p:spPr>
          <a:xfrm>
            <a:off x="5038344" y="1725156"/>
            <a:ext cx="749808" cy="457200"/>
          </a:xfrm>
          <a:prstGeom prst="rect">
            <a:avLst/>
          </a:prstGeom>
          <a:noFill/>
          <a:ln/>
        </p:spPr>
        <p:txBody>
          <a:bodyPr wrap="square" lIns="0" tIns="0" rIns="0" bIns="0" rtlCol="0" anchor="ctr"/>
          <a:lstStyle/>
          <a:p>
            <a:pPr marL="0" indent="0" algn="ctr">
              <a:buNone/>
            </a:pPr>
            <a:r>
              <a:rPr lang="en-US" sz="650" dirty="0">
                <a:solidFill>
                  <a:srgbClr val="006B6B"/>
                </a:solidFill>
              </a:rPr>
              <a:t>ICS 0%</a:t>
            </a:r>
            <a:endParaRPr lang="en-US" sz="650" dirty="0"/>
          </a:p>
          <a:p>
            <a:pPr marL="0" indent="0" algn="ctr">
              <a:buNone/>
            </a:pPr>
            <a:r>
              <a:rPr lang="en-US" sz="650" dirty="0">
                <a:solidFill>
                  <a:srgbClr val="006B6B"/>
                </a:solidFill>
              </a:rPr>
              <a:t>§ 6a UStG (ESP→DE)</a:t>
            </a:r>
            <a:endParaRPr lang="en-US" sz="650" dirty="0"/>
          </a:p>
        </p:txBody>
      </p:sp>
      <p:sp>
        <p:nvSpPr>
          <p:cNvPr id="27" name="Shape 25"/>
          <p:cNvSpPr/>
          <p:nvPr/>
        </p:nvSpPr>
        <p:spPr>
          <a:xfrm>
            <a:off x="5797296" y="1679436"/>
            <a:ext cx="1088136" cy="694944"/>
          </a:xfrm>
          <a:prstGeom prst="rect">
            <a:avLst/>
          </a:prstGeom>
          <a:solidFill>
            <a:srgbClr val="2C4A6E"/>
          </a:solidFill>
          <a:ln w="1270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28" name="Text 26"/>
          <p:cNvSpPr/>
          <p:nvPr/>
        </p:nvSpPr>
        <p:spPr>
          <a:xfrm>
            <a:off x="5553456" y="1717535"/>
            <a:ext cx="1572768" cy="310896"/>
          </a:xfrm>
          <a:prstGeom prst="rect">
            <a:avLst/>
          </a:prstGeom>
          <a:noFill/>
          <a:ln/>
        </p:spPr>
        <p:txBody>
          <a:bodyPr wrap="square" lIns="0" tIns="0" rIns="0" bIns="0" rtlCol="0" anchor="ctr"/>
          <a:lstStyle/>
          <a:p>
            <a:pPr marL="0" indent="0" algn="ctr">
              <a:buNone/>
            </a:pPr>
            <a:r>
              <a:rPr lang="en-US" sz="850" b="1" dirty="0">
                <a:solidFill>
                  <a:srgbClr val="FFFFFF"/>
                </a:solidFill>
              </a:rPr>
              <a:t>Berlin</a:t>
            </a:r>
            <a:endParaRPr lang="en-US" sz="850" dirty="0"/>
          </a:p>
          <a:p>
            <a:pPr marL="0" indent="0" algn="ctr">
              <a:buNone/>
            </a:pPr>
            <a:r>
              <a:rPr lang="en-US" sz="850" b="1" dirty="0">
                <a:solidFill>
                  <a:srgbClr val="FFFFFF"/>
                </a:solidFill>
              </a:rPr>
              <a:t>Warehouse</a:t>
            </a:r>
            <a:endParaRPr lang="en-US" sz="850" dirty="0"/>
          </a:p>
        </p:txBody>
      </p:sp>
      <p:sp>
        <p:nvSpPr>
          <p:cNvPr id="29" name="Text 27"/>
          <p:cNvSpPr/>
          <p:nvPr/>
        </p:nvSpPr>
        <p:spPr>
          <a:xfrm>
            <a:off x="5553456" y="1935468"/>
            <a:ext cx="1572768" cy="457200"/>
          </a:xfrm>
          <a:prstGeom prst="rect">
            <a:avLst/>
          </a:prstGeom>
          <a:noFill/>
          <a:ln/>
        </p:spPr>
        <p:txBody>
          <a:bodyPr wrap="square" lIns="0" tIns="0" rIns="0" bIns="0" rtlCol="0" anchor="ctr"/>
          <a:lstStyle/>
          <a:p>
            <a:pPr marL="0" indent="0" algn="ctr">
              <a:buNone/>
            </a:pPr>
            <a:r>
              <a:rPr lang="en-US" sz="720" dirty="0">
                <a:solidFill>
                  <a:srgbClr val="CCDDE8"/>
                </a:solidFill>
              </a:rPr>
              <a:t>DE Dispatch Hub</a:t>
            </a:r>
            <a:endParaRPr lang="en-US" sz="720" dirty="0"/>
          </a:p>
          <a:p>
            <a:pPr marL="0" indent="0" algn="ctr">
              <a:buNone/>
            </a:pPr>
            <a:r>
              <a:rPr lang="en-US" sz="720" dirty="0">
                <a:solidFill>
                  <a:srgbClr val="CCDDE8"/>
                </a:solidFill>
              </a:rPr>
              <a:t>(own trucks)</a:t>
            </a:r>
            <a:endParaRPr lang="en-US" sz="720" dirty="0"/>
          </a:p>
        </p:txBody>
      </p:sp>
      <p:sp>
        <p:nvSpPr>
          <p:cNvPr id="30" name="Shape 28"/>
          <p:cNvSpPr/>
          <p:nvPr/>
        </p:nvSpPr>
        <p:spPr>
          <a:xfrm>
            <a:off x="6898723" y="2100060"/>
            <a:ext cx="555586" cy="0"/>
          </a:xfrm>
          <a:prstGeom prst="line">
            <a:avLst/>
          </a:prstGeom>
          <a:noFill/>
          <a:ln w="19050">
            <a:solidFill>
              <a:srgbClr val="006B6B"/>
            </a:solidFill>
            <a:prstDash val="solid"/>
          </a:ln>
        </p:spPr>
        <p:txBody>
          <a:bodyPr/>
          <a:lstStyle/>
          <a:p>
            <a:endParaRPr lang="en-DE"/>
          </a:p>
        </p:txBody>
      </p:sp>
      <p:sp>
        <p:nvSpPr>
          <p:cNvPr id="31" name="Text 29"/>
          <p:cNvSpPr/>
          <p:nvPr/>
        </p:nvSpPr>
        <p:spPr>
          <a:xfrm>
            <a:off x="6795516" y="1725156"/>
            <a:ext cx="749808" cy="457200"/>
          </a:xfrm>
          <a:prstGeom prst="rect">
            <a:avLst/>
          </a:prstGeom>
          <a:noFill/>
          <a:ln/>
        </p:spPr>
        <p:txBody>
          <a:bodyPr wrap="square" lIns="0" tIns="0" rIns="0" bIns="0" rtlCol="0" anchor="ctr"/>
          <a:lstStyle/>
          <a:p>
            <a:pPr marL="0" indent="0" algn="ctr">
              <a:buNone/>
            </a:pPr>
            <a:r>
              <a:rPr lang="en-US" sz="650" dirty="0">
                <a:solidFill>
                  <a:srgbClr val="006B6B"/>
                </a:solidFill>
              </a:rPr>
              <a:t>Domestic</a:t>
            </a:r>
            <a:endParaRPr lang="en-US" sz="650" dirty="0"/>
          </a:p>
          <a:p>
            <a:pPr marL="0" indent="0" algn="ctr">
              <a:buNone/>
            </a:pPr>
            <a:r>
              <a:rPr lang="en-US" sz="650" dirty="0">
                <a:solidFill>
                  <a:srgbClr val="006B6B"/>
                </a:solidFill>
              </a:rPr>
              <a:t>19% § 12 UStG</a:t>
            </a:r>
            <a:endParaRPr lang="en-US" sz="650" dirty="0"/>
          </a:p>
        </p:txBody>
      </p:sp>
      <p:sp>
        <p:nvSpPr>
          <p:cNvPr id="32" name="Shape 30"/>
          <p:cNvSpPr/>
          <p:nvPr/>
        </p:nvSpPr>
        <p:spPr>
          <a:xfrm>
            <a:off x="7478268" y="1679436"/>
            <a:ext cx="1088136" cy="694944"/>
          </a:xfrm>
          <a:prstGeom prst="rect">
            <a:avLst/>
          </a:prstGeom>
          <a:solidFill>
            <a:srgbClr val="006B6B"/>
          </a:solidFill>
          <a:ln w="12700">
            <a:solidFill>
              <a:srgbClr val="006B6B"/>
            </a:solidFill>
            <a:prstDash val="solid"/>
          </a:ln>
          <a:effectLst>
            <a:outerShdw blurRad="50800" dist="25400" dir="8100000" algn="bl" rotWithShape="0">
              <a:srgbClr val="000000">
                <a:alpha val="8000"/>
              </a:srgbClr>
            </a:outerShdw>
          </a:effectLst>
        </p:spPr>
        <p:txBody>
          <a:bodyPr/>
          <a:lstStyle/>
          <a:p>
            <a:endParaRPr lang="en-DE"/>
          </a:p>
        </p:txBody>
      </p:sp>
      <p:sp>
        <p:nvSpPr>
          <p:cNvPr id="33" name="Text 31"/>
          <p:cNvSpPr/>
          <p:nvPr/>
        </p:nvSpPr>
        <p:spPr>
          <a:xfrm>
            <a:off x="7234428" y="1717535"/>
            <a:ext cx="1572768" cy="310896"/>
          </a:xfrm>
          <a:prstGeom prst="rect">
            <a:avLst/>
          </a:prstGeom>
          <a:noFill/>
          <a:ln/>
        </p:spPr>
        <p:txBody>
          <a:bodyPr wrap="square" lIns="0" tIns="0" rIns="0" bIns="0" rtlCol="0" anchor="ctr"/>
          <a:lstStyle/>
          <a:p>
            <a:pPr marL="0" indent="0" algn="ctr">
              <a:buNone/>
            </a:pPr>
            <a:r>
              <a:rPr lang="en-US" sz="850" b="1" dirty="0">
                <a:solidFill>
                  <a:srgbClr val="FFFFFF"/>
                </a:solidFill>
              </a:rPr>
              <a:t>German</a:t>
            </a:r>
            <a:endParaRPr lang="en-US" sz="850" dirty="0"/>
          </a:p>
          <a:p>
            <a:pPr marL="0" indent="0" algn="ctr">
              <a:buNone/>
            </a:pPr>
            <a:r>
              <a:rPr lang="en-US" sz="850" b="1" dirty="0">
                <a:solidFill>
                  <a:srgbClr val="FFFFFF"/>
                </a:solidFill>
              </a:rPr>
              <a:t>Customers</a:t>
            </a:r>
            <a:endParaRPr lang="en-US" sz="850" dirty="0"/>
          </a:p>
        </p:txBody>
      </p:sp>
      <p:sp>
        <p:nvSpPr>
          <p:cNvPr id="34" name="Text 32"/>
          <p:cNvSpPr/>
          <p:nvPr/>
        </p:nvSpPr>
        <p:spPr>
          <a:xfrm>
            <a:off x="7234428" y="1935468"/>
            <a:ext cx="1572768" cy="457200"/>
          </a:xfrm>
          <a:prstGeom prst="rect">
            <a:avLst/>
          </a:prstGeom>
          <a:noFill/>
          <a:ln/>
        </p:spPr>
        <p:txBody>
          <a:bodyPr wrap="square" lIns="0" tIns="0" rIns="0" bIns="0" rtlCol="0" anchor="ctr"/>
          <a:lstStyle/>
          <a:p>
            <a:pPr marL="0" indent="0" algn="ctr">
              <a:buNone/>
            </a:pPr>
            <a:r>
              <a:rPr lang="en-US" sz="720" dirty="0">
                <a:solidFill>
                  <a:srgbClr val="CCDDE8"/>
                </a:solidFill>
              </a:rPr>
              <a:t>B2B only</a:t>
            </a:r>
            <a:endParaRPr lang="en-US" sz="720" dirty="0"/>
          </a:p>
          <a:p>
            <a:pPr marL="0" indent="0" algn="ctr">
              <a:buNone/>
            </a:pPr>
            <a:r>
              <a:rPr lang="en-US" sz="720" dirty="0">
                <a:solidFill>
                  <a:srgbClr val="CCDDE8"/>
                </a:solidFill>
              </a:rPr>
              <a:t>Installation on-site</a:t>
            </a:r>
            <a:endParaRPr lang="en-US" sz="720" dirty="0"/>
          </a:p>
        </p:txBody>
      </p:sp>
      <p:sp>
        <p:nvSpPr>
          <p:cNvPr id="35" name="Text 33"/>
          <p:cNvSpPr/>
          <p:nvPr/>
        </p:nvSpPr>
        <p:spPr>
          <a:xfrm>
            <a:off x="411480" y="2423160"/>
            <a:ext cx="5486400" cy="182880"/>
          </a:xfrm>
          <a:prstGeom prst="rect">
            <a:avLst/>
          </a:prstGeom>
          <a:noFill/>
          <a:ln/>
        </p:spPr>
        <p:txBody>
          <a:bodyPr wrap="square" lIns="0" tIns="0" rIns="0" bIns="0" rtlCol="0" anchor="ctr"/>
          <a:lstStyle/>
          <a:p>
            <a:pPr marL="0" indent="0">
              <a:buNone/>
            </a:pPr>
            <a:r>
              <a:rPr lang="en-US" sz="750" b="1" kern="0" spc="150" dirty="0">
                <a:solidFill>
                  <a:srgbClr val="006B6B"/>
                </a:solidFill>
              </a:rPr>
              <a:t>SMALL MACHINERY FLOW</a:t>
            </a:r>
            <a:endParaRPr lang="en-US" sz="750" dirty="0"/>
          </a:p>
        </p:txBody>
      </p:sp>
      <p:sp>
        <p:nvSpPr>
          <p:cNvPr id="36" name="Shape 34"/>
          <p:cNvSpPr/>
          <p:nvPr/>
        </p:nvSpPr>
        <p:spPr>
          <a:xfrm>
            <a:off x="457059" y="2863826"/>
            <a:ext cx="1151750" cy="665018"/>
          </a:xfrm>
          <a:prstGeom prst="rect">
            <a:avLst/>
          </a:prstGeom>
          <a:solidFill>
            <a:srgbClr val="006B6B"/>
          </a:solidFill>
          <a:ln w="12700">
            <a:solidFill>
              <a:srgbClr val="006B6B"/>
            </a:solidFill>
            <a:prstDash val="solid"/>
          </a:ln>
          <a:effectLst>
            <a:outerShdw blurRad="50800" dist="25400" dir="8100000" algn="bl" rotWithShape="0">
              <a:srgbClr val="000000">
                <a:alpha val="8000"/>
              </a:srgbClr>
            </a:outerShdw>
          </a:effectLst>
        </p:spPr>
        <p:txBody>
          <a:bodyPr/>
          <a:lstStyle/>
          <a:p>
            <a:endParaRPr lang="en-DE"/>
          </a:p>
        </p:txBody>
      </p:sp>
      <p:sp>
        <p:nvSpPr>
          <p:cNvPr id="37" name="Text 35"/>
          <p:cNvSpPr/>
          <p:nvPr/>
        </p:nvSpPr>
        <p:spPr>
          <a:xfrm>
            <a:off x="243585" y="2922913"/>
            <a:ext cx="1532979" cy="256939"/>
          </a:xfrm>
          <a:prstGeom prst="rect">
            <a:avLst/>
          </a:prstGeom>
          <a:noFill/>
          <a:ln/>
        </p:spPr>
        <p:txBody>
          <a:bodyPr wrap="square" lIns="0" tIns="0" rIns="0" bIns="0" rtlCol="0" anchor="ctr"/>
          <a:lstStyle/>
          <a:p>
            <a:pPr marL="0" indent="0" algn="ctr">
              <a:buNone/>
            </a:pPr>
            <a:r>
              <a:rPr lang="en-US" sz="850" b="1" dirty="0">
                <a:solidFill>
                  <a:srgbClr val="FFFFFF"/>
                </a:solidFill>
              </a:rPr>
              <a:t>Local Steel</a:t>
            </a:r>
            <a:endParaRPr lang="en-US" sz="850" dirty="0"/>
          </a:p>
          <a:p>
            <a:pPr marL="0" indent="0" algn="ctr">
              <a:buNone/>
            </a:pPr>
            <a:r>
              <a:rPr lang="en-US" sz="850" b="1" dirty="0">
                <a:solidFill>
                  <a:srgbClr val="FFFFFF"/>
                </a:solidFill>
              </a:rPr>
              <a:t>(Poland)</a:t>
            </a:r>
            <a:endParaRPr lang="en-US" sz="850" dirty="0"/>
          </a:p>
        </p:txBody>
      </p:sp>
      <p:sp>
        <p:nvSpPr>
          <p:cNvPr id="38" name="Text 36"/>
          <p:cNvSpPr/>
          <p:nvPr/>
        </p:nvSpPr>
        <p:spPr>
          <a:xfrm>
            <a:off x="243585" y="3177972"/>
            <a:ext cx="1532979" cy="347623"/>
          </a:xfrm>
          <a:prstGeom prst="rect">
            <a:avLst/>
          </a:prstGeom>
          <a:noFill/>
          <a:ln/>
        </p:spPr>
        <p:txBody>
          <a:bodyPr wrap="square" lIns="0" tIns="0" rIns="0" bIns="0" rtlCol="0" anchor="ctr"/>
          <a:lstStyle/>
          <a:p>
            <a:pPr marL="0" indent="0" algn="ctr">
              <a:buNone/>
            </a:pPr>
            <a:r>
              <a:rPr lang="en-US" sz="720" dirty="0">
                <a:solidFill>
                  <a:srgbClr val="DDEEF5"/>
                </a:solidFill>
              </a:rPr>
              <a:t>Domestic purchase</a:t>
            </a:r>
            <a:endParaRPr lang="en-US" sz="720" dirty="0"/>
          </a:p>
          <a:p>
            <a:pPr marL="0" indent="0" algn="ctr">
              <a:buNone/>
            </a:pPr>
            <a:r>
              <a:rPr lang="en-US" sz="720" dirty="0">
                <a:solidFill>
                  <a:srgbClr val="DDEEF5"/>
                </a:solidFill>
              </a:rPr>
              <a:t>Strabam S.p.l</a:t>
            </a:r>
            <a:endParaRPr lang="en-US" sz="720" dirty="0"/>
          </a:p>
        </p:txBody>
      </p:sp>
      <p:sp>
        <p:nvSpPr>
          <p:cNvPr id="39" name="Shape 37"/>
          <p:cNvSpPr/>
          <p:nvPr/>
        </p:nvSpPr>
        <p:spPr>
          <a:xfrm>
            <a:off x="1636007" y="3216648"/>
            <a:ext cx="1145905" cy="0"/>
          </a:xfrm>
          <a:prstGeom prst="line">
            <a:avLst/>
          </a:prstGeom>
          <a:noFill/>
          <a:ln w="19050">
            <a:solidFill>
              <a:srgbClr val="0A1628"/>
            </a:solidFill>
            <a:prstDash val="solid"/>
          </a:ln>
        </p:spPr>
        <p:txBody>
          <a:bodyPr/>
          <a:lstStyle/>
          <a:p>
            <a:endParaRPr lang="en-DE"/>
          </a:p>
        </p:txBody>
      </p:sp>
      <p:sp>
        <p:nvSpPr>
          <p:cNvPr id="40" name="Text 38"/>
          <p:cNvSpPr/>
          <p:nvPr/>
        </p:nvSpPr>
        <p:spPr>
          <a:xfrm>
            <a:off x="1735656" y="2887464"/>
            <a:ext cx="824684" cy="402336"/>
          </a:xfrm>
          <a:prstGeom prst="rect">
            <a:avLst/>
          </a:prstGeom>
          <a:noFill/>
          <a:ln/>
        </p:spPr>
        <p:txBody>
          <a:bodyPr wrap="square" lIns="0" tIns="0" rIns="0" bIns="0" rtlCol="0" anchor="ctr"/>
          <a:lstStyle/>
          <a:p>
            <a:pPr marL="0" indent="0" algn="ctr">
              <a:buNone/>
            </a:pPr>
            <a:r>
              <a:rPr lang="en-US" sz="650" dirty="0">
                <a:solidFill>
                  <a:srgbClr val="64748B"/>
                </a:solidFill>
              </a:rPr>
              <a:t>Local</a:t>
            </a:r>
            <a:endParaRPr lang="en-US" sz="650" dirty="0"/>
          </a:p>
          <a:p>
            <a:pPr marL="0" indent="0" algn="ctr">
              <a:buNone/>
            </a:pPr>
            <a:r>
              <a:rPr lang="en-US" sz="650" dirty="0">
                <a:solidFill>
                  <a:srgbClr val="64748B"/>
                </a:solidFill>
              </a:rPr>
              <a:t>Production</a:t>
            </a:r>
            <a:endParaRPr lang="en-US" sz="650" dirty="0"/>
          </a:p>
        </p:txBody>
      </p:sp>
      <p:sp>
        <p:nvSpPr>
          <p:cNvPr id="41" name="Shape 39"/>
          <p:cNvSpPr/>
          <p:nvPr/>
        </p:nvSpPr>
        <p:spPr>
          <a:xfrm>
            <a:off x="2820956" y="2863826"/>
            <a:ext cx="1151750" cy="665018"/>
          </a:xfrm>
          <a:prstGeom prst="rect">
            <a:avLst/>
          </a:prstGeom>
          <a:solidFill>
            <a:srgbClr val="00857A"/>
          </a:solidFill>
          <a:ln w="12700">
            <a:solidFill>
              <a:srgbClr val="00857A"/>
            </a:solidFill>
            <a:prstDash val="solid"/>
          </a:ln>
          <a:effectLst>
            <a:outerShdw blurRad="50800" dist="25400" dir="8100000" algn="bl" rotWithShape="0">
              <a:srgbClr val="000000">
                <a:alpha val="8000"/>
              </a:srgbClr>
            </a:outerShdw>
          </a:effectLst>
        </p:spPr>
        <p:txBody>
          <a:bodyPr/>
          <a:lstStyle/>
          <a:p>
            <a:endParaRPr lang="en-DE"/>
          </a:p>
        </p:txBody>
      </p:sp>
      <p:sp>
        <p:nvSpPr>
          <p:cNvPr id="42" name="Text 40"/>
          <p:cNvSpPr/>
          <p:nvPr/>
        </p:nvSpPr>
        <p:spPr>
          <a:xfrm>
            <a:off x="2630342" y="2922913"/>
            <a:ext cx="1532979" cy="256939"/>
          </a:xfrm>
          <a:prstGeom prst="rect">
            <a:avLst/>
          </a:prstGeom>
          <a:noFill/>
          <a:ln/>
        </p:spPr>
        <p:txBody>
          <a:bodyPr wrap="square" lIns="0" tIns="0" rIns="0" bIns="0" rtlCol="0" anchor="ctr"/>
          <a:lstStyle/>
          <a:p>
            <a:pPr marL="0" indent="0" algn="ctr">
              <a:buNone/>
            </a:pPr>
            <a:r>
              <a:rPr lang="en-US" sz="850" b="1" dirty="0">
                <a:solidFill>
                  <a:srgbClr val="FFFFFF"/>
                </a:solidFill>
              </a:rPr>
              <a:t>Strabam S.p.l</a:t>
            </a:r>
            <a:endParaRPr lang="en-US" sz="850" dirty="0"/>
          </a:p>
          <a:p>
            <a:pPr marL="0" indent="0" algn="ctr">
              <a:buNone/>
            </a:pPr>
            <a:r>
              <a:rPr lang="en-US" sz="850" b="1" dirty="0">
                <a:solidFill>
                  <a:srgbClr val="FFFFFF"/>
                </a:solidFill>
              </a:rPr>
              <a:t>Poland</a:t>
            </a:r>
            <a:endParaRPr lang="en-US" sz="850" dirty="0"/>
          </a:p>
        </p:txBody>
      </p:sp>
      <p:sp>
        <p:nvSpPr>
          <p:cNvPr id="43" name="Text 41"/>
          <p:cNvSpPr/>
          <p:nvPr/>
        </p:nvSpPr>
        <p:spPr>
          <a:xfrm>
            <a:off x="2630342" y="3177972"/>
            <a:ext cx="1532979" cy="347623"/>
          </a:xfrm>
          <a:prstGeom prst="rect">
            <a:avLst/>
          </a:prstGeom>
          <a:noFill/>
          <a:ln/>
        </p:spPr>
        <p:txBody>
          <a:bodyPr wrap="square" lIns="0" tIns="0" rIns="0" bIns="0" rtlCol="0" anchor="ctr"/>
          <a:lstStyle/>
          <a:p>
            <a:pPr marL="0" indent="0" algn="ctr">
              <a:buNone/>
            </a:pPr>
            <a:r>
              <a:rPr lang="en-US" sz="720" dirty="0">
                <a:solidFill>
                  <a:srgbClr val="DDEEF5"/>
                </a:solidFill>
              </a:rPr>
              <a:t>Small Machine</a:t>
            </a:r>
            <a:endParaRPr lang="en-US" sz="720" dirty="0"/>
          </a:p>
          <a:p>
            <a:pPr marL="0" indent="0" algn="ctr">
              <a:buNone/>
            </a:pPr>
            <a:r>
              <a:rPr lang="en-US" sz="720" dirty="0">
                <a:solidFill>
                  <a:srgbClr val="DDEEF5"/>
                </a:solidFill>
              </a:rPr>
              <a:t>Production</a:t>
            </a:r>
            <a:endParaRPr lang="en-US" sz="720" dirty="0"/>
          </a:p>
        </p:txBody>
      </p:sp>
      <p:sp>
        <p:nvSpPr>
          <p:cNvPr id="44" name="Shape 42"/>
          <p:cNvSpPr/>
          <p:nvPr/>
        </p:nvSpPr>
        <p:spPr>
          <a:xfrm>
            <a:off x="3979586" y="3216648"/>
            <a:ext cx="1145905" cy="0"/>
          </a:xfrm>
          <a:prstGeom prst="line">
            <a:avLst/>
          </a:prstGeom>
          <a:noFill/>
          <a:ln w="19050">
            <a:solidFill>
              <a:srgbClr val="0A1628"/>
            </a:solidFill>
            <a:prstDash val="solid"/>
          </a:ln>
        </p:spPr>
        <p:txBody>
          <a:bodyPr/>
          <a:lstStyle/>
          <a:p>
            <a:endParaRPr lang="en-DE"/>
          </a:p>
        </p:txBody>
      </p:sp>
      <p:sp>
        <p:nvSpPr>
          <p:cNvPr id="45" name="Text 43"/>
          <p:cNvSpPr/>
          <p:nvPr/>
        </p:nvSpPr>
        <p:spPr>
          <a:xfrm>
            <a:off x="4072463" y="2887464"/>
            <a:ext cx="824684" cy="402336"/>
          </a:xfrm>
          <a:prstGeom prst="rect">
            <a:avLst/>
          </a:prstGeom>
          <a:noFill/>
          <a:ln/>
        </p:spPr>
        <p:txBody>
          <a:bodyPr wrap="square" lIns="0" tIns="0" rIns="0" bIns="0" rtlCol="0" anchor="ctr"/>
          <a:lstStyle/>
          <a:p>
            <a:pPr marL="0" indent="0" algn="ctr">
              <a:buNone/>
            </a:pPr>
            <a:r>
              <a:rPr lang="en-US" sz="650" dirty="0">
                <a:solidFill>
                  <a:srgbClr val="64748B"/>
                </a:solidFill>
              </a:rPr>
              <a:t>ICS 0%</a:t>
            </a:r>
            <a:endParaRPr lang="en-US" sz="650" dirty="0"/>
          </a:p>
          <a:p>
            <a:pPr marL="0" indent="0" algn="ctr">
              <a:buNone/>
            </a:pPr>
            <a:r>
              <a:rPr lang="en-US" sz="650" dirty="0">
                <a:solidFill>
                  <a:srgbClr val="64748B"/>
                </a:solidFill>
              </a:rPr>
              <a:t>or local rate</a:t>
            </a:r>
            <a:endParaRPr lang="en-US" sz="650" dirty="0"/>
          </a:p>
        </p:txBody>
      </p:sp>
      <p:sp>
        <p:nvSpPr>
          <p:cNvPr id="46" name="Shape 44"/>
          <p:cNvSpPr/>
          <p:nvPr/>
        </p:nvSpPr>
        <p:spPr>
          <a:xfrm>
            <a:off x="5150985" y="2863826"/>
            <a:ext cx="1151750" cy="665018"/>
          </a:xfrm>
          <a:prstGeom prst="rect">
            <a:avLst/>
          </a:prstGeom>
          <a:solidFill>
            <a:srgbClr val="2C4A6E"/>
          </a:solidFill>
          <a:ln w="1270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47" name="Text 45"/>
          <p:cNvSpPr/>
          <p:nvPr/>
        </p:nvSpPr>
        <p:spPr>
          <a:xfrm>
            <a:off x="4960371" y="2902594"/>
            <a:ext cx="1532979" cy="256939"/>
          </a:xfrm>
          <a:prstGeom prst="rect">
            <a:avLst/>
          </a:prstGeom>
          <a:noFill/>
          <a:ln/>
        </p:spPr>
        <p:txBody>
          <a:bodyPr wrap="square" lIns="0" tIns="0" rIns="0" bIns="0" rtlCol="0" anchor="ctr"/>
          <a:lstStyle/>
          <a:p>
            <a:pPr marL="0" indent="0" algn="ctr">
              <a:buNone/>
            </a:pPr>
            <a:r>
              <a:rPr lang="en-US" sz="850" b="1" dirty="0">
                <a:solidFill>
                  <a:srgbClr val="FFFFFF"/>
                </a:solidFill>
              </a:rPr>
              <a:t>EU Customers</a:t>
            </a:r>
            <a:endParaRPr lang="en-US" sz="850" dirty="0"/>
          </a:p>
        </p:txBody>
      </p:sp>
      <p:sp>
        <p:nvSpPr>
          <p:cNvPr id="48" name="Text 46"/>
          <p:cNvSpPr/>
          <p:nvPr/>
        </p:nvSpPr>
        <p:spPr>
          <a:xfrm>
            <a:off x="4960371" y="3177972"/>
            <a:ext cx="1532979" cy="347623"/>
          </a:xfrm>
          <a:prstGeom prst="rect">
            <a:avLst/>
          </a:prstGeom>
          <a:noFill/>
          <a:ln/>
        </p:spPr>
        <p:txBody>
          <a:bodyPr wrap="square" lIns="0" tIns="0" rIns="0" bIns="0" rtlCol="0" anchor="ctr"/>
          <a:lstStyle/>
          <a:p>
            <a:pPr marL="0" indent="0" algn="ctr">
              <a:buNone/>
            </a:pPr>
            <a:r>
              <a:rPr lang="en-US" sz="720" dirty="0">
                <a:solidFill>
                  <a:srgbClr val="DDEEF5"/>
                </a:solidFill>
              </a:rPr>
              <a:t>B2B - all EU</a:t>
            </a:r>
            <a:endParaRPr lang="en-US" sz="720" dirty="0"/>
          </a:p>
          <a:p>
            <a:pPr marL="0" indent="0" algn="ctr">
              <a:buNone/>
            </a:pPr>
            <a:r>
              <a:rPr lang="en-US" sz="720" dirty="0">
                <a:solidFill>
                  <a:srgbClr val="DDEEF5"/>
                </a:solidFill>
              </a:rPr>
              <a:t>except DE &amp; PL</a:t>
            </a:r>
            <a:endParaRPr lang="en-US" sz="720" dirty="0"/>
          </a:p>
        </p:txBody>
      </p:sp>
      <p:sp>
        <p:nvSpPr>
          <p:cNvPr id="49" name="Shape 47"/>
          <p:cNvSpPr/>
          <p:nvPr/>
        </p:nvSpPr>
        <p:spPr>
          <a:xfrm>
            <a:off x="411480" y="3566160"/>
            <a:ext cx="8503920" cy="502920"/>
          </a:xfrm>
          <a:prstGeom prst="rect">
            <a:avLst/>
          </a:prstGeom>
          <a:solidFill>
            <a:srgbClr val="EFF8F8"/>
          </a:solidFill>
          <a:ln w="6350">
            <a:solidFill>
              <a:srgbClr val="006B6B"/>
            </a:solidFill>
            <a:prstDash val="solid"/>
          </a:ln>
        </p:spPr>
        <p:txBody>
          <a:bodyPr/>
          <a:lstStyle/>
          <a:p>
            <a:endParaRPr lang="en-DE"/>
          </a:p>
        </p:txBody>
      </p:sp>
      <p:sp>
        <p:nvSpPr>
          <p:cNvPr id="50" name="Shape 48"/>
          <p:cNvSpPr/>
          <p:nvPr/>
        </p:nvSpPr>
        <p:spPr>
          <a:xfrm>
            <a:off x="411480" y="3566160"/>
            <a:ext cx="36576" cy="502920"/>
          </a:xfrm>
          <a:prstGeom prst="rect">
            <a:avLst/>
          </a:prstGeom>
          <a:solidFill>
            <a:srgbClr val="006B6B"/>
          </a:solidFill>
          <a:ln w="12700">
            <a:solidFill>
              <a:srgbClr val="006B6B"/>
            </a:solidFill>
            <a:prstDash val="solid"/>
          </a:ln>
        </p:spPr>
        <p:txBody>
          <a:bodyPr/>
          <a:lstStyle/>
          <a:p>
            <a:endParaRPr lang="en-DE"/>
          </a:p>
        </p:txBody>
      </p:sp>
      <p:sp>
        <p:nvSpPr>
          <p:cNvPr id="51" name="Text 49"/>
          <p:cNvSpPr/>
          <p:nvPr/>
        </p:nvSpPr>
        <p:spPr>
          <a:xfrm>
            <a:off x="512064" y="3621024"/>
            <a:ext cx="1645920" cy="164592"/>
          </a:xfrm>
          <a:prstGeom prst="rect">
            <a:avLst/>
          </a:prstGeom>
          <a:noFill/>
          <a:ln/>
        </p:spPr>
        <p:txBody>
          <a:bodyPr wrap="square" lIns="0" tIns="0" rIns="0" bIns="0" rtlCol="0" anchor="ctr"/>
          <a:lstStyle/>
          <a:p>
            <a:pPr marL="0" indent="0">
              <a:buNone/>
            </a:pPr>
            <a:r>
              <a:rPr lang="en-US" sz="750" b="1" kern="0" spc="100" dirty="0">
                <a:solidFill>
                  <a:srgbClr val="006B6B"/>
                </a:solidFill>
              </a:rPr>
              <a:t>INVOICING RULES</a:t>
            </a:r>
            <a:endParaRPr lang="en-US" sz="750" dirty="0"/>
          </a:p>
        </p:txBody>
      </p:sp>
      <p:sp>
        <p:nvSpPr>
          <p:cNvPr id="52" name="Text 50"/>
          <p:cNvSpPr/>
          <p:nvPr/>
        </p:nvSpPr>
        <p:spPr>
          <a:xfrm>
            <a:off x="512064" y="3803904"/>
            <a:ext cx="8321040" cy="237744"/>
          </a:xfrm>
          <a:prstGeom prst="rect">
            <a:avLst/>
          </a:prstGeom>
          <a:noFill/>
          <a:ln/>
        </p:spPr>
        <p:txBody>
          <a:bodyPr wrap="square" lIns="0" tIns="0" rIns="0" bIns="0" rtlCol="0" anchor="ctr"/>
          <a:lstStyle/>
          <a:p>
            <a:pPr marL="0" indent="0">
              <a:buNone/>
            </a:pPr>
            <a:r>
              <a:rPr lang="en-US" sz="780" dirty="0">
                <a:solidFill>
                  <a:srgbClr val="1B2E4B"/>
                </a:solidFill>
              </a:rPr>
              <a:t>Large machines: invoiced only after technician confirms installation (no advance payments currently). Small machines: invoice on delivery. Annual maintenance service: invoiced yearly per contract. No discounts granted in any case.</a:t>
            </a:r>
            <a:endParaRPr lang="en-US" sz="780" dirty="0"/>
          </a:p>
        </p:txBody>
      </p:sp>
      <p:sp>
        <p:nvSpPr>
          <p:cNvPr id="53" name="Shape 51"/>
          <p:cNvSpPr/>
          <p:nvPr/>
        </p:nvSpPr>
        <p:spPr>
          <a:xfrm>
            <a:off x="411480" y="4133088"/>
            <a:ext cx="8503920" cy="475488"/>
          </a:xfrm>
          <a:prstGeom prst="rect">
            <a:avLst/>
          </a:prstGeom>
          <a:solidFill>
            <a:srgbClr val="FFFBEB"/>
          </a:solidFill>
          <a:ln w="6350">
            <a:solidFill>
              <a:srgbClr val="D97706"/>
            </a:solidFill>
            <a:prstDash val="solid"/>
          </a:ln>
        </p:spPr>
        <p:txBody>
          <a:bodyPr/>
          <a:lstStyle/>
          <a:p>
            <a:endParaRPr lang="en-DE"/>
          </a:p>
        </p:txBody>
      </p:sp>
      <p:sp>
        <p:nvSpPr>
          <p:cNvPr id="54" name="Shape 52"/>
          <p:cNvSpPr/>
          <p:nvPr/>
        </p:nvSpPr>
        <p:spPr>
          <a:xfrm>
            <a:off x="411480" y="4133088"/>
            <a:ext cx="36576" cy="475488"/>
          </a:xfrm>
          <a:prstGeom prst="rect">
            <a:avLst/>
          </a:prstGeom>
          <a:solidFill>
            <a:srgbClr val="D97706"/>
          </a:solidFill>
          <a:ln w="12700">
            <a:solidFill>
              <a:srgbClr val="D97706"/>
            </a:solidFill>
            <a:prstDash val="solid"/>
          </a:ln>
        </p:spPr>
        <p:txBody>
          <a:bodyPr/>
          <a:lstStyle/>
          <a:p>
            <a:endParaRPr lang="en-DE"/>
          </a:p>
        </p:txBody>
      </p:sp>
      <p:sp>
        <p:nvSpPr>
          <p:cNvPr id="55" name="Text 53"/>
          <p:cNvSpPr/>
          <p:nvPr/>
        </p:nvSpPr>
        <p:spPr>
          <a:xfrm>
            <a:off x="512064" y="4206240"/>
            <a:ext cx="8321040" cy="365760"/>
          </a:xfrm>
          <a:prstGeom prst="rect">
            <a:avLst/>
          </a:prstGeom>
          <a:noFill/>
          <a:ln/>
        </p:spPr>
        <p:txBody>
          <a:bodyPr wrap="square" lIns="0" tIns="0" rIns="0" bIns="0" rtlCol="0" anchor="ctr"/>
          <a:lstStyle/>
          <a:p>
            <a:pPr marL="0" indent="0">
              <a:buNone/>
            </a:pPr>
            <a:r>
              <a:rPr lang="en-US" sz="780" dirty="0">
                <a:solidFill>
                  <a:srgbClr val="1B2E4B"/>
                </a:solidFill>
              </a:rPr>
              <a:t>NO SERVICES ACQUIRED (currently) - but Reverse-Charge Procedure under § 13b UStG remains relevant if Strabam AG acquires services from non-established foreign suppliers in future. See Slide 14 - Reverse-Charge Radar.</a:t>
            </a:r>
            <a:endParaRPr lang="en-US" sz="780" dirty="0"/>
          </a:p>
        </p:txBody>
      </p:sp>
      <p:pic>
        <p:nvPicPr>
          <p:cNvPr id="56" name="Picture 55" descr="Datei:Flag of germany 800 480.png – Wikipedia">
            <a:extLst>
              <a:ext uri="{FF2B5EF4-FFF2-40B4-BE49-F238E27FC236}">
                <a16:creationId xmlns:a16="http://schemas.microsoft.com/office/drawing/2014/main" id="{B6E0A1B1-AAA8-3639-E675-B0C7EBA5E4D5}"/>
              </a:ext>
            </a:extLst>
          </p:cNvPr>
          <p:cNvPicPr>
            <a:picLocks noChangeAspect="1"/>
          </p:cNvPicPr>
          <p:nvPr/>
        </p:nvPicPr>
        <p:blipFill>
          <a:blip r:embed="rId3"/>
          <a:stretch>
            <a:fillRect/>
          </a:stretch>
        </p:blipFill>
        <p:spPr>
          <a:xfrm>
            <a:off x="2475857" y="1389036"/>
            <a:ext cx="401567" cy="241593"/>
          </a:xfrm>
          <a:prstGeom prst="rect">
            <a:avLst/>
          </a:prstGeom>
        </p:spPr>
      </p:pic>
      <p:pic>
        <p:nvPicPr>
          <p:cNvPr id="57" name="Picture 56" descr="Datei:Flag of China.png – Wikipedia">
            <a:extLst>
              <a:ext uri="{FF2B5EF4-FFF2-40B4-BE49-F238E27FC236}">
                <a16:creationId xmlns:a16="http://schemas.microsoft.com/office/drawing/2014/main" id="{1E117B29-D8F1-3C15-22C7-BD409A70E291}"/>
              </a:ext>
            </a:extLst>
          </p:cNvPr>
          <p:cNvPicPr>
            <a:picLocks noChangeAspect="1"/>
          </p:cNvPicPr>
          <p:nvPr/>
        </p:nvPicPr>
        <p:blipFill>
          <a:blip r:embed="rId4"/>
          <a:stretch>
            <a:fillRect/>
          </a:stretch>
        </p:blipFill>
        <p:spPr>
          <a:xfrm>
            <a:off x="696727" y="1381039"/>
            <a:ext cx="382373" cy="254816"/>
          </a:xfrm>
          <a:prstGeom prst="rect">
            <a:avLst/>
          </a:prstGeom>
        </p:spPr>
      </p:pic>
      <p:pic>
        <p:nvPicPr>
          <p:cNvPr id="58" name="Picture 57" descr="File:Flag of Spain.svg - Wikipedia">
            <a:extLst>
              <a:ext uri="{FF2B5EF4-FFF2-40B4-BE49-F238E27FC236}">
                <a16:creationId xmlns:a16="http://schemas.microsoft.com/office/drawing/2014/main" id="{6A7BBA5F-79A6-9DF9-AC7A-C25B26E41B82}"/>
              </a:ext>
            </a:extLst>
          </p:cNvPr>
          <p:cNvPicPr>
            <a:picLocks noChangeAspect="1"/>
          </p:cNvPicPr>
          <p:nvPr/>
        </p:nvPicPr>
        <p:blipFill>
          <a:blip r:embed="rId5"/>
          <a:stretch>
            <a:fillRect/>
          </a:stretch>
        </p:blipFill>
        <p:spPr>
          <a:xfrm>
            <a:off x="4307457" y="1381039"/>
            <a:ext cx="381243" cy="254162"/>
          </a:xfrm>
          <a:prstGeom prst="rect">
            <a:avLst/>
          </a:prstGeom>
        </p:spPr>
      </p:pic>
      <p:pic>
        <p:nvPicPr>
          <p:cNvPr id="60" name="Picture 59" descr="Datei:Flag of germany 800 480.png – Wikipedia">
            <a:extLst>
              <a:ext uri="{FF2B5EF4-FFF2-40B4-BE49-F238E27FC236}">
                <a16:creationId xmlns:a16="http://schemas.microsoft.com/office/drawing/2014/main" id="{32A004F6-BD72-CE10-0327-36E7C4A9DC17}"/>
              </a:ext>
            </a:extLst>
          </p:cNvPr>
          <p:cNvPicPr>
            <a:picLocks noChangeAspect="1"/>
          </p:cNvPicPr>
          <p:nvPr/>
        </p:nvPicPr>
        <p:blipFill>
          <a:blip r:embed="rId3"/>
          <a:stretch>
            <a:fillRect/>
          </a:stretch>
        </p:blipFill>
        <p:spPr>
          <a:xfrm>
            <a:off x="6143598" y="1385654"/>
            <a:ext cx="401567" cy="241593"/>
          </a:xfrm>
          <a:prstGeom prst="rect">
            <a:avLst/>
          </a:prstGeom>
        </p:spPr>
      </p:pic>
      <p:pic>
        <p:nvPicPr>
          <p:cNvPr id="61" name="Picture 60" descr="Datei:Flag of germany 800 480.png – Wikipedia">
            <a:extLst>
              <a:ext uri="{FF2B5EF4-FFF2-40B4-BE49-F238E27FC236}">
                <a16:creationId xmlns:a16="http://schemas.microsoft.com/office/drawing/2014/main" id="{391BEDD0-0569-760A-F433-5231D8721276}"/>
              </a:ext>
            </a:extLst>
          </p:cNvPr>
          <p:cNvPicPr>
            <a:picLocks noChangeAspect="1"/>
          </p:cNvPicPr>
          <p:nvPr/>
        </p:nvPicPr>
        <p:blipFill>
          <a:blip r:embed="rId3"/>
          <a:stretch>
            <a:fillRect/>
          </a:stretch>
        </p:blipFill>
        <p:spPr>
          <a:xfrm>
            <a:off x="7819995" y="1389042"/>
            <a:ext cx="401567" cy="241593"/>
          </a:xfrm>
          <a:prstGeom prst="rect">
            <a:avLst/>
          </a:prstGeom>
        </p:spPr>
      </p:pic>
      <p:pic>
        <p:nvPicPr>
          <p:cNvPr id="62" name="Picture 61" descr="File:Flag of Poland.svg - Wikimedia Commons">
            <a:extLst>
              <a:ext uri="{FF2B5EF4-FFF2-40B4-BE49-F238E27FC236}">
                <a16:creationId xmlns:a16="http://schemas.microsoft.com/office/drawing/2014/main" id="{76D46B17-4087-2F94-6E49-63023EDBC612}"/>
              </a:ext>
            </a:extLst>
          </p:cNvPr>
          <p:cNvPicPr>
            <a:picLocks noChangeAspect="1"/>
          </p:cNvPicPr>
          <p:nvPr/>
        </p:nvPicPr>
        <p:blipFill>
          <a:blip r:embed="rId6"/>
          <a:stretch>
            <a:fillRect/>
          </a:stretch>
        </p:blipFill>
        <p:spPr>
          <a:xfrm>
            <a:off x="688171" y="2579794"/>
            <a:ext cx="406659" cy="254162"/>
          </a:xfrm>
          <a:prstGeom prst="rect">
            <a:avLst/>
          </a:prstGeom>
        </p:spPr>
      </p:pic>
      <p:pic>
        <p:nvPicPr>
          <p:cNvPr id="63" name="Picture 62" descr="File:Flag of Poland.svg - Wikimedia Commons">
            <a:extLst>
              <a:ext uri="{FF2B5EF4-FFF2-40B4-BE49-F238E27FC236}">
                <a16:creationId xmlns:a16="http://schemas.microsoft.com/office/drawing/2014/main" id="{B021FE4C-8068-42F9-7FB5-956050D37D88}"/>
              </a:ext>
            </a:extLst>
          </p:cNvPr>
          <p:cNvPicPr>
            <a:picLocks noChangeAspect="1"/>
          </p:cNvPicPr>
          <p:nvPr/>
        </p:nvPicPr>
        <p:blipFill>
          <a:blip r:embed="rId6"/>
          <a:stretch>
            <a:fillRect/>
          </a:stretch>
        </p:blipFill>
        <p:spPr>
          <a:xfrm>
            <a:off x="3157047" y="2576411"/>
            <a:ext cx="406659" cy="254162"/>
          </a:xfrm>
          <a:prstGeom prst="rect">
            <a:avLst/>
          </a:prstGeom>
        </p:spPr>
      </p:pic>
      <p:pic>
        <p:nvPicPr>
          <p:cNvPr id="64" name="Picture 63" descr="File:Flag of Europe.svg - Wikipedia">
            <a:extLst>
              <a:ext uri="{FF2B5EF4-FFF2-40B4-BE49-F238E27FC236}">
                <a16:creationId xmlns:a16="http://schemas.microsoft.com/office/drawing/2014/main" id="{947A890C-027E-B10B-B8FE-E0E0B7852F31}"/>
              </a:ext>
            </a:extLst>
          </p:cNvPr>
          <p:cNvPicPr>
            <a:picLocks noChangeAspect="1"/>
          </p:cNvPicPr>
          <p:nvPr/>
        </p:nvPicPr>
        <p:blipFill>
          <a:blip r:embed="rId7"/>
          <a:stretch>
            <a:fillRect/>
          </a:stretch>
        </p:blipFill>
        <p:spPr>
          <a:xfrm>
            <a:off x="5527453" y="2573013"/>
            <a:ext cx="381243" cy="2541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6400800" y="100584"/>
            <a:ext cx="1280160" cy="292608"/>
          </a:xfrm>
          <a:prstGeom prst="rect">
            <a:avLst/>
          </a:prstGeom>
          <a:solidFill>
            <a:srgbClr val="15803D"/>
          </a:solidFill>
          <a:ln w="12700">
            <a:solidFill>
              <a:srgbClr val="15803D"/>
            </a:solidFill>
            <a:prstDash val="solid"/>
          </a:ln>
        </p:spPr>
        <p:txBody>
          <a:bodyPr/>
          <a:lstStyle/>
          <a:p>
            <a:endParaRPr lang="en-DE"/>
          </a:p>
        </p:txBody>
      </p:sp>
      <p:sp>
        <p:nvSpPr>
          <p:cNvPr id="4" name="Text 2"/>
          <p:cNvSpPr/>
          <p:nvPr/>
        </p:nvSpPr>
        <p:spPr>
          <a:xfrm>
            <a:off x="6400800" y="100584"/>
            <a:ext cx="1280160" cy="292608"/>
          </a:xfrm>
          <a:prstGeom prst="rect">
            <a:avLst/>
          </a:prstGeom>
          <a:noFill/>
          <a:ln/>
        </p:spPr>
        <p:txBody>
          <a:bodyPr wrap="square" lIns="0" tIns="0" rIns="0" bIns="0" rtlCol="0" anchor="ctr"/>
          <a:lstStyle/>
          <a:p>
            <a:pPr marL="0" indent="0" algn="ctr">
              <a:buNone/>
            </a:pPr>
            <a:r>
              <a:rPr lang="en-US" sz="750" b="1" dirty="0">
                <a:solidFill>
                  <a:srgbClr val="FFFFFF"/>
                </a:solidFill>
              </a:rPr>
              <a:t>RISK: LOW</a:t>
            </a:r>
            <a:endParaRPr lang="en-US" sz="750" dirty="0"/>
          </a:p>
        </p:txBody>
      </p:sp>
      <p:sp>
        <p:nvSpPr>
          <p:cNvPr id="5" name="Shape 3"/>
          <p:cNvSpPr/>
          <p:nvPr/>
        </p:nvSpPr>
        <p:spPr>
          <a:xfrm>
            <a:off x="7772400" y="100584"/>
            <a:ext cx="1234440" cy="292608"/>
          </a:xfrm>
          <a:prstGeom prst="rect">
            <a:avLst/>
          </a:prstGeom>
          <a:solidFill>
            <a:srgbClr val="D97706"/>
          </a:solidFill>
          <a:ln w="12700">
            <a:solidFill>
              <a:srgbClr val="D97706"/>
            </a:solidFill>
            <a:prstDash val="solid"/>
          </a:ln>
        </p:spPr>
        <p:txBody>
          <a:bodyPr/>
          <a:lstStyle/>
          <a:p>
            <a:endParaRPr lang="en-DE"/>
          </a:p>
        </p:txBody>
      </p:sp>
      <p:sp>
        <p:nvSpPr>
          <p:cNvPr id="6" name="Text 4"/>
          <p:cNvSpPr/>
          <p:nvPr/>
        </p:nvSpPr>
        <p:spPr>
          <a:xfrm>
            <a:off x="7772400" y="100584"/>
            <a:ext cx="1234440" cy="292608"/>
          </a:xfrm>
          <a:prstGeom prst="rect">
            <a:avLst/>
          </a:prstGeom>
          <a:noFill/>
          <a:ln/>
        </p:spPr>
        <p:txBody>
          <a:bodyPr wrap="square" lIns="0" tIns="0" rIns="0" bIns="0" rtlCol="0" anchor="ctr"/>
          <a:lstStyle/>
          <a:p>
            <a:pPr marL="0" indent="0" algn="ctr">
              <a:buNone/>
            </a:pPr>
            <a:r>
              <a:rPr lang="en-US" sz="750" b="1" dirty="0">
                <a:solidFill>
                  <a:srgbClr val="FFFFFF"/>
                </a:solidFill>
              </a:rPr>
              <a:t>PRIORITY: MEDIUM</a:t>
            </a:r>
            <a:endParaRPr lang="en-US" sz="750" dirty="0"/>
          </a:p>
        </p:txBody>
      </p:sp>
      <p:sp>
        <p:nvSpPr>
          <p:cNvPr id="7" name="Shape 5"/>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8" name="Text 6"/>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9" name="Text 7"/>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TRANSACTION ANALYSIS</a:t>
            </a:r>
            <a:endParaRPr lang="en-US" sz="700" dirty="0"/>
          </a:p>
        </p:txBody>
      </p:sp>
      <p:sp>
        <p:nvSpPr>
          <p:cNvPr id="10" name="Text 8"/>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7 / 23</a:t>
            </a:r>
            <a:endParaRPr lang="en-US" sz="700" dirty="0"/>
          </a:p>
        </p:txBody>
      </p:sp>
      <p:sp>
        <p:nvSpPr>
          <p:cNvPr id="11" name="Text 9"/>
          <p:cNvSpPr/>
          <p:nvPr/>
        </p:nvSpPr>
        <p:spPr>
          <a:xfrm>
            <a:off x="411480" y="137160"/>
            <a:ext cx="6400800" cy="201168"/>
          </a:xfrm>
          <a:prstGeom prst="rect">
            <a:avLst/>
          </a:prstGeom>
          <a:noFill/>
          <a:ln/>
        </p:spPr>
        <p:txBody>
          <a:bodyPr wrap="square" lIns="0" tIns="0" rIns="0" bIns="0" rtlCol="0" anchor="ctr"/>
          <a:lstStyle/>
          <a:p>
            <a:r>
              <a:rPr lang="en-US" sz="800" b="1" kern="0" spc="200" dirty="0">
                <a:solidFill>
                  <a:srgbClr val="006B6B"/>
                </a:solidFill>
              </a:rPr>
              <a:t>03 | TRANSACTION ANALYSIS</a:t>
            </a:r>
            <a:endParaRPr lang="en-US" sz="800" dirty="0"/>
          </a:p>
        </p:txBody>
      </p:sp>
      <p:sp>
        <p:nvSpPr>
          <p:cNvPr id="12" name="Text 10"/>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T1: Import of Steel - China → Germany</a:t>
            </a:r>
            <a:endParaRPr lang="en-US" sz="2100" dirty="0"/>
          </a:p>
        </p:txBody>
      </p:sp>
      <p:sp>
        <p:nvSpPr>
          <p:cNvPr id="13" name="Text 11"/>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Strabam AG as Importer of Record | German Customs (Zoll) clearance | Raw steel for manufacturing &amp; assembly</a:t>
            </a:r>
            <a:endParaRPr lang="en-US" sz="950" dirty="0"/>
          </a:p>
        </p:txBody>
      </p:sp>
      <p:sp>
        <p:nvSpPr>
          <p:cNvPr id="14" name="Shape 12"/>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5" name="Shape 13"/>
          <p:cNvSpPr/>
          <p:nvPr/>
        </p:nvSpPr>
        <p:spPr>
          <a:xfrm>
            <a:off x="274320" y="1170432"/>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16" name="Shape 14"/>
          <p:cNvSpPr/>
          <p:nvPr/>
        </p:nvSpPr>
        <p:spPr>
          <a:xfrm>
            <a:off x="274320" y="1170432"/>
            <a:ext cx="36576" cy="621792"/>
          </a:xfrm>
          <a:prstGeom prst="rect">
            <a:avLst/>
          </a:prstGeom>
          <a:solidFill>
            <a:srgbClr val="006B6B"/>
          </a:solidFill>
          <a:ln w="12700">
            <a:solidFill>
              <a:srgbClr val="006B6B"/>
            </a:solidFill>
            <a:prstDash val="solid"/>
          </a:ln>
        </p:spPr>
        <p:txBody>
          <a:bodyPr/>
          <a:lstStyle/>
          <a:p>
            <a:endParaRPr lang="en-DE"/>
          </a:p>
        </p:txBody>
      </p:sp>
      <p:sp>
        <p:nvSpPr>
          <p:cNvPr id="17" name="Text 15"/>
          <p:cNvSpPr/>
          <p:nvPr/>
        </p:nvSpPr>
        <p:spPr>
          <a:xfrm>
            <a:off x="365760" y="1207008"/>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TAXABILITY</a:t>
            </a:r>
            <a:endParaRPr lang="en-US" sz="650" dirty="0"/>
          </a:p>
        </p:txBody>
      </p:sp>
      <p:sp>
        <p:nvSpPr>
          <p:cNvPr id="18" name="Text 16"/>
          <p:cNvSpPr/>
          <p:nvPr/>
        </p:nvSpPr>
        <p:spPr>
          <a:xfrm>
            <a:off x="365760" y="1389888"/>
            <a:ext cx="4023360" cy="365760"/>
          </a:xfrm>
          <a:prstGeom prst="rect">
            <a:avLst/>
          </a:prstGeom>
          <a:noFill/>
          <a:ln/>
        </p:spPr>
        <p:txBody>
          <a:bodyPr wrap="square" lIns="0" tIns="0" rIns="0" bIns="0" rtlCol="0" anchor="ctr"/>
          <a:lstStyle/>
          <a:p>
            <a:pPr marL="0" indent="0">
              <a:buNone/>
            </a:pPr>
            <a:r>
              <a:rPr lang="en-US" sz="750" dirty="0">
                <a:solidFill>
                  <a:srgbClr val="1B2E4B"/>
                </a:solidFill>
              </a:rPr>
              <a:t>§ 1 Abs. 1 Nr. 4 </a:t>
            </a:r>
            <a:r>
              <a:rPr lang="en-US" sz="750" dirty="0" err="1">
                <a:solidFill>
                  <a:srgbClr val="1B2E4B"/>
                </a:solidFill>
              </a:rPr>
              <a:t>UStG</a:t>
            </a:r>
            <a:r>
              <a:rPr lang="en-US" sz="750" dirty="0">
                <a:solidFill>
                  <a:srgbClr val="1B2E4B"/>
                </a:solidFill>
              </a:rPr>
              <a:t> - Importation of goods from a third-country territory (Drittlandsgebiet) into Germany constitutes a taxable event (Einfuhr). China is outside the EU VAT territory; the import of steel is therefore within the scope of German VAT (Umsatzsteuer).</a:t>
            </a:r>
            <a:endParaRPr lang="en-US" sz="750" dirty="0"/>
          </a:p>
        </p:txBody>
      </p:sp>
      <p:sp>
        <p:nvSpPr>
          <p:cNvPr id="19" name="Shape 17"/>
          <p:cNvSpPr/>
          <p:nvPr/>
        </p:nvSpPr>
        <p:spPr>
          <a:xfrm>
            <a:off x="4599432" y="1170432"/>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0" name="Shape 18"/>
          <p:cNvSpPr/>
          <p:nvPr/>
        </p:nvSpPr>
        <p:spPr>
          <a:xfrm>
            <a:off x="4599432" y="1170432"/>
            <a:ext cx="36576" cy="621792"/>
          </a:xfrm>
          <a:prstGeom prst="rect">
            <a:avLst/>
          </a:prstGeom>
          <a:solidFill>
            <a:srgbClr val="006B6B"/>
          </a:solidFill>
          <a:ln w="12700">
            <a:solidFill>
              <a:srgbClr val="006B6B"/>
            </a:solidFill>
            <a:prstDash val="solid"/>
          </a:ln>
        </p:spPr>
        <p:txBody>
          <a:bodyPr/>
          <a:lstStyle/>
          <a:p>
            <a:endParaRPr lang="en-DE"/>
          </a:p>
        </p:txBody>
      </p:sp>
      <p:sp>
        <p:nvSpPr>
          <p:cNvPr id="21" name="Text 19"/>
          <p:cNvSpPr/>
          <p:nvPr/>
        </p:nvSpPr>
        <p:spPr>
          <a:xfrm>
            <a:off x="4690872" y="1207008"/>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PLACE OF SUPPLY</a:t>
            </a:r>
            <a:endParaRPr lang="en-US" sz="650" dirty="0"/>
          </a:p>
        </p:txBody>
      </p:sp>
      <p:sp>
        <p:nvSpPr>
          <p:cNvPr id="22" name="Text 20"/>
          <p:cNvSpPr/>
          <p:nvPr/>
        </p:nvSpPr>
        <p:spPr>
          <a:xfrm>
            <a:off x="4690872" y="1389888"/>
            <a:ext cx="4023360" cy="365760"/>
          </a:xfrm>
          <a:prstGeom prst="rect">
            <a:avLst/>
          </a:prstGeom>
          <a:noFill/>
          <a:ln/>
        </p:spPr>
        <p:txBody>
          <a:bodyPr wrap="square" lIns="0" tIns="0" rIns="0" bIns="0" rtlCol="0" anchor="ctr"/>
          <a:lstStyle/>
          <a:p>
            <a:pPr marL="0" indent="0">
              <a:buNone/>
            </a:pPr>
            <a:r>
              <a:rPr lang="en-US" sz="750" dirty="0">
                <a:solidFill>
                  <a:srgbClr val="1B2E4B"/>
                </a:solidFill>
              </a:rPr>
              <a:t>§ 3 Abs. 8 </a:t>
            </a:r>
            <a:r>
              <a:rPr lang="en-US" sz="750" dirty="0" err="1">
                <a:solidFill>
                  <a:srgbClr val="1B2E4B"/>
                </a:solidFill>
              </a:rPr>
              <a:t>UStG</a:t>
            </a:r>
            <a:r>
              <a:rPr lang="en-US" sz="750" dirty="0">
                <a:solidFill>
                  <a:srgbClr val="1B2E4B"/>
                </a:solidFill>
              </a:rPr>
              <a:t> - Place of supply is where goods are released into free circulation. Steel is cleared through German Customs (Zoll); therefore Germany is the place of importation and taxation.</a:t>
            </a:r>
            <a:endParaRPr lang="en-US" sz="750" dirty="0"/>
          </a:p>
        </p:txBody>
      </p:sp>
      <p:sp>
        <p:nvSpPr>
          <p:cNvPr id="23" name="Shape 21"/>
          <p:cNvSpPr/>
          <p:nvPr/>
        </p:nvSpPr>
        <p:spPr>
          <a:xfrm>
            <a:off x="274320" y="1828800"/>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4" name="Shape 22"/>
          <p:cNvSpPr/>
          <p:nvPr/>
        </p:nvSpPr>
        <p:spPr>
          <a:xfrm>
            <a:off x="274320" y="1828800"/>
            <a:ext cx="36576" cy="621792"/>
          </a:xfrm>
          <a:prstGeom prst="rect">
            <a:avLst/>
          </a:prstGeom>
          <a:solidFill>
            <a:srgbClr val="006B6B"/>
          </a:solidFill>
          <a:ln w="12700">
            <a:solidFill>
              <a:srgbClr val="006B6B"/>
            </a:solidFill>
            <a:prstDash val="solid"/>
          </a:ln>
        </p:spPr>
        <p:txBody>
          <a:bodyPr/>
          <a:lstStyle/>
          <a:p>
            <a:endParaRPr lang="en-DE"/>
          </a:p>
        </p:txBody>
      </p:sp>
      <p:sp>
        <p:nvSpPr>
          <p:cNvPr id="25" name="Text 23"/>
          <p:cNvSpPr/>
          <p:nvPr/>
        </p:nvSpPr>
        <p:spPr>
          <a:xfrm>
            <a:off x="365760" y="1865376"/>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TAXABLE AMOUNT</a:t>
            </a:r>
            <a:endParaRPr lang="en-US" sz="650" dirty="0"/>
          </a:p>
        </p:txBody>
      </p:sp>
      <p:sp>
        <p:nvSpPr>
          <p:cNvPr id="26" name="Text 24"/>
          <p:cNvSpPr/>
          <p:nvPr/>
        </p:nvSpPr>
        <p:spPr>
          <a:xfrm>
            <a:off x="365760" y="2048256"/>
            <a:ext cx="4023360" cy="365760"/>
          </a:xfrm>
          <a:prstGeom prst="rect">
            <a:avLst/>
          </a:prstGeom>
          <a:noFill/>
          <a:ln/>
        </p:spPr>
        <p:txBody>
          <a:bodyPr wrap="square" lIns="0" tIns="0" rIns="0" bIns="0" rtlCol="0" anchor="ctr"/>
          <a:lstStyle/>
          <a:p>
            <a:pPr marL="0" indent="0">
              <a:buNone/>
            </a:pPr>
            <a:r>
              <a:rPr lang="en-US" sz="750" dirty="0">
                <a:solidFill>
                  <a:srgbClr val="1B2E4B"/>
                </a:solidFill>
              </a:rPr>
              <a:t>§ 11 </a:t>
            </a:r>
            <a:r>
              <a:rPr lang="en-US" sz="750" dirty="0" err="1">
                <a:solidFill>
                  <a:srgbClr val="1B2E4B"/>
                </a:solidFill>
              </a:rPr>
              <a:t>UStG</a:t>
            </a:r>
            <a:r>
              <a:rPr lang="en-US" sz="750" dirty="0">
                <a:solidFill>
                  <a:srgbClr val="1B2E4B"/>
                </a:solidFill>
              </a:rPr>
              <a:t> - Customs Value (Zollwert) = cost of goods + freight (Frachtkosten) + insurance (Versicherung) from origin to first German destination, plus: (a) Customs Duties (Zölle), (b) Excise Duties (Verbrauchsteuern) if applicable, (c) inland transport costs to first German destination.</a:t>
            </a:r>
            <a:endParaRPr lang="en-US" sz="750" dirty="0"/>
          </a:p>
        </p:txBody>
      </p:sp>
      <p:sp>
        <p:nvSpPr>
          <p:cNvPr id="27" name="Shape 25"/>
          <p:cNvSpPr/>
          <p:nvPr/>
        </p:nvSpPr>
        <p:spPr>
          <a:xfrm>
            <a:off x="4599432" y="1828800"/>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8" name="Shape 26"/>
          <p:cNvSpPr/>
          <p:nvPr/>
        </p:nvSpPr>
        <p:spPr>
          <a:xfrm>
            <a:off x="4599432" y="1828800"/>
            <a:ext cx="36576" cy="621792"/>
          </a:xfrm>
          <a:prstGeom prst="rect">
            <a:avLst/>
          </a:prstGeom>
          <a:solidFill>
            <a:srgbClr val="006B6B"/>
          </a:solidFill>
          <a:ln w="12700">
            <a:solidFill>
              <a:srgbClr val="006B6B"/>
            </a:solidFill>
            <a:prstDash val="solid"/>
          </a:ln>
        </p:spPr>
        <p:txBody>
          <a:bodyPr/>
          <a:lstStyle/>
          <a:p>
            <a:endParaRPr lang="en-DE"/>
          </a:p>
        </p:txBody>
      </p:sp>
      <p:sp>
        <p:nvSpPr>
          <p:cNvPr id="29" name="Text 27"/>
          <p:cNvSpPr/>
          <p:nvPr/>
        </p:nvSpPr>
        <p:spPr>
          <a:xfrm>
            <a:off x="4690872" y="1865376"/>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VAT RATE</a:t>
            </a:r>
            <a:endParaRPr lang="en-US" sz="650" dirty="0"/>
          </a:p>
        </p:txBody>
      </p:sp>
      <p:sp>
        <p:nvSpPr>
          <p:cNvPr id="30" name="Text 28"/>
          <p:cNvSpPr/>
          <p:nvPr/>
        </p:nvSpPr>
        <p:spPr>
          <a:xfrm>
            <a:off x="4690872" y="2048256"/>
            <a:ext cx="4023360" cy="365760"/>
          </a:xfrm>
          <a:prstGeom prst="rect">
            <a:avLst/>
          </a:prstGeom>
          <a:noFill/>
          <a:ln/>
        </p:spPr>
        <p:txBody>
          <a:bodyPr wrap="square" lIns="0" tIns="0" rIns="0" bIns="0" rtlCol="0" anchor="ctr"/>
          <a:lstStyle/>
          <a:p>
            <a:pPr marL="0" indent="0">
              <a:buNone/>
            </a:pPr>
            <a:r>
              <a:rPr lang="en-US" sz="750" dirty="0">
                <a:solidFill>
                  <a:srgbClr val="1B2E4B"/>
                </a:solidFill>
              </a:rPr>
              <a:t>19% - Standard rate (Regelsteuersatz) under § 12 Abs. 1 UStG. No reduced rate applies to raw steel products. Import VAT (Einfuhrumsatzsteuer / EUSt) is assessed and collected by German Customs.</a:t>
            </a:r>
            <a:endParaRPr lang="en-US" sz="750" dirty="0"/>
          </a:p>
        </p:txBody>
      </p:sp>
      <p:sp>
        <p:nvSpPr>
          <p:cNvPr id="31" name="Shape 29"/>
          <p:cNvSpPr/>
          <p:nvPr/>
        </p:nvSpPr>
        <p:spPr>
          <a:xfrm>
            <a:off x="274320" y="2487168"/>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2" name="Shape 30"/>
          <p:cNvSpPr/>
          <p:nvPr/>
        </p:nvSpPr>
        <p:spPr>
          <a:xfrm>
            <a:off x="274320" y="2487168"/>
            <a:ext cx="36576" cy="621792"/>
          </a:xfrm>
          <a:prstGeom prst="rect">
            <a:avLst/>
          </a:prstGeom>
          <a:solidFill>
            <a:srgbClr val="006B6B"/>
          </a:solidFill>
          <a:ln w="12700">
            <a:solidFill>
              <a:srgbClr val="006B6B"/>
            </a:solidFill>
            <a:prstDash val="solid"/>
          </a:ln>
        </p:spPr>
        <p:txBody>
          <a:bodyPr/>
          <a:lstStyle/>
          <a:p>
            <a:endParaRPr lang="en-DE"/>
          </a:p>
        </p:txBody>
      </p:sp>
      <p:sp>
        <p:nvSpPr>
          <p:cNvPr id="33" name="Text 31"/>
          <p:cNvSpPr/>
          <p:nvPr/>
        </p:nvSpPr>
        <p:spPr>
          <a:xfrm>
            <a:off x="365760" y="2523744"/>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TIME OF TAXATION</a:t>
            </a:r>
            <a:endParaRPr lang="en-US" sz="650" dirty="0"/>
          </a:p>
        </p:txBody>
      </p:sp>
      <p:sp>
        <p:nvSpPr>
          <p:cNvPr id="34" name="Text 32"/>
          <p:cNvSpPr/>
          <p:nvPr/>
        </p:nvSpPr>
        <p:spPr>
          <a:xfrm>
            <a:off x="365760" y="2706624"/>
            <a:ext cx="4023360" cy="365760"/>
          </a:xfrm>
          <a:prstGeom prst="rect">
            <a:avLst/>
          </a:prstGeom>
          <a:noFill/>
          <a:ln/>
        </p:spPr>
        <p:txBody>
          <a:bodyPr wrap="square" lIns="0" tIns="0" rIns="0" bIns="0" rtlCol="0" anchor="ctr"/>
          <a:lstStyle/>
          <a:p>
            <a:pPr marL="0" indent="0">
              <a:buNone/>
            </a:pPr>
            <a:r>
              <a:rPr lang="en-US" sz="750" dirty="0">
                <a:solidFill>
                  <a:srgbClr val="1B2E4B"/>
                </a:solidFill>
              </a:rPr>
              <a:t>§ 21 Abs. 2 UStG in conjunction with Art. 77 Union Customs Code (Unionszollkodex / UZK) - VAT liability arises upon release of goods into free circulation (Überlassung zum zollrechtlich freien Verkehr), i.e. upon completion of customs clearance.</a:t>
            </a:r>
            <a:endParaRPr lang="en-US" sz="750" dirty="0"/>
          </a:p>
        </p:txBody>
      </p:sp>
      <p:sp>
        <p:nvSpPr>
          <p:cNvPr id="35" name="Shape 33"/>
          <p:cNvSpPr/>
          <p:nvPr/>
        </p:nvSpPr>
        <p:spPr>
          <a:xfrm>
            <a:off x="4599432" y="2487168"/>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6" name="Shape 34"/>
          <p:cNvSpPr/>
          <p:nvPr/>
        </p:nvSpPr>
        <p:spPr>
          <a:xfrm>
            <a:off x="4599432" y="2487168"/>
            <a:ext cx="36576" cy="621792"/>
          </a:xfrm>
          <a:prstGeom prst="rect">
            <a:avLst/>
          </a:prstGeom>
          <a:solidFill>
            <a:srgbClr val="006B6B"/>
          </a:solidFill>
          <a:ln w="12700">
            <a:solidFill>
              <a:srgbClr val="006B6B"/>
            </a:solidFill>
            <a:prstDash val="solid"/>
          </a:ln>
        </p:spPr>
        <p:txBody>
          <a:bodyPr/>
          <a:lstStyle/>
          <a:p>
            <a:endParaRPr lang="en-DE"/>
          </a:p>
        </p:txBody>
      </p:sp>
      <p:sp>
        <p:nvSpPr>
          <p:cNvPr id="37" name="Text 35"/>
          <p:cNvSpPr/>
          <p:nvPr/>
        </p:nvSpPr>
        <p:spPr>
          <a:xfrm>
            <a:off x="4690872" y="2523744"/>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PERSON LIABLE FOR VAT</a:t>
            </a:r>
            <a:endParaRPr lang="en-US" sz="650" dirty="0"/>
          </a:p>
        </p:txBody>
      </p:sp>
      <p:sp>
        <p:nvSpPr>
          <p:cNvPr id="38" name="Text 36"/>
          <p:cNvSpPr/>
          <p:nvPr/>
        </p:nvSpPr>
        <p:spPr>
          <a:xfrm>
            <a:off x="4690872" y="2706624"/>
            <a:ext cx="4023360" cy="365760"/>
          </a:xfrm>
          <a:prstGeom prst="rect">
            <a:avLst/>
          </a:prstGeom>
          <a:noFill/>
          <a:ln/>
        </p:spPr>
        <p:txBody>
          <a:bodyPr wrap="square" lIns="0" tIns="0" rIns="0" bIns="0" rtlCol="0" anchor="ctr"/>
          <a:lstStyle/>
          <a:p>
            <a:pPr marL="0" indent="0">
              <a:buNone/>
            </a:pPr>
            <a:r>
              <a:rPr lang="en-US" sz="750" dirty="0">
                <a:solidFill>
                  <a:srgbClr val="1B2E4B"/>
                </a:solidFill>
              </a:rPr>
              <a:t>§ 13a </a:t>
            </a:r>
            <a:r>
              <a:rPr lang="en-US" sz="750" dirty="0" err="1">
                <a:solidFill>
                  <a:srgbClr val="1B2E4B"/>
                </a:solidFill>
              </a:rPr>
              <a:t>UStG</a:t>
            </a:r>
            <a:r>
              <a:rPr lang="en-US" sz="750" dirty="0">
                <a:solidFill>
                  <a:srgbClr val="1B2E4B"/>
                </a:solidFill>
              </a:rPr>
              <a:t> - Strabam AG is liable for import VAT as the Importer of Record (Anmelder) named in the customs declaration (Zollanmeldung). VAT is paid upon clearance or via approved customs deferment account (Aufschubkonto).</a:t>
            </a:r>
            <a:endParaRPr lang="en-US" sz="750" dirty="0"/>
          </a:p>
        </p:txBody>
      </p:sp>
      <p:sp>
        <p:nvSpPr>
          <p:cNvPr id="39" name="Shape 37"/>
          <p:cNvSpPr/>
          <p:nvPr/>
        </p:nvSpPr>
        <p:spPr>
          <a:xfrm>
            <a:off x="274320" y="3152547"/>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0" name="Shape 38"/>
          <p:cNvSpPr/>
          <p:nvPr/>
        </p:nvSpPr>
        <p:spPr>
          <a:xfrm>
            <a:off x="274320" y="3176016"/>
            <a:ext cx="36576" cy="621792"/>
          </a:xfrm>
          <a:prstGeom prst="rect">
            <a:avLst/>
          </a:prstGeom>
          <a:solidFill>
            <a:srgbClr val="006B6B"/>
          </a:solidFill>
          <a:ln w="12700">
            <a:solidFill>
              <a:srgbClr val="006B6B"/>
            </a:solidFill>
            <a:prstDash val="solid"/>
          </a:ln>
        </p:spPr>
        <p:txBody>
          <a:bodyPr/>
          <a:lstStyle/>
          <a:p>
            <a:endParaRPr lang="en-DE"/>
          </a:p>
        </p:txBody>
      </p:sp>
      <p:sp>
        <p:nvSpPr>
          <p:cNvPr id="41" name="Text 39"/>
          <p:cNvSpPr/>
          <p:nvPr/>
        </p:nvSpPr>
        <p:spPr>
          <a:xfrm>
            <a:off x="365760" y="3182112"/>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INPUT VAT DEDUCTION</a:t>
            </a:r>
            <a:endParaRPr lang="en-US" sz="650" dirty="0"/>
          </a:p>
        </p:txBody>
      </p:sp>
      <p:sp>
        <p:nvSpPr>
          <p:cNvPr id="42" name="Text 40"/>
          <p:cNvSpPr/>
          <p:nvPr/>
        </p:nvSpPr>
        <p:spPr>
          <a:xfrm>
            <a:off x="365760" y="3364992"/>
            <a:ext cx="4023360" cy="365760"/>
          </a:xfrm>
          <a:prstGeom prst="rect">
            <a:avLst/>
          </a:prstGeom>
          <a:noFill/>
          <a:ln/>
        </p:spPr>
        <p:txBody>
          <a:bodyPr wrap="square" lIns="0" tIns="0" rIns="0" bIns="0" rtlCol="0" anchor="ctr"/>
          <a:lstStyle/>
          <a:p>
            <a:pPr marL="0" indent="0">
              <a:buNone/>
            </a:pPr>
            <a:r>
              <a:rPr lang="en-US" sz="750" dirty="0">
                <a:solidFill>
                  <a:srgbClr val="1B2E4B"/>
                </a:solidFill>
              </a:rPr>
              <a:t>§ 15 Abs. 1 Nr. 2 </a:t>
            </a:r>
            <a:r>
              <a:rPr lang="en-US" sz="750" dirty="0" err="1">
                <a:solidFill>
                  <a:srgbClr val="1B2E4B"/>
                </a:solidFill>
              </a:rPr>
              <a:t>UStG</a:t>
            </a:r>
            <a:r>
              <a:rPr lang="en-US" sz="750" dirty="0">
                <a:solidFill>
                  <a:srgbClr val="1B2E4B"/>
                </a:solidFill>
              </a:rPr>
              <a:t> - Import VAT is fully deductible as input VAT (Vorsteuer) provided: (a) goods are imported for business purposes, (b) VAT has legally arisen, (c) Strabam AG holds a valid Import Tax Assessment Notice (Einfuhrabgabenbescheid) from customs. Steel is used for taxable B2B supplies → full deduction available.</a:t>
            </a:r>
            <a:endParaRPr lang="en-US" sz="750" dirty="0"/>
          </a:p>
        </p:txBody>
      </p:sp>
      <p:sp>
        <p:nvSpPr>
          <p:cNvPr id="43" name="Shape 41"/>
          <p:cNvSpPr/>
          <p:nvPr/>
        </p:nvSpPr>
        <p:spPr>
          <a:xfrm>
            <a:off x="4599432" y="3152547"/>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4" name="Shape 42"/>
          <p:cNvSpPr/>
          <p:nvPr/>
        </p:nvSpPr>
        <p:spPr>
          <a:xfrm>
            <a:off x="4599432" y="3176016"/>
            <a:ext cx="36576" cy="621792"/>
          </a:xfrm>
          <a:prstGeom prst="rect">
            <a:avLst/>
          </a:prstGeom>
          <a:solidFill>
            <a:srgbClr val="006B6B"/>
          </a:solidFill>
          <a:ln w="12700">
            <a:solidFill>
              <a:srgbClr val="006B6B"/>
            </a:solidFill>
            <a:prstDash val="solid"/>
          </a:ln>
        </p:spPr>
        <p:txBody>
          <a:bodyPr/>
          <a:lstStyle/>
          <a:p>
            <a:endParaRPr lang="en-DE"/>
          </a:p>
        </p:txBody>
      </p:sp>
      <p:sp>
        <p:nvSpPr>
          <p:cNvPr id="45" name="Text 43"/>
          <p:cNvSpPr/>
          <p:nvPr/>
        </p:nvSpPr>
        <p:spPr>
          <a:xfrm>
            <a:off x="4690872" y="3182112"/>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FILING &amp; COMPLIANCE</a:t>
            </a:r>
            <a:endParaRPr lang="en-US" sz="650" dirty="0"/>
          </a:p>
        </p:txBody>
      </p:sp>
      <p:sp>
        <p:nvSpPr>
          <p:cNvPr id="46" name="Text 44"/>
          <p:cNvSpPr/>
          <p:nvPr/>
        </p:nvSpPr>
        <p:spPr>
          <a:xfrm>
            <a:off x="4690872" y="3364992"/>
            <a:ext cx="4023360" cy="365760"/>
          </a:xfrm>
          <a:prstGeom prst="rect">
            <a:avLst/>
          </a:prstGeom>
          <a:noFill/>
          <a:ln/>
        </p:spPr>
        <p:txBody>
          <a:bodyPr wrap="square" lIns="0" tIns="0" rIns="0" bIns="0" rtlCol="0" anchor="ctr"/>
          <a:lstStyle/>
          <a:p>
            <a:pPr marL="0" indent="0">
              <a:buNone/>
            </a:pPr>
            <a:r>
              <a:rPr lang="en-US" sz="750" dirty="0">
                <a:solidFill>
                  <a:srgbClr val="1B2E4B"/>
                </a:solidFill>
              </a:rPr>
              <a:t>Import VAT reported as deductible Vorsteuer in the German periodic VAT return (Umsatzsteuer-Voranmeldung / UVA). Einfuhrabgabenbescheid must be retained. Annual VAT return (Umsatzsteuerjahreserklärung) must reconcile. No European Sales List (Zusammenfassende Meldung / ZM) or Intrastat required for imports.</a:t>
            </a:r>
            <a:endParaRPr lang="en-US" sz="750" dirty="0"/>
          </a:p>
        </p:txBody>
      </p:sp>
      <p:sp>
        <p:nvSpPr>
          <p:cNvPr id="47" name="Shape 45"/>
          <p:cNvSpPr/>
          <p:nvPr/>
        </p:nvSpPr>
        <p:spPr>
          <a:xfrm>
            <a:off x="274320" y="3966972"/>
            <a:ext cx="8485632" cy="594360"/>
          </a:xfrm>
          <a:prstGeom prst="rect">
            <a:avLst/>
          </a:prstGeom>
          <a:solidFill>
            <a:srgbClr val="E8F4F4"/>
          </a:solidFill>
          <a:ln w="7620">
            <a:solidFill>
              <a:srgbClr val="006B6B"/>
            </a:solidFill>
            <a:prstDash val="solid"/>
          </a:ln>
          <a:effectLst>
            <a:outerShdw blurRad="38100" dist="12700" dir="8100000" algn="bl" rotWithShape="0">
              <a:srgbClr val="000000">
                <a:alpha val="6000"/>
              </a:srgbClr>
            </a:outerShdw>
          </a:effectLst>
        </p:spPr>
        <p:txBody>
          <a:bodyPr/>
          <a:lstStyle/>
          <a:p>
            <a:endParaRPr lang="en-DE"/>
          </a:p>
        </p:txBody>
      </p:sp>
      <p:sp>
        <p:nvSpPr>
          <p:cNvPr id="48" name="Shape 46"/>
          <p:cNvSpPr/>
          <p:nvPr/>
        </p:nvSpPr>
        <p:spPr>
          <a:xfrm>
            <a:off x="274320" y="3966972"/>
            <a:ext cx="36576" cy="594360"/>
          </a:xfrm>
          <a:prstGeom prst="rect">
            <a:avLst/>
          </a:prstGeom>
          <a:solidFill>
            <a:srgbClr val="006B6B"/>
          </a:solidFill>
          <a:ln w="12700">
            <a:solidFill>
              <a:srgbClr val="006B6B"/>
            </a:solidFill>
            <a:prstDash val="solid"/>
          </a:ln>
        </p:spPr>
        <p:txBody>
          <a:bodyPr/>
          <a:lstStyle/>
          <a:p>
            <a:endParaRPr lang="en-DE"/>
          </a:p>
        </p:txBody>
      </p:sp>
      <p:sp>
        <p:nvSpPr>
          <p:cNvPr id="49" name="Text 47"/>
          <p:cNvSpPr/>
          <p:nvPr/>
        </p:nvSpPr>
        <p:spPr>
          <a:xfrm>
            <a:off x="384048" y="4012692"/>
            <a:ext cx="2011680" cy="164592"/>
          </a:xfrm>
          <a:prstGeom prst="rect">
            <a:avLst/>
          </a:prstGeom>
          <a:noFill/>
          <a:ln/>
        </p:spPr>
        <p:txBody>
          <a:bodyPr wrap="square" lIns="0" tIns="0" rIns="0" bIns="0" rtlCol="0" anchor="ctr"/>
          <a:lstStyle/>
          <a:p>
            <a:pPr marL="0" indent="0">
              <a:buNone/>
            </a:pPr>
            <a:r>
              <a:rPr lang="en-US" sz="700" b="1" kern="0" spc="50" dirty="0">
                <a:solidFill>
                  <a:srgbClr val="006B6B"/>
                </a:solidFill>
              </a:rPr>
              <a:t>MANAGEMENT ACTION</a:t>
            </a:r>
            <a:endParaRPr lang="en-US" sz="700" dirty="0"/>
          </a:p>
        </p:txBody>
      </p:sp>
      <p:sp>
        <p:nvSpPr>
          <p:cNvPr id="50" name="Text 48"/>
          <p:cNvSpPr/>
          <p:nvPr/>
        </p:nvSpPr>
        <p:spPr>
          <a:xfrm>
            <a:off x="384048" y="4186428"/>
            <a:ext cx="8321040" cy="329184"/>
          </a:xfrm>
          <a:prstGeom prst="rect">
            <a:avLst/>
          </a:prstGeom>
          <a:noFill/>
          <a:ln/>
        </p:spPr>
        <p:txBody>
          <a:bodyPr wrap="square" lIns="0" tIns="0" rIns="0" bIns="0" rtlCol="0" anchor="ctr"/>
          <a:lstStyle/>
          <a:p>
            <a:pPr marL="0" indent="0">
              <a:buNone/>
            </a:pPr>
            <a:r>
              <a:rPr lang="en-US" sz="780" dirty="0">
                <a:solidFill>
                  <a:srgbClr val="1B2E4B"/>
                </a:solidFill>
              </a:rPr>
              <a:t>Retain all Einfuhrabgabenbescheide digitally and link to ERP purchase orders. Verify correct customs tariff (Zolltarifnummer) classification for steel grades annually. Confirm customs deferment account (Aufschubkonto) is active to optimise cash flow on import VAT. Cross-check that all import VAT claimed as Vorsteuer is matched to a valid customs document.</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6400800" y="100584"/>
            <a:ext cx="1280160" cy="292608"/>
          </a:xfrm>
          <a:prstGeom prst="rect">
            <a:avLst/>
          </a:prstGeom>
          <a:solidFill>
            <a:srgbClr val="D97706"/>
          </a:solidFill>
          <a:ln w="12700">
            <a:solidFill>
              <a:srgbClr val="D97706"/>
            </a:solidFill>
            <a:prstDash val="solid"/>
          </a:ln>
        </p:spPr>
        <p:txBody>
          <a:bodyPr/>
          <a:lstStyle/>
          <a:p>
            <a:endParaRPr lang="en-DE"/>
          </a:p>
        </p:txBody>
      </p:sp>
      <p:sp>
        <p:nvSpPr>
          <p:cNvPr id="4" name="Text 2"/>
          <p:cNvSpPr/>
          <p:nvPr/>
        </p:nvSpPr>
        <p:spPr>
          <a:xfrm>
            <a:off x="6400800" y="100584"/>
            <a:ext cx="1280160" cy="292608"/>
          </a:xfrm>
          <a:prstGeom prst="rect">
            <a:avLst/>
          </a:prstGeom>
          <a:noFill/>
          <a:ln/>
        </p:spPr>
        <p:txBody>
          <a:bodyPr wrap="square" lIns="0" tIns="0" rIns="0" bIns="0" rtlCol="0" anchor="ctr"/>
          <a:lstStyle/>
          <a:p>
            <a:pPr marL="0" indent="0" algn="ctr">
              <a:buNone/>
            </a:pPr>
            <a:r>
              <a:rPr lang="en-US" sz="750" b="1" dirty="0">
                <a:solidFill>
                  <a:srgbClr val="FFFFFF"/>
                </a:solidFill>
              </a:rPr>
              <a:t>RISK: MEDIUM</a:t>
            </a:r>
            <a:endParaRPr lang="en-US" sz="750" dirty="0"/>
          </a:p>
        </p:txBody>
      </p:sp>
      <p:sp>
        <p:nvSpPr>
          <p:cNvPr id="5" name="Shape 3"/>
          <p:cNvSpPr/>
          <p:nvPr/>
        </p:nvSpPr>
        <p:spPr>
          <a:xfrm>
            <a:off x="7772400" y="100584"/>
            <a:ext cx="1234440" cy="292608"/>
          </a:xfrm>
          <a:prstGeom prst="rect">
            <a:avLst/>
          </a:prstGeom>
          <a:solidFill>
            <a:srgbClr val="C0392B"/>
          </a:solidFill>
          <a:ln w="12700">
            <a:solidFill>
              <a:srgbClr val="C0392B"/>
            </a:solidFill>
            <a:prstDash val="solid"/>
          </a:ln>
        </p:spPr>
        <p:txBody>
          <a:bodyPr/>
          <a:lstStyle/>
          <a:p>
            <a:endParaRPr lang="en-DE"/>
          </a:p>
        </p:txBody>
      </p:sp>
      <p:sp>
        <p:nvSpPr>
          <p:cNvPr id="6" name="Text 4"/>
          <p:cNvSpPr/>
          <p:nvPr/>
        </p:nvSpPr>
        <p:spPr>
          <a:xfrm>
            <a:off x="7772400" y="100584"/>
            <a:ext cx="1234440" cy="292608"/>
          </a:xfrm>
          <a:prstGeom prst="rect">
            <a:avLst/>
          </a:prstGeom>
          <a:noFill/>
          <a:ln/>
        </p:spPr>
        <p:txBody>
          <a:bodyPr wrap="square" lIns="0" tIns="0" rIns="0" bIns="0" rtlCol="0" anchor="ctr"/>
          <a:lstStyle/>
          <a:p>
            <a:pPr marL="0" indent="0" algn="ctr">
              <a:buNone/>
            </a:pPr>
            <a:r>
              <a:rPr lang="en-US" sz="750" b="1" dirty="0">
                <a:solidFill>
                  <a:srgbClr val="FFFFFF"/>
                </a:solidFill>
              </a:rPr>
              <a:t>PRIORITY: HIGH</a:t>
            </a:r>
            <a:endParaRPr lang="en-US" sz="750" dirty="0"/>
          </a:p>
        </p:txBody>
      </p:sp>
      <p:sp>
        <p:nvSpPr>
          <p:cNvPr id="7" name="Shape 5"/>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8" name="Text 6"/>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9" name="Text 7"/>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TRANSACTION ANALYSIS</a:t>
            </a:r>
            <a:endParaRPr lang="en-US" sz="700" dirty="0"/>
          </a:p>
        </p:txBody>
      </p:sp>
      <p:sp>
        <p:nvSpPr>
          <p:cNvPr id="10" name="Text 8"/>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8 / 23</a:t>
            </a:r>
            <a:endParaRPr lang="en-US" sz="700" dirty="0"/>
          </a:p>
        </p:txBody>
      </p:sp>
      <p:sp>
        <p:nvSpPr>
          <p:cNvPr id="11" name="Text 9"/>
          <p:cNvSpPr/>
          <p:nvPr/>
        </p:nvSpPr>
        <p:spPr>
          <a:xfrm>
            <a:off x="411480" y="137160"/>
            <a:ext cx="6400800" cy="201168"/>
          </a:xfrm>
          <a:prstGeom prst="rect">
            <a:avLst/>
          </a:prstGeom>
          <a:noFill/>
          <a:ln/>
        </p:spPr>
        <p:txBody>
          <a:bodyPr wrap="square" lIns="0" tIns="0" rIns="0" bIns="0" rtlCol="0" anchor="ctr"/>
          <a:lstStyle/>
          <a:p>
            <a:r>
              <a:rPr lang="en-US" sz="800" b="1" kern="0" spc="200" dirty="0">
                <a:solidFill>
                  <a:srgbClr val="006B6B"/>
                </a:solidFill>
              </a:rPr>
              <a:t>03 | TRANSACTION ANALYSIS</a:t>
            </a:r>
            <a:endParaRPr lang="en-US" sz="800" dirty="0"/>
          </a:p>
        </p:txBody>
      </p:sp>
      <p:sp>
        <p:nvSpPr>
          <p:cNvPr id="12" name="Text 10"/>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T2: Intra-Community Supply - Germany → Spain</a:t>
            </a:r>
            <a:endParaRPr lang="en-US" sz="2100" dirty="0"/>
          </a:p>
        </p:txBody>
      </p:sp>
      <p:sp>
        <p:nvSpPr>
          <p:cNvPr id="13" name="Text 11"/>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Strabam AG (DE) → Spanish Subsidiary (ES) | Transfer of raw materials for large-machine production | Independent legal entities</a:t>
            </a:r>
            <a:endParaRPr lang="en-US" sz="950" dirty="0"/>
          </a:p>
        </p:txBody>
      </p:sp>
      <p:sp>
        <p:nvSpPr>
          <p:cNvPr id="14" name="Shape 12"/>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5" name="Shape 13"/>
          <p:cNvSpPr/>
          <p:nvPr/>
        </p:nvSpPr>
        <p:spPr>
          <a:xfrm>
            <a:off x="274320" y="1166104"/>
            <a:ext cx="4160520" cy="752368"/>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16" name="Shape 14"/>
          <p:cNvSpPr/>
          <p:nvPr/>
        </p:nvSpPr>
        <p:spPr>
          <a:xfrm>
            <a:off x="274320" y="1166104"/>
            <a:ext cx="36576" cy="752368"/>
          </a:xfrm>
          <a:prstGeom prst="rect">
            <a:avLst/>
          </a:prstGeom>
          <a:solidFill>
            <a:srgbClr val="006B6B"/>
          </a:solidFill>
          <a:ln w="12700">
            <a:solidFill>
              <a:srgbClr val="006B6B"/>
            </a:solidFill>
            <a:prstDash val="solid"/>
          </a:ln>
        </p:spPr>
        <p:txBody>
          <a:bodyPr/>
          <a:lstStyle/>
          <a:p>
            <a:endParaRPr lang="en-DE"/>
          </a:p>
        </p:txBody>
      </p:sp>
      <p:sp>
        <p:nvSpPr>
          <p:cNvPr id="17" name="Text 15"/>
          <p:cNvSpPr/>
          <p:nvPr/>
        </p:nvSpPr>
        <p:spPr>
          <a:xfrm>
            <a:off x="365760" y="1191768"/>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TAXABILITY</a:t>
            </a:r>
            <a:endParaRPr lang="en-US" sz="650" dirty="0"/>
          </a:p>
        </p:txBody>
      </p:sp>
      <p:sp>
        <p:nvSpPr>
          <p:cNvPr id="18" name="Text 16"/>
          <p:cNvSpPr/>
          <p:nvPr/>
        </p:nvSpPr>
        <p:spPr>
          <a:xfrm>
            <a:off x="365760" y="1420368"/>
            <a:ext cx="4023360" cy="365760"/>
          </a:xfrm>
          <a:prstGeom prst="rect">
            <a:avLst/>
          </a:prstGeom>
          <a:noFill/>
          <a:ln/>
        </p:spPr>
        <p:txBody>
          <a:bodyPr wrap="square" lIns="0" tIns="0" rIns="0" bIns="0" rtlCol="0" anchor="ctr"/>
          <a:lstStyle/>
          <a:p>
            <a:pPr marL="0" indent="0">
              <a:buNone/>
            </a:pPr>
            <a:r>
              <a:rPr lang="en-US" sz="750" dirty="0">
                <a:solidFill>
                  <a:srgbClr val="1B2E4B"/>
                </a:solidFill>
              </a:rPr>
              <a:t>§ 4 Nr. 1b UStG in conjunction with § 6a </a:t>
            </a:r>
            <a:r>
              <a:rPr lang="en-US" sz="750" dirty="0" err="1">
                <a:solidFill>
                  <a:srgbClr val="1B2E4B"/>
                </a:solidFill>
              </a:rPr>
              <a:t>UStG</a:t>
            </a:r>
            <a:r>
              <a:rPr lang="en-US" sz="750" dirty="0">
                <a:solidFill>
                  <a:srgbClr val="1B2E4B"/>
                </a:solidFill>
              </a:rPr>
              <a:t> - The Spanish subsidiary is a separate legal entity with its own Spanish VAT registration. Transfer of goods from Strabam AG in Germany to the Spanish subsidiary constitutes an Intra-Community Supply (Innergemeinschaftliche Lieferung / IGL) from Strabam AG's perspective and an Intra-Community Acquisition (Innergemeinschaftlicher Erwerb / IGE) from the Spanish subsidiary's perspective.</a:t>
            </a:r>
            <a:endParaRPr lang="en-US" sz="750" dirty="0"/>
          </a:p>
        </p:txBody>
      </p:sp>
      <p:sp>
        <p:nvSpPr>
          <p:cNvPr id="19" name="Shape 17"/>
          <p:cNvSpPr/>
          <p:nvPr/>
        </p:nvSpPr>
        <p:spPr>
          <a:xfrm>
            <a:off x="4599432" y="1181344"/>
            <a:ext cx="4160520" cy="752368"/>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0" name="Shape 18"/>
          <p:cNvSpPr/>
          <p:nvPr/>
        </p:nvSpPr>
        <p:spPr>
          <a:xfrm>
            <a:off x="4599432" y="1166104"/>
            <a:ext cx="36576" cy="752368"/>
          </a:xfrm>
          <a:prstGeom prst="rect">
            <a:avLst/>
          </a:prstGeom>
          <a:solidFill>
            <a:srgbClr val="006B6B"/>
          </a:solidFill>
          <a:ln w="12700">
            <a:solidFill>
              <a:srgbClr val="006B6B"/>
            </a:solidFill>
            <a:prstDash val="solid"/>
          </a:ln>
        </p:spPr>
        <p:txBody>
          <a:bodyPr/>
          <a:lstStyle/>
          <a:p>
            <a:endParaRPr lang="en-DE"/>
          </a:p>
        </p:txBody>
      </p:sp>
      <p:sp>
        <p:nvSpPr>
          <p:cNvPr id="21" name="Text 19"/>
          <p:cNvSpPr/>
          <p:nvPr/>
        </p:nvSpPr>
        <p:spPr>
          <a:xfrm>
            <a:off x="4690872" y="1207008"/>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PLACE OF SUPPLY</a:t>
            </a:r>
            <a:endParaRPr lang="en-US" sz="650" dirty="0"/>
          </a:p>
        </p:txBody>
      </p:sp>
      <p:sp>
        <p:nvSpPr>
          <p:cNvPr id="22" name="Text 20"/>
          <p:cNvSpPr/>
          <p:nvPr/>
        </p:nvSpPr>
        <p:spPr>
          <a:xfrm>
            <a:off x="4690872" y="1389888"/>
            <a:ext cx="4023360" cy="365760"/>
          </a:xfrm>
          <a:prstGeom prst="rect">
            <a:avLst/>
          </a:prstGeom>
          <a:noFill/>
          <a:ln/>
        </p:spPr>
        <p:txBody>
          <a:bodyPr wrap="square" lIns="0" tIns="0" rIns="0" bIns="0" rtlCol="0" anchor="ctr"/>
          <a:lstStyle/>
          <a:p>
            <a:pPr marL="0" indent="0">
              <a:buNone/>
            </a:pPr>
            <a:r>
              <a:rPr lang="en-US" sz="750" dirty="0">
                <a:solidFill>
                  <a:srgbClr val="1B2E4B"/>
                </a:solidFill>
              </a:rPr>
              <a:t>§ 3 Abs. 6 </a:t>
            </a:r>
            <a:r>
              <a:rPr lang="en-US" sz="750" dirty="0" err="1">
                <a:solidFill>
                  <a:srgbClr val="1B2E4B"/>
                </a:solidFill>
              </a:rPr>
              <a:t>UStG</a:t>
            </a:r>
            <a:r>
              <a:rPr lang="en-US" sz="750" dirty="0">
                <a:solidFill>
                  <a:srgbClr val="1B2E4B"/>
                </a:solidFill>
              </a:rPr>
              <a:t> - Place of supply is where transport or dispatch begins. Transport begins in Germany → Germany is the place of supply. Corresponding acquisition is taxed in Spain. No fiction of supply (§ 3 Abs. 1a UStG / own-goods movement) applies since the entities are legally distinct.</a:t>
            </a:r>
            <a:endParaRPr lang="en-US" sz="750" dirty="0"/>
          </a:p>
        </p:txBody>
      </p:sp>
      <p:sp>
        <p:nvSpPr>
          <p:cNvPr id="23" name="Shape 21"/>
          <p:cNvSpPr/>
          <p:nvPr/>
        </p:nvSpPr>
        <p:spPr>
          <a:xfrm>
            <a:off x="274320" y="1972971"/>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4" name="Shape 22"/>
          <p:cNvSpPr/>
          <p:nvPr/>
        </p:nvSpPr>
        <p:spPr>
          <a:xfrm>
            <a:off x="274320" y="1988211"/>
            <a:ext cx="36576" cy="683971"/>
          </a:xfrm>
          <a:prstGeom prst="rect">
            <a:avLst/>
          </a:prstGeom>
          <a:solidFill>
            <a:srgbClr val="006B6B"/>
          </a:solidFill>
          <a:ln w="12700">
            <a:solidFill>
              <a:srgbClr val="006B6B"/>
            </a:solidFill>
            <a:prstDash val="solid"/>
          </a:ln>
        </p:spPr>
        <p:txBody>
          <a:bodyPr/>
          <a:lstStyle/>
          <a:p>
            <a:endParaRPr lang="en-DE"/>
          </a:p>
        </p:txBody>
      </p:sp>
      <p:sp>
        <p:nvSpPr>
          <p:cNvPr id="25" name="Text 23"/>
          <p:cNvSpPr/>
          <p:nvPr/>
        </p:nvSpPr>
        <p:spPr>
          <a:xfrm>
            <a:off x="365760" y="2025396"/>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TAXABLE AMOUNT</a:t>
            </a:r>
            <a:endParaRPr lang="en-US" sz="650" dirty="0"/>
          </a:p>
        </p:txBody>
      </p:sp>
      <p:sp>
        <p:nvSpPr>
          <p:cNvPr id="26" name="Text 24"/>
          <p:cNvSpPr/>
          <p:nvPr/>
        </p:nvSpPr>
        <p:spPr>
          <a:xfrm>
            <a:off x="365760" y="2208276"/>
            <a:ext cx="4023360" cy="365760"/>
          </a:xfrm>
          <a:prstGeom prst="rect">
            <a:avLst/>
          </a:prstGeom>
          <a:noFill/>
          <a:ln/>
        </p:spPr>
        <p:txBody>
          <a:bodyPr wrap="square" lIns="0" tIns="0" rIns="0" bIns="0" rtlCol="0" anchor="ctr"/>
          <a:lstStyle/>
          <a:p>
            <a:pPr marL="0" indent="0">
              <a:buNone/>
            </a:pPr>
            <a:r>
              <a:rPr lang="en-US" sz="750" dirty="0">
                <a:solidFill>
                  <a:srgbClr val="1B2E4B"/>
                </a:solidFill>
              </a:rPr>
              <a:t>§ 10 </a:t>
            </a:r>
            <a:r>
              <a:rPr lang="en-US" sz="750" dirty="0" err="1">
                <a:solidFill>
                  <a:srgbClr val="1B2E4B"/>
                </a:solidFill>
              </a:rPr>
              <a:t>UStG</a:t>
            </a:r>
            <a:r>
              <a:rPr lang="en-US" sz="750" dirty="0">
                <a:solidFill>
                  <a:srgbClr val="1B2E4B"/>
                </a:solidFill>
              </a:rPr>
              <a:t> - Taxable amount is the consideration (Entgelt) agreed between Strabam AG and the Spanish subsidiary. As a related-party transaction between 100% group entities, the transfer price should be documented and at arm's length to avoid customs and VAT valuation challenges. No discounts are applied.</a:t>
            </a:r>
            <a:endParaRPr lang="en-US" sz="750" dirty="0"/>
          </a:p>
        </p:txBody>
      </p:sp>
      <p:sp>
        <p:nvSpPr>
          <p:cNvPr id="27" name="Shape 25"/>
          <p:cNvSpPr/>
          <p:nvPr/>
        </p:nvSpPr>
        <p:spPr>
          <a:xfrm>
            <a:off x="4599432" y="1980591"/>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8" name="Shape 26"/>
          <p:cNvSpPr/>
          <p:nvPr/>
        </p:nvSpPr>
        <p:spPr>
          <a:xfrm>
            <a:off x="4599432" y="2019300"/>
            <a:ext cx="36576" cy="621792"/>
          </a:xfrm>
          <a:prstGeom prst="rect">
            <a:avLst/>
          </a:prstGeom>
          <a:solidFill>
            <a:srgbClr val="006B6B"/>
          </a:solidFill>
          <a:ln w="12700">
            <a:solidFill>
              <a:srgbClr val="006B6B"/>
            </a:solidFill>
            <a:prstDash val="solid"/>
          </a:ln>
        </p:spPr>
        <p:txBody>
          <a:bodyPr/>
          <a:lstStyle/>
          <a:p>
            <a:endParaRPr lang="en-DE"/>
          </a:p>
        </p:txBody>
      </p:sp>
      <p:sp>
        <p:nvSpPr>
          <p:cNvPr id="29" name="Text 27"/>
          <p:cNvSpPr/>
          <p:nvPr/>
        </p:nvSpPr>
        <p:spPr>
          <a:xfrm>
            <a:off x="4690872" y="2025396"/>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VAT RATE</a:t>
            </a:r>
            <a:endParaRPr lang="en-US" sz="650" dirty="0"/>
          </a:p>
        </p:txBody>
      </p:sp>
      <p:sp>
        <p:nvSpPr>
          <p:cNvPr id="30" name="Text 28"/>
          <p:cNvSpPr/>
          <p:nvPr/>
        </p:nvSpPr>
        <p:spPr>
          <a:xfrm>
            <a:off x="4690872" y="2208276"/>
            <a:ext cx="4023360" cy="365760"/>
          </a:xfrm>
          <a:prstGeom prst="rect">
            <a:avLst/>
          </a:prstGeom>
          <a:noFill/>
          <a:ln/>
        </p:spPr>
        <p:txBody>
          <a:bodyPr wrap="square" lIns="0" tIns="0" rIns="0" bIns="0" rtlCol="0" anchor="ctr"/>
          <a:lstStyle/>
          <a:p>
            <a:pPr marL="0" indent="0">
              <a:buNone/>
            </a:pPr>
            <a:r>
              <a:rPr lang="en-US" sz="750" dirty="0">
                <a:solidFill>
                  <a:srgbClr val="1B2E4B"/>
                </a:solidFill>
              </a:rPr>
              <a:t>0% in Germany - VAT exemption under § 4 Nr. 1b UStG applies if all statutory conditions of § 6a UStG are met: (a) goods physically transported to Spain, (b) Spanish subsidiary holds valid Spanish VAT Identification Number (Umsatzsteuer-Identifikationsnummer / USt-IdNr.), (c) Strabam AG holds valid German USt-IdNr., (d) adequate transport proof available.</a:t>
            </a:r>
            <a:endParaRPr lang="en-US" sz="750" dirty="0"/>
          </a:p>
        </p:txBody>
      </p:sp>
      <p:sp>
        <p:nvSpPr>
          <p:cNvPr id="31" name="Shape 29"/>
          <p:cNvSpPr/>
          <p:nvPr/>
        </p:nvSpPr>
        <p:spPr>
          <a:xfrm>
            <a:off x="274320" y="2700528"/>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2" name="Shape 30"/>
          <p:cNvSpPr/>
          <p:nvPr/>
        </p:nvSpPr>
        <p:spPr>
          <a:xfrm>
            <a:off x="274320" y="2700528"/>
            <a:ext cx="36576" cy="621792"/>
          </a:xfrm>
          <a:prstGeom prst="rect">
            <a:avLst/>
          </a:prstGeom>
          <a:solidFill>
            <a:srgbClr val="006B6B"/>
          </a:solidFill>
          <a:ln w="12700">
            <a:solidFill>
              <a:srgbClr val="006B6B"/>
            </a:solidFill>
            <a:prstDash val="solid"/>
          </a:ln>
        </p:spPr>
        <p:txBody>
          <a:bodyPr/>
          <a:lstStyle/>
          <a:p>
            <a:endParaRPr lang="en-DE"/>
          </a:p>
        </p:txBody>
      </p:sp>
      <p:sp>
        <p:nvSpPr>
          <p:cNvPr id="33" name="Text 31"/>
          <p:cNvSpPr/>
          <p:nvPr/>
        </p:nvSpPr>
        <p:spPr>
          <a:xfrm>
            <a:off x="365760" y="2737104"/>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TIME OF TAXATION</a:t>
            </a:r>
            <a:endParaRPr lang="en-US" sz="650" dirty="0"/>
          </a:p>
        </p:txBody>
      </p:sp>
      <p:sp>
        <p:nvSpPr>
          <p:cNvPr id="34" name="Text 32"/>
          <p:cNvSpPr/>
          <p:nvPr/>
        </p:nvSpPr>
        <p:spPr>
          <a:xfrm>
            <a:off x="365760" y="2919984"/>
            <a:ext cx="4023360" cy="365760"/>
          </a:xfrm>
          <a:prstGeom prst="rect">
            <a:avLst/>
          </a:prstGeom>
          <a:noFill/>
          <a:ln/>
        </p:spPr>
        <p:txBody>
          <a:bodyPr wrap="square" lIns="0" tIns="0" rIns="0" bIns="0" rtlCol="0" anchor="ctr"/>
          <a:lstStyle/>
          <a:p>
            <a:pPr marL="0" indent="0">
              <a:buNone/>
            </a:pPr>
            <a:r>
              <a:rPr lang="en-US" sz="750" dirty="0">
                <a:solidFill>
                  <a:srgbClr val="1B2E4B"/>
                </a:solidFill>
              </a:rPr>
              <a:t>§ 13 Abs. 1 Nr. 8 </a:t>
            </a:r>
            <a:r>
              <a:rPr lang="en-US" sz="750" dirty="0" err="1">
                <a:solidFill>
                  <a:srgbClr val="1B2E4B"/>
                </a:solidFill>
              </a:rPr>
              <a:t>UStG</a:t>
            </a:r>
            <a:r>
              <a:rPr lang="en-US" sz="750" dirty="0">
                <a:solidFill>
                  <a:srgbClr val="1B2E4B"/>
                </a:solidFill>
              </a:rPr>
              <a:t> - VAT becomes chargeable on the 15th day of the month following dispatch, or on the invoice date if the invoice is issued earlier. The invoice must show the reference 'Steuerfreie innergemeinschaftliche Lieferung' and list both VAT identification numbers.</a:t>
            </a:r>
            <a:endParaRPr lang="en-US" sz="750" dirty="0"/>
          </a:p>
        </p:txBody>
      </p:sp>
      <p:sp>
        <p:nvSpPr>
          <p:cNvPr id="35" name="Shape 33"/>
          <p:cNvSpPr/>
          <p:nvPr/>
        </p:nvSpPr>
        <p:spPr>
          <a:xfrm>
            <a:off x="4599432" y="2685288"/>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6" name="Shape 34"/>
          <p:cNvSpPr/>
          <p:nvPr/>
        </p:nvSpPr>
        <p:spPr>
          <a:xfrm>
            <a:off x="4599432" y="2677668"/>
            <a:ext cx="36576" cy="621792"/>
          </a:xfrm>
          <a:prstGeom prst="rect">
            <a:avLst/>
          </a:prstGeom>
          <a:solidFill>
            <a:srgbClr val="006B6B"/>
          </a:solidFill>
          <a:ln w="12700">
            <a:solidFill>
              <a:srgbClr val="006B6B"/>
            </a:solidFill>
            <a:prstDash val="solid"/>
          </a:ln>
        </p:spPr>
        <p:txBody>
          <a:bodyPr/>
          <a:lstStyle/>
          <a:p>
            <a:endParaRPr lang="en-DE"/>
          </a:p>
        </p:txBody>
      </p:sp>
      <p:sp>
        <p:nvSpPr>
          <p:cNvPr id="37" name="Text 35"/>
          <p:cNvSpPr/>
          <p:nvPr/>
        </p:nvSpPr>
        <p:spPr>
          <a:xfrm>
            <a:off x="4690872" y="2699004"/>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PERSON LIABLE FOR VAT</a:t>
            </a:r>
            <a:endParaRPr lang="en-US" sz="650" dirty="0"/>
          </a:p>
        </p:txBody>
      </p:sp>
      <p:sp>
        <p:nvSpPr>
          <p:cNvPr id="38" name="Text 36"/>
          <p:cNvSpPr/>
          <p:nvPr/>
        </p:nvSpPr>
        <p:spPr>
          <a:xfrm>
            <a:off x="4690872" y="2881884"/>
            <a:ext cx="4023360" cy="365760"/>
          </a:xfrm>
          <a:prstGeom prst="rect">
            <a:avLst/>
          </a:prstGeom>
          <a:noFill/>
          <a:ln/>
        </p:spPr>
        <p:txBody>
          <a:bodyPr wrap="square" lIns="0" tIns="0" rIns="0" bIns="0" rtlCol="0" anchor="ctr"/>
          <a:lstStyle/>
          <a:p>
            <a:pPr marL="0" indent="0">
              <a:buNone/>
            </a:pPr>
            <a:r>
              <a:rPr lang="en-US" sz="750" dirty="0">
                <a:solidFill>
                  <a:srgbClr val="1B2E4B"/>
                </a:solidFill>
              </a:rPr>
              <a:t>Strabam AG is the supplier liable to charge (zero-rated) and report the ICS. The Spanish subsidiary self-assesses Acquisition VAT (Erwerbsteuer) in Spain at the Spanish VAT rate, simultaneously recovering it as input VAT - net effect zero for the Spanish subsidiary if used for taxable activities.</a:t>
            </a:r>
            <a:endParaRPr lang="en-US" sz="750" dirty="0"/>
          </a:p>
        </p:txBody>
      </p:sp>
      <p:sp>
        <p:nvSpPr>
          <p:cNvPr id="39" name="Shape 37"/>
          <p:cNvSpPr/>
          <p:nvPr/>
        </p:nvSpPr>
        <p:spPr>
          <a:xfrm>
            <a:off x="274320" y="3365907"/>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0" name="Shape 38"/>
          <p:cNvSpPr/>
          <p:nvPr/>
        </p:nvSpPr>
        <p:spPr>
          <a:xfrm>
            <a:off x="274320" y="3365907"/>
            <a:ext cx="36576" cy="683971"/>
          </a:xfrm>
          <a:prstGeom prst="rect">
            <a:avLst/>
          </a:prstGeom>
          <a:solidFill>
            <a:srgbClr val="006B6B"/>
          </a:solidFill>
          <a:ln w="12700">
            <a:solidFill>
              <a:srgbClr val="006B6B"/>
            </a:solidFill>
            <a:prstDash val="solid"/>
          </a:ln>
        </p:spPr>
        <p:txBody>
          <a:bodyPr/>
          <a:lstStyle/>
          <a:p>
            <a:endParaRPr lang="en-DE"/>
          </a:p>
        </p:txBody>
      </p:sp>
      <p:sp>
        <p:nvSpPr>
          <p:cNvPr id="41" name="Text 39"/>
          <p:cNvSpPr/>
          <p:nvPr/>
        </p:nvSpPr>
        <p:spPr>
          <a:xfrm>
            <a:off x="365760" y="3395472"/>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INPUT VAT DEDUCTION</a:t>
            </a:r>
            <a:endParaRPr lang="en-US" sz="650" dirty="0"/>
          </a:p>
        </p:txBody>
      </p:sp>
      <p:sp>
        <p:nvSpPr>
          <p:cNvPr id="42" name="Text 40"/>
          <p:cNvSpPr/>
          <p:nvPr/>
        </p:nvSpPr>
        <p:spPr>
          <a:xfrm>
            <a:off x="365760" y="3578352"/>
            <a:ext cx="4023360" cy="365760"/>
          </a:xfrm>
          <a:prstGeom prst="rect">
            <a:avLst/>
          </a:prstGeom>
          <a:noFill/>
          <a:ln/>
        </p:spPr>
        <p:txBody>
          <a:bodyPr wrap="square" lIns="0" tIns="0" rIns="0" bIns="0" rtlCol="0" anchor="ctr"/>
          <a:lstStyle/>
          <a:p>
            <a:pPr marL="0" indent="0">
              <a:buNone/>
            </a:pPr>
            <a:r>
              <a:rPr lang="en-US" sz="750" dirty="0">
                <a:solidFill>
                  <a:srgbClr val="1B2E4B"/>
                </a:solidFill>
              </a:rPr>
              <a:t>§ 15 </a:t>
            </a:r>
            <a:r>
              <a:rPr lang="en-US" sz="750" dirty="0" err="1">
                <a:solidFill>
                  <a:srgbClr val="1B2E4B"/>
                </a:solidFill>
              </a:rPr>
              <a:t>UStG</a:t>
            </a:r>
            <a:r>
              <a:rPr lang="en-US" sz="750" dirty="0">
                <a:solidFill>
                  <a:srgbClr val="1B2E4B"/>
                </a:solidFill>
              </a:rPr>
              <a:t> - Despite the 0% exemption, Strabam AG retains the full right to deduct input VAT on related costs (§ 15 Abs. 3 Nr. 1 UStG), because ICS are explicitly excluded from the input VAT restriction. No negative impact on Strabam AG's Vorsteuer position.</a:t>
            </a:r>
            <a:endParaRPr lang="en-US" sz="750" dirty="0"/>
          </a:p>
        </p:txBody>
      </p:sp>
      <p:sp>
        <p:nvSpPr>
          <p:cNvPr id="43" name="Shape 41"/>
          <p:cNvSpPr/>
          <p:nvPr/>
        </p:nvSpPr>
        <p:spPr>
          <a:xfrm>
            <a:off x="4599432" y="3331708"/>
            <a:ext cx="4160520" cy="752368"/>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4" name="Shape 42"/>
          <p:cNvSpPr/>
          <p:nvPr/>
        </p:nvSpPr>
        <p:spPr>
          <a:xfrm>
            <a:off x="4599432" y="3339328"/>
            <a:ext cx="36576" cy="752368"/>
          </a:xfrm>
          <a:prstGeom prst="rect">
            <a:avLst/>
          </a:prstGeom>
          <a:solidFill>
            <a:srgbClr val="006B6B"/>
          </a:solidFill>
          <a:ln w="12700">
            <a:solidFill>
              <a:srgbClr val="006B6B"/>
            </a:solidFill>
            <a:prstDash val="solid"/>
          </a:ln>
        </p:spPr>
        <p:txBody>
          <a:bodyPr/>
          <a:lstStyle/>
          <a:p>
            <a:endParaRPr lang="en-DE"/>
          </a:p>
        </p:txBody>
      </p:sp>
      <p:sp>
        <p:nvSpPr>
          <p:cNvPr id="45" name="Text 43"/>
          <p:cNvSpPr/>
          <p:nvPr/>
        </p:nvSpPr>
        <p:spPr>
          <a:xfrm>
            <a:off x="4690872" y="3334512"/>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FILING &amp; COMPLIANCE</a:t>
            </a:r>
            <a:endParaRPr lang="en-US" sz="650" dirty="0"/>
          </a:p>
        </p:txBody>
      </p:sp>
      <p:sp>
        <p:nvSpPr>
          <p:cNvPr id="46" name="Text 44"/>
          <p:cNvSpPr/>
          <p:nvPr/>
        </p:nvSpPr>
        <p:spPr>
          <a:xfrm>
            <a:off x="4690872" y="3578352"/>
            <a:ext cx="4023360" cy="365760"/>
          </a:xfrm>
          <a:prstGeom prst="rect">
            <a:avLst/>
          </a:prstGeom>
          <a:noFill/>
          <a:ln/>
        </p:spPr>
        <p:txBody>
          <a:bodyPr wrap="square" lIns="0" tIns="0" rIns="0" bIns="0" rtlCol="0" anchor="ctr"/>
          <a:lstStyle/>
          <a:p>
            <a:pPr marL="0" indent="0">
              <a:buNone/>
            </a:pPr>
            <a:r>
              <a:rPr lang="en-US" sz="750" dirty="0">
                <a:solidFill>
                  <a:srgbClr val="1B2E4B"/>
                </a:solidFill>
              </a:rPr>
              <a:t>(a) German VAT return (UVA + Jahreserklärung): ICS reported as zero-rated supply. (b) European Sales List (Zusammenfassende Meldung / ZM): mandatory monthly/quarterly reporting of the Spanish subsidiary's VAT ID and supply amount. (c) Intrastat Declaration (Intrahandelsstatistik): dispatch reporting in Germany above applicable threshold. (d) Invoice: must include both USt-IdNr., transport reference and exemption note.</a:t>
            </a:r>
            <a:endParaRPr lang="en-US" sz="750" dirty="0"/>
          </a:p>
        </p:txBody>
      </p:sp>
      <p:sp>
        <p:nvSpPr>
          <p:cNvPr id="47" name="Shape 45"/>
          <p:cNvSpPr/>
          <p:nvPr/>
        </p:nvSpPr>
        <p:spPr>
          <a:xfrm>
            <a:off x="274320" y="4157472"/>
            <a:ext cx="8485632" cy="594360"/>
          </a:xfrm>
          <a:prstGeom prst="rect">
            <a:avLst/>
          </a:prstGeom>
          <a:solidFill>
            <a:srgbClr val="E8F4F4"/>
          </a:solidFill>
          <a:ln w="7620">
            <a:solidFill>
              <a:srgbClr val="006B6B"/>
            </a:solidFill>
            <a:prstDash val="solid"/>
          </a:ln>
          <a:effectLst>
            <a:outerShdw blurRad="38100" dist="12700" dir="8100000" algn="bl" rotWithShape="0">
              <a:srgbClr val="000000">
                <a:alpha val="6000"/>
              </a:srgbClr>
            </a:outerShdw>
          </a:effectLst>
        </p:spPr>
        <p:txBody>
          <a:bodyPr/>
          <a:lstStyle/>
          <a:p>
            <a:endParaRPr lang="en-DE"/>
          </a:p>
        </p:txBody>
      </p:sp>
      <p:sp>
        <p:nvSpPr>
          <p:cNvPr id="48" name="Shape 46"/>
          <p:cNvSpPr/>
          <p:nvPr/>
        </p:nvSpPr>
        <p:spPr>
          <a:xfrm>
            <a:off x="274320" y="4165092"/>
            <a:ext cx="36576" cy="594360"/>
          </a:xfrm>
          <a:prstGeom prst="rect">
            <a:avLst/>
          </a:prstGeom>
          <a:solidFill>
            <a:srgbClr val="006B6B"/>
          </a:solidFill>
          <a:ln w="12700">
            <a:solidFill>
              <a:srgbClr val="006B6B"/>
            </a:solidFill>
            <a:prstDash val="solid"/>
          </a:ln>
        </p:spPr>
        <p:txBody>
          <a:bodyPr/>
          <a:lstStyle/>
          <a:p>
            <a:endParaRPr lang="en-DE"/>
          </a:p>
        </p:txBody>
      </p:sp>
      <p:sp>
        <p:nvSpPr>
          <p:cNvPr id="49" name="Text 47"/>
          <p:cNvSpPr/>
          <p:nvPr/>
        </p:nvSpPr>
        <p:spPr>
          <a:xfrm>
            <a:off x="384048" y="4203192"/>
            <a:ext cx="2011680" cy="164592"/>
          </a:xfrm>
          <a:prstGeom prst="rect">
            <a:avLst/>
          </a:prstGeom>
          <a:noFill/>
          <a:ln/>
        </p:spPr>
        <p:txBody>
          <a:bodyPr wrap="square" lIns="0" tIns="0" rIns="0" bIns="0" rtlCol="0" anchor="ctr"/>
          <a:lstStyle/>
          <a:p>
            <a:pPr marL="0" indent="0">
              <a:buNone/>
            </a:pPr>
            <a:r>
              <a:rPr lang="en-US" sz="700" b="1" kern="0" spc="50" dirty="0">
                <a:solidFill>
                  <a:srgbClr val="006B6B"/>
                </a:solidFill>
              </a:rPr>
              <a:t>MANAGEMENT ACTION</a:t>
            </a:r>
            <a:endParaRPr lang="en-US" sz="700" dirty="0"/>
          </a:p>
        </p:txBody>
      </p:sp>
      <p:sp>
        <p:nvSpPr>
          <p:cNvPr id="50" name="Text 48"/>
          <p:cNvSpPr/>
          <p:nvPr/>
        </p:nvSpPr>
        <p:spPr>
          <a:xfrm>
            <a:off x="384048" y="4376928"/>
            <a:ext cx="8321040" cy="329184"/>
          </a:xfrm>
          <a:prstGeom prst="rect">
            <a:avLst/>
          </a:prstGeom>
          <a:noFill/>
          <a:ln/>
        </p:spPr>
        <p:txBody>
          <a:bodyPr wrap="square" lIns="0" tIns="0" rIns="0" bIns="0" rtlCol="0" anchor="ctr"/>
          <a:lstStyle/>
          <a:p>
            <a:pPr marL="0" indent="0">
              <a:buNone/>
            </a:pPr>
            <a:r>
              <a:rPr lang="en-US" sz="780" dirty="0">
                <a:solidFill>
                  <a:srgbClr val="1B2E4B"/>
                </a:solidFill>
              </a:rPr>
              <a:t>Implement VIES (VAT Information Exchange System) automated validation of the Spanish subsidiary's USt-IdNr. before each shipment. Standardise Convention on the Contract for the International Carriage of Goods by Road (CMR) documentation workflow: every truck movement must generate a CMR waybill and warehouse receipt. Set up ERP to auto-populate ZM data from delivery records and reconcile quarterly. Document transfer prices at arm's length.</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6400800" y="100584"/>
            <a:ext cx="1280160" cy="292608"/>
          </a:xfrm>
          <a:prstGeom prst="rect">
            <a:avLst/>
          </a:prstGeom>
          <a:solidFill>
            <a:srgbClr val="C0392B"/>
          </a:solidFill>
          <a:ln w="12700">
            <a:solidFill>
              <a:srgbClr val="C0392B"/>
            </a:solidFill>
            <a:prstDash val="solid"/>
          </a:ln>
        </p:spPr>
        <p:txBody>
          <a:bodyPr/>
          <a:lstStyle/>
          <a:p>
            <a:endParaRPr lang="en-DE"/>
          </a:p>
        </p:txBody>
      </p:sp>
      <p:sp>
        <p:nvSpPr>
          <p:cNvPr id="4" name="Text 2"/>
          <p:cNvSpPr/>
          <p:nvPr/>
        </p:nvSpPr>
        <p:spPr>
          <a:xfrm>
            <a:off x="6400800" y="100584"/>
            <a:ext cx="1280160" cy="292608"/>
          </a:xfrm>
          <a:prstGeom prst="rect">
            <a:avLst/>
          </a:prstGeom>
          <a:noFill/>
          <a:ln/>
        </p:spPr>
        <p:txBody>
          <a:bodyPr wrap="square" lIns="0" tIns="0" rIns="0" bIns="0" rtlCol="0" anchor="ctr"/>
          <a:lstStyle/>
          <a:p>
            <a:pPr marL="0" indent="0" algn="ctr">
              <a:buNone/>
            </a:pPr>
            <a:r>
              <a:rPr lang="en-US" sz="750" b="1" dirty="0">
                <a:solidFill>
                  <a:srgbClr val="FFFFFF"/>
                </a:solidFill>
              </a:rPr>
              <a:t>RISK: HIGH</a:t>
            </a:r>
            <a:endParaRPr lang="en-US" sz="750" dirty="0"/>
          </a:p>
        </p:txBody>
      </p:sp>
      <p:sp>
        <p:nvSpPr>
          <p:cNvPr id="5" name="Shape 3"/>
          <p:cNvSpPr/>
          <p:nvPr/>
        </p:nvSpPr>
        <p:spPr>
          <a:xfrm>
            <a:off x="7772400" y="100584"/>
            <a:ext cx="1234440" cy="292608"/>
          </a:xfrm>
          <a:prstGeom prst="rect">
            <a:avLst/>
          </a:prstGeom>
          <a:solidFill>
            <a:srgbClr val="C0392B"/>
          </a:solidFill>
          <a:ln w="12700">
            <a:solidFill>
              <a:srgbClr val="C0392B"/>
            </a:solidFill>
            <a:prstDash val="solid"/>
          </a:ln>
        </p:spPr>
        <p:txBody>
          <a:bodyPr/>
          <a:lstStyle/>
          <a:p>
            <a:endParaRPr lang="en-DE"/>
          </a:p>
        </p:txBody>
      </p:sp>
      <p:sp>
        <p:nvSpPr>
          <p:cNvPr id="6" name="Text 4"/>
          <p:cNvSpPr/>
          <p:nvPr/>
        </p:nvSpPr>
        <p:spPr>
          <a:xfrm>
            <a:off x="7772400" y="100584"/>
            <a:ext cx="1234440" cy="292608"/>
          </a:xfrm>
          <a:prstGeom prst="rect">
            <a:avLst/>
          </a:prstGeom>
          <a:noFill/>
          <a:ln/>
        </p:spPr>
        <p:txBody>
          <a:bodyPr wrap="square" lIns="0" tIns="0" rIns="0" bIns="0" rtlCol="0" anchor="ctr"/>
          <a:lstStyle/>
          <a:p>
            <a:pPr marL="0" indent="0" algn="ctr">
              <a:buNone/>
            </a:pPr>
            <a:r>
              <a:rPr lang="en-US" sz="750" b="1" dirty="0">
                <a:solidFill>
                  <a:srgbClr val="FFFFFF"/>
                </a:solidFill>
              </a:rPr>
              <a:t>PRIORITY: HIGH</a:t>
            </a:r>
            <a:endParaRPr lang="en-US" sz="750" dirty="0"/>
          </a:p>
        </p:txBody>
      </p:sp>
      <p:sp>
        <p:nvSpPr>
          <p:cNvPr id="7" name="Shape 5"/>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8" name="Text 6"/>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9" name="Text 7"/>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TRANSACTION ANALYSIS</a:t>
            </a:r>
            <a:endParaRPr lang="en-US" sz="700" dirty="0"/>
          </a:p>
        </p:txBody>
      </p:sp>
      <p:sp>
        <p:nvSpPr>
          <p:cNvPr id="10" name="Text 8"/>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9 / 23</a:t>
            </a:r>
            <a:endParaRPr lang="en-US" sz="700" dirty="0"/>
          </a:p>
        </p:txBody>
      </p:sp>
      <p:sp>
        <p:nvSpPr>
          <p:cNvPr id="11" name="Text 9"/>
          <p:cNvSpPr/>
          <p:nvPr/>
        </p:nvSpPr>
        <p:spPr>
          <a:xfrm>
            <a:off x="411480" y="137160"/>
            <a:ext cx="6400800" cy="201168"/>
          </a:xfrm>
          <a:prstGeom prst="rect">
            <a:avLst/>
          </a:prstGeom>
          <a:noFill/>
          <a:ln/>
        </p:spPr>
        <p:txBody>
          <a:bodyPr wrap="square" lIns="0" tIns="0" rIns="0" bIns="0" rtlCol="0" anchor="ctr"/>
          <a:lstStyle/>
          <a:p>
            <a:r>
              <a:rPr lang="en-US" sz="800" b="1" kern="0" spc="200" dirty="0">
                <a:solidFill>
                  <a:srgbClr val="006B6B"/>
                </a:solidFill>
              </a:rPr>
              <a:t>03 | TRANSACTION ANALYSIS</a:t>
            </a:r>
            <a:endParaRPr lang="en-US" sz="800" dirty="0"/>
          </a:p>
        </p:txBody>
      </p:sp>
      <p:sp>
        <p:nvSpPr>
          <p:cNvPr id="12" name="Text 10"/>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T3: Scenario - Direct Import China → Spain</a:t>
            </a:r>
            <a:endParaRPr lang="en-US" sz="2100" dirty="0"/>
          </a:p>
        </p:txBody>
      </p:sp>
      <p:sp>
        <p:nvSpPr>
          <p:cNvPr id="13" name="Text 11"/>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Assumed scenario: steel purchased by Strabam AG but shipped directly to Spanish subsidiary without entering Germany | Chain transaction analysis</a:t>
            </a:r>
            <a:endParaRPr lang="en-US" sz="950" dirty="0"/>
          </a:p>
        </p:txBody>
      </p:sp>
      <p:sp>
        <p:nvSpPr>
          <p:cNvPr id="14" name="Shape 12"/>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5" name="Shape 13"/>
          <p:cNvSpPr/>
          <p:nvPr/>
        </p:nvSpPr>
        <p:spPr>
          <a:xfrm>
            <a:off x="274320" y="1151346"/>
            <a:ext cx="4160520" cy="827605"/>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16" name="Shape 14"/>
          <p:cNvSpPr/>
          <p:nvPr/>
        </p:nvSpPr>
        <p:spPr>
          <a:xfrm>
            <a:off x="274320" y="1196584"/>
            <a:ext cx="36576" cy="752368"/>
          </a:xfrm>
          <a:prstGeom prst="rect">
            <a:avLst/>
          </a:prstGeom>
          <a:solidFill>
            <a:srgbClr val="006B6B"/>
          </a:solidFill>
          <a:ln w="12700">
            <a:solidFill>
              <a:srgbClr val="006B6B"/>
            </a:solidFill>
            <a:prstDash val="solid"/>
          </a:ln>
        </p:spPr>
        <p:txBody>
          <a:bodyPr/>
          <a:lstStyle/>
          <a:p>
            <a:endParaRPr lang="en-DE"/>
          </a:p>
        </p:txBody>
      </p:sp>
      <p:sp>
        <p:nvSpPr>
          <p:cNvPr id="17" name="Text 15"/>
          <p:cNvSpPr/>
          <p:nvPr/>
        </p:nvSpPr>
        <p:spPr>
          <a:xfrm>
            <a:off x="365760" y="1137819"/>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TAXABILITY</a:t>
            </a:r>
            <a:endParaRPr lang="en-US" sz="650" dirty="0"/>
          </a:p>
        </p:txBody>
      </p:sp>
      <p:sp>
        <p:nvSpPr>
          <p:cNvPr id="18" name="Text 16"/>
          <p:cNvSpPr/>
          <p:nvPr/>
        </p:nvSpPr>
        <p:spPr>
          <a:xfrm>
            <a:off x="365760" y="1358353"/>
            <a:ext cx="4023360" cy="535510"/>
          </a:xfrm>
          <a:prstGeom prst="rect">
            <a:avLst/>
          </a:prstGeom>
          <a:noFill/>
          <a:ln/>
        </p:spPr>
        <p:txBody>
          <a:bodyPr wrap="square" lIns="0" tIns="0" rIns="0" bIns="0" rtlCol="0" anchor="ctr"/>
          <a:lstStyle/>
          <a:p>
            <a:pPr marL="0" indent="0">
              <a:buNone/>
            </a:pPr>
            <a:r>
              <a:rPr lang="en-US" sz="750" dirty="0">
                <a:solidFill>
                  <a:srgbClr val="1B2E4B"/>
                </a:solidFill>
              </a:rPr>
              <a:t>§ 1 Abs. 1 Nr. 4 UStG (German perspective) - German import VAT does NOT arise because the goods never physically enter Germany. From a Spanish perspective, the import of goods from China into Spain constitutes a taxable event under Spanish VAT law (Ley del IVA). Potential chain transaction (Reihengeschäft): if the legal supply chain is Chinese seller → Strabam AG → Spanish subsidiary, with a single transport movement, Reihengeschäft rules under § 3 Abs. 6 S. 5-6 UStG and EU VAT Directive Art. 36a apply to allocate the 'moved supply'.</a:t>
            </a:r>
            <a:endParaRPr lang="en-US" sz="750" dirty="0"/>
          </a:p>
        </p:txBody>
      </p:sp>
      <p:sp>
        <p:nvSpPr>
          <p:cNvPr id="19" name="Shape 17"/>
          <p:cNvSpPr/>
          <p:nvPr/>
        </p:nvSpPr>
        <p:spPr>
          <a:xfrm>
            <a:off x="4599432" y="1151346"/>
            <a:ext cx="4160520" cy="827605"/>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0" name="Shape 18"/>
          <p:cNvSpPr/>
          <p:nvPr/>
        </p:nvSpPr>
        <p:spPr>
          <a:xfrm>
            <a:off x="4599432" y="1204204"/>
            <a:ext cx="36576" cy="752368"/>
          </a:xfrm>
          <a:prstGeom prst="rect">
            <a:avLst/>
          </a:prstGeom>
          <a:solidFill>
            <a:srgbClr val="006B6B"/>
          </a:solidFill>
          <a:ln w="12700">
            <a:solidFill>
              <a:srgbClr val="006B6B"/>
            </a:solidFill>
            <a:prstDash val="solid"/>
          </a:ln>
        </p:spPr>
        <p:txBody>
          <a:bodyPr/>
          <a:lstStyle/>
          <a:p>
            <a:endParaRPr lang="en-DE"/>
          </a:p>
        </p:txBody>
      </p:sp>
      <p:sp>
        <p:nvSpPr>
          <p:cNvPr id="21" name="Text 19"/>
          <p:cNvSpPr/>
          <p:nvPr/>
        </p:nvSpPr>
        <p:spPr>
          <a:xfrm>
            <a:off x="4690872" y="1141668"/>
            <a:ext cx="4023360" cy="219072"/>
          </a:xfrm>
          <a:prstGeom prst="rect">
            <a:avLst/>
          </a:prstGeom>
          <a:noFill/>
          <a:ln/>
        </p:spPr>
        <p:txBody>
          <a:bodyPr wrap="square" lIns="0" tIns="0" rIns="0" bIns="0" rtlCol="0" anchor="ctr"/>
          <a:lstStyle/>
          <a:p>
            <a:pPr marL="0" indent="0">
              <a:buNone/>
            </a:pPr>
            <a:r>
              <a:rPr lang="en-US" sz="650" b="1" kern="0" spc="50" dirty="0">
                <a:solidFill>
                  <a:srgbClr val="006B6B"/>
                </a:solidFill>
              </a:rPr>
              <a:t>PLACE OF SUPPLY</a:t>
            </a:r>
            <a:endParaRPr lang="en-US" sz="650" dirty="0"/>
          </a:p>
        </p:txBody>
      </p:sp>
      <p:sp>
        <p:nvSpPr>
          <p:cNvPr id="22" name="Text 20"/>
          <p:cNvSpPr/>
          <p:nvPr/>
        </p:nvSpPr>
        <p:spPr>
          <a:xfrm>
            <a:off x="4690872" y="1359835"/>
            <a:ext cx="4023360" cy="486827"/>
          </a:xfrm>
          <a:prstGeom prst="rect">
            <a:avLst/>
          </a:prstGeom>
          <a:noFill/>
          <a:ln/>
        </p:spPr>
        <p:txBody>
          <a:bodyPr wrap="square" lIns="0" tIns="0" rIns="0" bIns="0" rtlCol="0" anchor="ctr"/>
          <a:lstStyle/>
          <a:p>
            <a:pPr marL="0" indent="0">
              <a:buNone/>
            </a:pPr>
            <a:r>
              <a:rPr lang="en-US" sz="750" dirty="0">
                <a:solidFill>
                  <a:srgbClr val="1B2E4B"/>
                </a:solidFill>
              </a:rPr>
              <a:t>§ 3 Abs. 6 UStG / Chain transaction rules - The supply to which the transport is allocated is taxed where transport begins (China). The other supply is taxed where transport ends (Spain). If Strabam AG arranges transport: the Chinese seller→Strabam AG leg is the 'moved supply' (taxed in China, possibly zero-rated export). Strabam AG→Spanish subsidiary leg is a domestic Spanish supply. Spanish importation point determines jurisdiction.</a:t>
            </a:r>
            <a:endParaRPr lang="en-US" sz="750" dirty="0"/>
          </a:p>
        </p:txBody>
      </p:sp>
      <p:sp>
        <p:nvSpPr>
          <p:cNvPr id="23" name="Shape 21"/>
          <p:cNvSpPr/>
          <p:nvPr/>
        </p:nvSpPr>
        <p:spPr>
          <a:xfrm>
            <a:off x="274320" y="1996440"/>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4" name="Shape 22"/>
          <p:cNvSpPr/>
          <p:nvPr/>
        </p:nvSpPr>
        <p:spPr>
          <a:xfrm>
            <a:off x="274320" y="2058018"/>
            <a:ext cx="36576" cy="513877"/>
          </a:xfrm>
          <a:prstGeom prst="rect">
            <a:avLst/>
          </a:prstGeom>
          <a:solidFill>
            <a:srgbClr val="006B6B"/>
          </a:solidFill>
          <a:ln w="12700">
            <a:solidFill>
              <a:srgbClr val="006B6B"/>
            </a:solidFill>
            <a:prstDash val="solid"/>
          </a:ln>
        </p:spPr>
        <p:txBody>
          <a:bodyPr/>
          <a:lstStyle/>
          <a:p>
            <a:endParaRPr lang="en-DE"/>
          </a:p>
        </p:txBody>
      </p:sp>
      <p:sp>
        <p:nvSpPr>
          <p:cNvPr id="25" name="Text 23"/>
          <p:cNvSpPr/>
          <p:nvPr/>
        </p:nvSpPr>
        <p:spPr>
          <a:xfrm>
            <a:off x="365760" y="1979676"/>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TAXABLE AMOUNT</a:t>
            </a:r>
            <a:endParaRPr lang="en-US" sz="650" dirty="0"/>
          </a:p>
        </p:txBody>
      </p:sp>
      <p:sp>
        <p:nvSpPr>
          <p:cNvPr id="26" name="Text 24"/>
          <p:cNvSpPr/>
          <p:nvPr/>
        </p:nvSpPr>
        <p:spPr>
          <a:xfrm>
            <a:off x="365760" y="2162556"/>
            <a:ext cx="4023360" cy="365760"/>
          </a:xfrm>
          <a:prstGeom prst="rect">
            <a:avLst/>
          </a:prstGeom>
          <a:noFill/>
          <a:ln/>
        </p:spPr>
        <p:txBody>
          <a:bodyPr wrap="square" lIns="0" tIns="0" rIns="0" bIns="0" rtlCol="0" anchor="ctr"/>
          <a:lstStyle/>
          <a:p>
            <a:pPr marL="0" indent="0">
              <a:buNone/>
            </a:pPr>
            <a:r>
              <a:rPr lang="en-US" sz="750" dirty="0">
                <a:solidFill>
                  <a:srgbClr val="1B2E4B"/>
                </a:solidFill>
              </a:rPr>
              <a:t>Spanish import customs value: cost of goods + freight from China + insurance + customs duties + inland costs to first Spanish destination. Transfer price between Strabam AG and Spanish subsidiary must be documented at arm's length. Incoterms (International Commercial Terms) are decisive for determining who bears the import obligation.</a:t>
            </a:r>
            <a:endParaRPr lang="en-US" sz="750" dirty="0"/>
          </a:p>
        </p:txBody>
      </p:sp>
      <p:sp>
        <p:nvSpPr>
          <p:cNvPr id="27" name="Shape 25"/>
          <p:cNvSpPr/>
          <p:nvPr/>
        </p:nvSpPr>
        <p:spPr>
          <a:xfrm>
            <a:off x="4599432" y="1996440"/>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8" name="Shape 26"/>
          <p:cNvSpPr/>
          <p:nvPr/>
        </p:nvSpPr>
        <p:spPr>
          <a:xfrm>
            <a:off x="4599432" y="2024704"/>
            <a:ext cx="36576" cy="565265"/>
          </a:xfrm>
          <a:prstGeom prst="rect">
            <a:avLst/>
          </a:prstGeom>
          <a:solidFill>
            <a:srgbClr val="006B6B"/>
          </a:solidFill>
          <a:ln w="12700">
            <a:solidFill>
              <a:srgbClr val="006B6B"/>
            </a:solidFill>
            <a:prstDash val="solid"/>
          </a:ln>
        </p:spPr>
        <p:txBody>
          <a:bodyPr/>
          <a:lstStyle/>
          <a:p>
            <a:endParaRPr lang="en-DE"/>
          </a:p>
        </p:txBody>
      </p:sp>
      <p:sp>
        <p:nvSpPr>
          <p:cNvPr id="29" name="Text 27"/>
          <p:cNvSpPr/>
          <p:nvPr/>
        </p:nvSpPr>
        <p:spPr>
          <a:xfrm>
            <a:off x="4690872" y="1979676"/>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VAT RATE</a:t>
            </a:r>
            <a:endParaRPr lang="en-US" sz="650" dirty="0"/>
          </a:p>
        </p:txBody>
      </p:sp>
      <p:sp>
        <p:nvSpPr>
          <p:cNvPr id="30" name="Text 28"/>
          <p:cNvSpPr/>
          <p:nvPr/>
        </p:nvSpPr>
        <p:spPr>
          <a:xfrm>
            <a:off x="4690872" y="2162556"/>
            <a:ext cx="4023360" cy="365760"/>
          </a:xfrm>
          <a:prstGeom prst="rect">
            <a:avLst/>
          </a:prstGeom>
          <a:noFill/>
          <a:ln/>
        </p:spPr>
        <p:txBody>
          <a:bodyPr wrap="square" lIns="0" tIns="0" rIns="0" bIns="0" rtlCol="0" anchor="ctr"/>
          <a:lstStyle/>
          <a:p>
            <a:pPr marL="0" indent="0">
              <a:buNone/>
            </a:pPr>
            <a:r>
              <a:rPr lang="en-US" sz="750" dirty="0">
                <a:solidFill>
                  <a:srgbClr val="1B2E4B"/>
                </a:solidFill>
              </a:rPr>
              <a:t>Spanish import VAT at applicable Spanish rate (generally 21%) - assessed and collected by Spanish Customs (Agencia Tributaria). If Strabam AG is named as importer of record in Spain, it would need Spanish VAT registration to recover Spanish import VAT. If Spanish subsidiary is importer of record, it recovers Spanish import VAT through its own Spanish VAT return.</a:t>
            </a:r>
            <a:endParaRPr lang="en-US" sz="750" dirty="0"/>
          </a:p>
        </p:txBody>
      </p:sp>
      <p:sp>
        <p:nvSpPr>
          <p:cNvPr id="31" name="Shape 29"/>
          <p:cNvSpPr/>
          <p:nvPr/>
        </p:nvSpPr>
        <p:spPr>
          <a:xfrm>
            <a:off x="274320" y="2631948"/>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2" name="Shape 30"/>
          <p:cNvSpPr/>
          <p:nvPr/>
        </p:nvSpPr>
        <p:spPr>
          <a:xfrm>
            <a:off x="274320" y="2652592"/>
            <a:ext cx="36576" cy="565265"/>
          </a:xfrm>
          <a:prstGeom prst="rect">
            <a:avLst/>
          </a:prstGeom>
          <a:solidFill>
            <a:srgbClr val="006B6B"/>
          </a:solidFill>
          <a:ln w="12700">
            <a:solidFill>
              <a:srgbClr val="006B6B"/>
            </a:solidFill>
            <a:prstDash val="solid"/>
          </a:ln>
        </p:spPr>
        <p:txBody>
          <a:bodyPr/>
          <a:lstStyle/>
          <a:p>
            <a:endParaRPr lang="en-DE"/>
          </a:p>
        </p:txBody>
      </p:sp>
      <p:sp>
        <p:nvSpPr>
          <p:cNvPr id="33" name="Text 31"/>
          <p:cNvSpPr/>
          <p:nvPr/>
        </p:nvSpPr>
        <p:spPr>
          <a:xfrm>
            <a:off x="365760" y="2622804"/>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TIME OF TAXATION</a:t>
            </a:r>
            <a:endParaRPr lang="en-US" sz="650" dirty="0"/>
          </a:p>
        </p:txBody>
      </p:sp>
      <p:sp>
        <p:nvSpPr>
          <p:cNvPr id="34" name="Text 32"/>
          <p:cNvSpPr/>
          <p:nvPr/>
        </p:nvSpPr>
        <p:spPr>
          <a:xfrm>
            <a:off x="365760" y="2805684"/>
            <a:ext cx="4023360" cy="365760"/>
          </a:xfrm>
          <a:prstGeom prst="rect">
            <a:avLst/>
          </a:prstGeom>
          <a:noFill/>
          <a:ln/>
        </p:spPr>
        <p:txBody>
          <a:bodyPr wrap="square" lIns="0" tIns="0" rIns="0" bIns="0" rtlCol="0" anchor="ctr"/>
          <a:lstStyle/>
          <a:p>
            <a:pPr marL="0" indent="0">
              <a:buNone/>
            </a:pPr>
            <a:r>
              <a:rPr lang="en-US" sz="750" dirty="0">
                <a:solidFill>
                  <a:srgbClr val="1B2E4B"/>
                </a:solidFill>
              </a:rPr>
              <a:t>Spanish import VAT arises upon release of goods into free circulation by Spanish Customs (Agencia Tributaria), in accordance with Art. 77 Union Customs Code (Unionszollkodex / UZK). Subsequent intra-group supply between Strabam AG and Spanish subsidiary follows normal invoice-based timing rules.</a:t>
            </a:r>
            <a:endParaRPr lang="en-US" sz="750" dirty="0"/>
          </a:p>
        </p:txBody>
      </p:sp>
      <p:sp>
        <p:nvSpPr>
          <p:cNvPr id="35" name="Shape 33"/>
          <p:cNvSpPr/>
          <p:nvPr/>
        </p:nvSpPr>
        <p:spPr>
          <a:xfrm>
            <a:off x="4599432" y="2631948"/>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6" name="Shape 34"/>
          <p:cNvSpPr/>
          <p:nvPr/>
        </p:nvSpPr>
        <p:spPr>
          <a:xfrm>
            <a:off x="4599432" y="2629732"/>
            <a:ext cx="36576" cy="565265"/>
          </a:xfrm>
          <a:prstGeom prst="rect">
            <a:avLst/>
          </a:prstGeom>
          <a:solidFill>
            <a:srgbClr val="006B6B"/>
          </a:solidFill>
          <a:ln w="12700">
            <a:solidFill>
              <a:srgbClr val="006B6B"/>
            </a:solidFill>
            <a:prstDash val="solid"/>
          </a:ln>
        </p:spPr>
        <p:txBody>
          <a:bodyPr/>
          <a:lstStyle/>
          <a:p>
            <a:endParaRPr lang="en-DE"/>
          </a:p>
        </p:txBody>
      </p:sp>
      <p:sp>
        <p:nvSpPr>
          <p:cNvPr id="37" name="Text 35"/>
          <p:cNvSpPr/>
          <p:nvPr/>
        </p:nvSpPr>
        <p:spPr>
          <a:xfrm>
            <a:off x="4690872" y="2622804"/>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PERSON LIABLE FOR VAT</a:t>
            </a:r>
            <a:endParaRPr lang="en-US" sz="650" dirty="0"/>
          </a:p>
        </p:txBody>
      </p:sp>
      <p:sp>
        <p:nvSpPr>
          <p:cNvPr id="38" name="Text 36"/>
          <p:cNvSpPr/>
          <p:nvPr/>
        </p:nvSpPr>
        <p:spPr>
          <a:xfrm>
            <a:off x="4690872" y="2805684"/>
            <a:ext cx="4023360" cy="365760"/>
          </a:xfrm>
          <a:prstGeom prst="rect">
            <a:avLst/>
          </a:prstGeom>
          <a:noFill/>
          <a:ln/>
        </p:spPr>
        <p:txBody>
          <a:bodyPr wrap="square" lIns="0" tIns="0" rIns="0" bIns="0" rtlCol="0" anchor="ctr"/>
          <a:lstStyle/>
          <a:p>
            <a:pPr marL="0" indent="0">
              <a:buNone/>
            </a:pPr>
            <a:r>
              <a:rPr lang="en-US" sz="750" dirty="0">
                <a:solidFill>
                  <a:srgbClr val="1B2E4B"/>
                </a:solidFill>
              </a:rPr>
              <a:t>The Importer of Record (Anmelder) named in the Spanish customs declaration is liable for Spanish import VAT. This must be contractually agreed and aligned with Incoterms. Risk: if Incoterms are unclear (e.g. Cost, Insurance and Freight / CIF vs. Delivered Duty Paid / DDP), the liable party may be disputed.</a:t>
            </a:r>
            <a:endParaRPr lang="en-US" sz="750" dirty="0"/>
          </a:p>
        </p:txBody>
      </p:sp>
      <p:sp>
        <p:nvSpPr>
          <p:cNvPr id="39" name="Shape 37"/>
          <p:cNvSpPr/>
          <p:nvPr/>
        </p:nvSpPr>
        <p:spPr>
          <a:xfrm>
            <a:off x="274320" y="3270748"/>
            <a:ext cx="4160520" cy="752368"/>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0" name="Shape 38"/>
          <p:cNvSpPr/>
          <p:nvPr/>
        </p:nvSpPr>
        <p:spPr>
          <a:xfrm>
            <a:off x="274320" y="3278368"/>
            <a:ext cx="36576" cy="752368"/>
          </a:xfrm>
          <a:prstGeom prst="rect">
            <a:avLst/>
          </a:prstGeom>
          <a:solidFill>
            <a:srgbClr val="006B6B"/>
          </a:solidFill>
          <a:ln w="12700">
            <a:solidFill>
              <a:srgbClr val="006B6B"/>
            </a:solidFill>
            <a:prstDash val="solid"/>
          </a:ln>
        </p:spPr>
        <p:txBody>
          <a:bodyPr/>
          <a:lstStyle/>
          <a:p>
            <a:endParaRPr lang="en-DE"/>
          </a:p>
        </p:txBody>
      </p:sp>
      <p:sp>
        <p:nvSpPr>
          <p:cNvPr id="41" name="Text 39"/>
          <p:cNvSpPr/>
          <p:nvPr/>
        </p:nvSpPr>
        <p:spPr>
          <a:xfrm>
            <a:off x="365760" y="3279130"/>
            <a:ext cx="4023360" cy="199156"/>
          </a:xfrm>
          <a:prstGeom prst="rect">
            <a:avLst/>
          </a:prstGeom>
          <a:noFill/>
          <a:ln/>
        </p:spPr>
        <p:txBody>
          <a:bodyPr wrap="square" lIns="0" tIns="0" rIns="0" bIns="0" rtlCol="0" anchor="ctr"/>
          <a:lstStyle/>
          <a:p>
            <a:pPr marL="0" indent="0">
              <a:buNone/>
            </a:pPr>
            <a:r>
              <a:rPr lang="en-US" sz="650" b="1" kern="0" spc="50" dirty="0">
                <a:solidFill>
                  <a:srgbClr val="006B6B"/>
                </a:solidFill>
              </a:rPr>
              <a:t>INPUT VAT DEDUCTION</a:t>
            </a:r>
            <a:endParaRPr lang="en-US" sz="650" dirty="0"/>
          </a:p>
        </p:txBody>
      </p:sp>
      <p:sp>
        <p:nvSpPr>
          <p:cNvPr id="42" name="Text 40"/>
          <p:cNvSpPr/>
          <p:nvPr/>
        </p:nvSpPr>
        <p:spPr>
          <a:xfrm>
            <a:off x="365760" y="3440887"/>
            <a:ext cx="4023360" cy="442570"/>
          </a:xfrm>
          <a:prstGeom prst="rect">
            <a:avLst/>
          </a:prstGeom>
          <a:noFill/>
          <a:ln/>
        </p:spPr>
        <p:txBody>
          <a:bodyPr wrap="square" lIns="0" tIns="0" rIns="0" bIns="0" rtlCol="0" anchor="ctr"/>
          <a:lstStyle/>
          <a:p>
            <a:pPr marL="0" indent="0">
              <a:buNone/>
            </a:pPr>
            <a:r>
              <a:rPr lang="en-US" sz="750" dirty="0">
                <a:solidFill>
                  <a:srgbClr val="1B2E4B"/>
                </a:solidFill>
              </a:rPr>
              <a:t>Recovery of Spanish import VAT requires: (a) Spanish VAT registration for Strabam AG (if it is the importer of record), OR (b) Spanish subsidiary as importer of record recovers via its own return. Non-structured transactions may create non-recoverable VAT exposure (Definitivbelastung) if the wrong entity is named on Spanish customs documents.</a:t>
            </a:r>
            <a:endParaRPr lang="en-US" sz="750" dirty="0"/>
          </a:p>
        </p:txBody>
      </p:sp>
      <p:sp>
        <p:nvSpPr>
          <p:cNvPr id="43" name="Shape 41"/>
          <p:cNvSpPr/>
          <p:nvPr/>
        </p:nvSpPr>
        <p:spPr>
          <a:xfrm>
            <a:off x="4599432" y="3270748"/>
            <a:ext cx="4160520" cy="752368"/>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4" name="Shape 42"/>
          <p:cNvSpPr/>
          <p:nvPr/>
        </p:nvSpPr>
        <p:spPr>
          <a:xfrm>
            <a:off x="4599432" y="3285988"/>
            <a:ext cx="36576" cy="752368"/>
          </a:xfrm>
          <a:prstGeom prst="rect">
            <a:avLst/>
          </a:prstGeom>
          <a:solidFill>
            <a:srgbClr val="006B6B"/>
          </a:solidFill>
          <a:ln w="12700">
            <a:solidFill>
              <a:srgbClr val="006B6B"/>
            </a:solidFill>
            <a:prstDash val="solid"/>
          </a:ln>
        </p:spPr>
        <p:txBody>
          <a:bodyPr/>
          <a:lstStyle/>
          <a:p>
            <a:endParaRPr lang="en-DE"/>
          </a:p>
        </p:txBody>
      </p:sp>
      <p:sp>
        <p:nvSpPr>
          <p:cNvPr id="45" name="Text 43"/>
          <p:cNvSpPr/>
          <p:nvPr/>
        </p:nvSpPr>
        <p:spPr>
          <a:xfrm>
            <a:off x="4690872" y="3263890"/>
            <a:ext cx="4023360" cy="199156"/>
          </a:xfrm>
          <a:prstGeom prst="rect">
            <a:avLst/>
          </a:prstGeom>
          <a:noFill/>
          <a:ln/>
        </p:spPr>
        <p:txBody>
          <a:bodyPr wrap="square" lIns="0" tIns="0" rIns="0" bIns="0" rtlCol="0" anchor="ctr"/>
          <a:lstStyle/>
          <a:p>
            <a:pPr marL="0" indent="0">
              <a:buNone/>
            </a:pPr>
            <a:r>
              <a:rPr lang="en-US" sz="650" b="1" kern="0" spc="50" dirty="0">
                <a:solidFill>
                  <a:srgbClr val="006B6B"/>
                </a:solidFill>
              </a:rPr>
              <a:t>FILING &amp; COMPLIANCE</a:t>
            </a:r>
            <a:endParaRPr lang="en-US" sz="650" dirty="0"/>
          </a:p>
        </p:txBody>
      </p:sp>
      <p:sp>
        <p:nvSpPr>
          <p:cNvPr id="46" name="Text 44"/>
          <p:cNvSpPr/>
          <p:nvPr/>
        </p:nvSpPr>
        <p:spPr>
          <a:xfrm>
            <a:off x="4690872" y="3478987"/>
            <a:ext cx="4023360" cy="442570"/>
          </a:xfrm>
          <a:prstGeom prst="rect">
            <a:avLst/>
          </a:prstGeom>
          <a:noFill/>
          <a:ln/>
        </p:spPr>
        <p:txBody>
          <a:bodyPr wrap="square" lIns="0" tIns="0" rIns="0" bIns="0" rtlCol="0" anchor="ctr"/>
          <a:lstStyle/>
          <a:p>
            <a:pPr marL="0" indent="0">
              <a:buNone/>
            </a:pPr>
            <a:r>
              <a:rPr lang="en-US" sz="750" dirty="0">
                <a:solidFill>
                  <a:srgbClr val="1B2E4B"/>
                </a:solidFill>
              </a:rPr>
              <a:t>(a) Clarify Incoterms in contracts with Chinese supplier. (b) Determine Importer of Record for each shipment. (c) If Strabam AG is importer: apply for Spanish VAT registration or appoint Spanish Fiscal Representative (Fiskalvertreter). (d) Spanish Intrastat obligations if goods subsequently move within Spain. (e) Consider applying for a Binding Ruling (Verbindliche Auskunft / Ruling Vinculante) from Spanish Tax Authority (Agencia Tributaria).</a:t>
            </a:r>
            <a:endParaRPr lang="en-US" sz="750" dirty="0"/>
          </a:p>
        </p:txBody>
      </p:sp>
      <p:sp>
        <p:nvSpPr>
          <p:cNvPr id="47" name="Shape 45"/>
          <p:cNvSpPr/>
          <p:nvPr/>
        </p:nvSpPr>
        <p:spPr>
          <a:xfrm>
            <a:off x="274320" y="4066032"/>
            <a:ext cx="8485632" cy="594360"/>
          </a:xfrm>
          <a:prstGeom prst="rect">
            <a:avLst/>
          </a:prstGeom>
          <a:solidFill>
            <a:srgbClr val="E8F4F4"/>
          </a:solidFill>
          <a:ln w="7620">
            <a:solidFill>
              <a:srgbClr val="006B6B"/>
            </a:solidFill>
            <a:prstDash val="solid"/>
          </a:ln>
          <a:effectLst>
            <a:outerShdw blurRad="38100" dist="12700" dir="8100000" algn="bl" rotWithShape="0">
              <a:srgbClr val="000000">
                <a:alpha val="6000"/>
              </a:srgbClr>
            </a:outerShdw>
          </a:effectLst>
        </p:spPr>
        <p:txBody>
          <a:bodyPr/>
          <a:lstStyle/>
          <a:p>
            <a:endParaRPr lang="en-DE"/>
          </a:p>
        </p:txBody>
      </p:sp>
      <p:sp>
        <p:nvSpPr>
          <p:cNvPr id="48" name="Shape 46"/>
          <p:cNvSpPr/>
          <p:nvPr/>
        </p:nvSpPr>
        <p:spPr>
          <a:xfrm>
            <a:off x="274320" y="4081272"/>
            <a:ext cx="36576" cy="594360"/>
          </a:xfrm>
          <a:prstGeom prst="rect">
            <a:avLst/>
          </a:prstGeom>
          <a:solidFill>
            <a:srgbClr val="006B6B"/>
          </a:solidFill>
          <a:ln w="12700">
            <a:solidFill>
              <a:srgbClr val="006B6B"/>
            </a:solidFill>
            <a:prstDash val="solid"/>
          </a:ln>
        </p:spPr>
        <p:txBody>
          <a:bodyPr/>
          <a:lstStyle/>
          <a:p>
            <a:endParaRPr lang="en-DE"/>
          </a:p>
        </p:txBody>
      </p:sp>
      <p:sp>
        <p:nvSpPr>
          <p:cNvPr id="49" name="Text 47"/>
          <p:cNvSpPr/>
          <p:nvPr/>
        </p:nvSpPr>
        <p:spPr>
          <a:xfrm>
            <a:off x="384048" y="4111752"/>
            <a:ext cx="2011680" cy="164592"/>
          </a:xfrm>
          <a:prstGeom prst="rect">
            <a:avLst/>
          </a:prstGeom>
          <a:noFill/>
          <a:ln/>
        </p:spPr>
        <p:txBody>
          <a:bodyPr wrap="square" lIns="0" tIns="0" rIns="0" bIns="0" rtlCol="0" anchor="ctr"/>
          <a:lstStyle/>
          <a:p>
            <a:pPr marL="0" indent="0">
              <a:buNone/>
            </a:pPr>
            <a:r>
              <a:rPr lang="en-US" sz="700" b="1" kern="0" spc="50" dirty="0">
                <a:solidFill>
                  <a:srgbClr val="006B6B"/>
                </a:solidFill>
              </a:rPr>
              <a:t>MANAGEMENT ACTION</a:t>
            </a:r>
            <a:endParaRPr lang="en-US" sz="700" dirty="0"/>
          </a:p>
        </p:txBody>
      </p:sp>
      <p:sp>
        <p:nvSpPr>
          <p:cNvPr id="50" name="Text 48"/>
          <p:cNvSpPr/>
          <p:nvPr/>
        </p:nvSpPr>
        <p:spPr>
          <a:xfrm>
            <a:off x="384048" y="4285488"/>
            <a:ext cx="8321040" cy="329184"/>
          </a:xfrm>
          <a:prstGeom prst="rect">
            <a:avLst/>
          </a:prstGeom>
          <a:noFill/>
          <a:ln/>
        </p:spPr>
        <p:txBody>
          <a:bodyPr wrap="square" lIns="0" tIns="0" rIns="0" bIns="0" rtlCol="0" anchor="ctr"/>
          <a:lstStyle/>
          <a:p>
            <a:pPr marL="0" indent="0">
              <a:buNone/>
            </a:pPr>
            <a:r>
              <a:rPr lang="en-US" sz="780" dirty="0">
                <a:solidFill>
                  <a:srgbClr val="1B2E4B"/>
                </a:solidFill>
              </a:rPr>
              <a:t>URGENT: Review all existing contracts with Chinese supplier for Incoterms clause. Align import responsibility with the Spanish subsidiary as importer of record to avoid needing a separate Spanish VAT registration for Strabam AG. If Strabam AG must be importer, appoint a Spanish Fiscal Representative immediately. Request a formal Binding Ruling (Verbindliche Auskunft) from the competent German or Spanish Tax Authority on the chain-transaction classification to reduce audit risk.</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6400800" y="100584"/>
            <a:ext cx="1280160" cy="292608"/>
          </a:xfrm>
          <a:prstGeom prst="rect">
            <a:avLst/>
          </a:prstGeom>
          <a:solidFill>
            <a:srgbClr val="D97706"/>
          </a:solidFill>
          <a:ln w="12700">
            <a:solidFill>
              <a:srgbClr val="D97706"/>
            </a:solidFill>
            <a:prstDash val="solid"/>
          </a:ln>
        </p:spPr>
        <p:txBody>
          <a:bodyPr/>
          <a:lstStyle/>
          <a:p>
            <a:endParaRPr lang="en-DE"/>
          </a:p>
        </p:txBody>
      </p:sp>
      <p:sp>
        <p:nvSpPr>
          <p:cNvPr id="4" name="Text 2"/>
          <p:cNvSpPr/>
          <p:nvPr/>
        </p:nvSpPr>
        <p:spPr>
          <a:xfrm>
            <a:off x="6400800" y="100584"/>
            <a:ext cx="1280160" cy="292608"/>
          </a:xfrm>
          <a:prstGeom prst="rect">
            <a:avLst/>
          </a:prstGeom>
          <a:noFill/>
          <a:ln/>
        </p:spPr>
        <p:txBody>
          <a:bodyPr wrap="square" lIns="0" tIns="0" rIns="0" bIns="0" rtlCol="0" anchor="ctr"/>
          <a:lstStyle/>
          <a:p>
            <a:pPr marL="0" indent="0" algn="ctr">
              <a:buNone/>
            </a:pPr>
            <a:r>
              <a:rPr lang="en-US" sz="750" b="1" dirty="0">
                <a:solidFill>
                  <a:srgbClr val="FFFFFF"/>
                </a:solidFill>
              </a:rPr>
              <a:t>RISK: MEDIUM</a:t>
            </a:r>
            <a:endParaRPr lang="en-US" sz="750" dirty="0"/>
          </a:p>
        </p:txBody>
      </p:sp>
      <p:sp>
        <p:nvSpPr>
          <p:cNvPr id="5" name="Shape 3"/>
          <p:cNvSpPr/>
          <p:nvPr/>
        </p:nvSpPr>
        <p:spPr>
          <a:xfrm>
            <a:off x="7772400" y="100584"/>
            <a:ext cx="1234440" cy="292608"/>
          </a:xfrm>
          <a:prstGeom prst="rect">
            <a:avLst/>
          </a:prstGeom>
          <a:solidFill>
            <a:srgbClr val="C0392B"/>
          </a:solidFill>
          <a:ln w="12700">
            <a:solidFill>
              <a:srgbClr val="C0392B"/>
            </a:solidFill>
            <a:prstDash val="solid"/>
          </a:ln>
        </p:spPr>
        <p:txBody>
          <a:bodyPr/>
          <a:lstStyle/>
          <a:p>
            <a:endParaRPr lang="en-DE"/>
          </a:p>
        </p:txBody>
      </p:sp>
      <p:sp>
        <p:nvSpPr>
          <p:cNvPr id="6" name="Text 4"/>
          <p:cNvSpPr/>
          <p:nvPr/>
        </p:nvSpPr>
        <p:spPr>
          <a:xfrm>
            <a:off x="7772400" y="100584"/>
            <a:ext cx="1234440" cy="292608"/>
          </a:xfrm>
          <a:prstGeom prst="rect">
            <a:avLst/>
          </a:prstGeom>
          <a:noFill/>
          <a:ln/>
        </p:spPr>
        <p:txBody>
          <a:bodyPr wrap="square" lIns="0" tIns="0" rIns="0" bIns="0" rtlCol="0" anchor="ctr"/>
          <a:lstStyle/>
          <a:p>
            <a:pPr marL="0" indent="0" algn="ctr">
              <a:buNone/>
            </a:pPr>
            <a:r>
              <a:rPr lang="en-US" sz="750" b="1" dirty="0">
                <a:solidFill>
                  <a:srgbClr val="FFFFFF"/>
                </a:solidFill>
              </a:rPr>
              <a:t>PRIORITY: HIGH</a:t>
            </a:r>
            <a:endParaRPr lang="en-US" sz="750" dirty="0"/>
          </a:p>
        </p:txBody>
      </p:sp>
      <p:sp>
        <p:nvSpPr>
          <p:cNvPr id="7" name="Shape 5"/>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8" name="Text 6"/>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9" name="Text 7"/>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TRANSACTION ANALYSIS</a:t>
            </a:r>
            <a:endParaRPr lang="en-US" sz="700" dirty="0"/>
          </a:p>
        </p:txBody>
      </p:sp>
      <p:sp>
        <p:nvSpPr>
          <p:cNvPr id="10" name="Text 8"/>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10 / 23</a:t>
            </a:r>
            <a:endParaRPr lang="en-US" sz="700" dirty="0"/>
          </a:p>
        </p:txBody>
      </p:sp>
      <p:sp>
        <p:nvSpPr>
          <p:cNvPr id="11" name="Text 9"/>
          <p:cNvSpPr/>
          <p:nvPr/>
        </p:nvSpPr>
        <p:spPr>
          <a:xfrm>
            <a:off x="411480" y="137160"/>
            <a:ext cx="6400800" cy="201168"/>
          </a:xfrm>
          <a:prstGeom prst="rect">
            <a:avLst/>
          </a:prstGeom>
          <a:noFill/>
          <a:ln/>
        </p:spPr>
        <p:txBody>
          <a:bodyPr wrap="square" lIns="0" tIns="0" rIns="0" bIns="0" rtlCol="0" anchor="ctr"/>
          <a:lstStyle/>
          <a:p>
            <a:r>
              <a:rPr lang="en-US" sz="800" b="1" kern="0" spc="200" dirty="0">
                <a:solidFill>
                  <a:srgbClr val="006B6B"/>
                </a:solidFill>
              </a:rPr>
              <a:t>03 | TRANSACTION ANALYSIS</a:t>
            </a:r>
            <a:endParaRPr lang="en-US" sz="800" dirty="0"/>
          </a:p>
        </p:txBody>
      </p:sp>
      <p:sp>
        <p:nvSpPr>
          <p:cNvPr id="12" name="Text 10"/>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T4: Intra-Community Supply - Spain → Germany</a:t>
            </a:r>
            <a:endParaRPr lang="en-US" sz="2100" dirty="0"/>
          </a:p>
        </p:txBody>
      </p:sp>
      <p:sp>
        <p:nvSpPr>
          <p:cNvPr id="13" name="Text 11"/>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Spanish Subsidiary (ES) → Strabam AG (DE) | Finished large machinery (from €0.5M) after production | Separate legal entities</a:t>
            </a:r>
            <a:endParaRPr lang="en-US" sz="950" dirty="0"/>
          </a:p>
        </p:txBody>
      </p:sp>
      <p:sp>
        <p:nvSpPr>
          <p:cNvPr id="14" name="Shape 12"/>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5" name="Shape 13"/>
          <p:cNvSpPr/>
          <p:nvPr/>
        </p:nvSpPr>
        <p:spPr>
          <a:xfrm>
            <a:off x="274320" y="1150864"/>
            <a:ext cx="4160520" cy="752368"/>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16" name="Shape 14"/>
          <p:cNvSpPr/>
          <p:nvPr/>
        </p:nvSpPr>
        <p:spPr>
          <a:xfrm>
            <a:off x="274320" y="1166104"/>
            <a:ext cx="36576" cy="752368"/>
          </a:xfrm>
          <a:prstGeom prst="rect">
            <a:avLst/>
          </a:prstGeom>
          <a:solidFill>
            <a:srgbClr val="006B6B"/>
          </a:solidFill>
          <a:ln w="12700">
            <a:solidFill>
              <a:srgbClr val="006B6B"/>
            </a:solidFill>
            <a:prstDash val="solid"/>
          </a:ln>
        </p:spPr>
        <p:txBody>
          <a:bodyPr/>
          <a:lstStyle/>
          <a:p>
            <a:endParaRPr lang="en-DE"/>
          </a:p>
        </p:txBody>
      </p:sp>
      <p:sp>
        <p:nvSpPr>
          <p:cNvPr id="17" name="Text 15"/>
          <p:cNvSpPr/>
          <p:nvPr/>
        </p:nvSpPr>
        <p:spPr>
          <a:xfrm>
            <a:off x="365760" y="1130808"/>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TAXABILITY</a:t>
            </a:r>
            <a:endParaRPr lang="en-US" sz="650" dirty="0"/>
          </a:p>
        </p:txBody>
      </p:sp>
      <p:sp>
        <p:nvSpPr>
          <p:cNvPr id="18" name="Text 16"/>
          <p:cNvSpPr/>
          <p:nvPr/>
        </p:nvSpPr>
        <p:spPr>
          <a:xfrm>
            <a:off x="365760" y="1405128"/>
            <a:ext cx="4023360" cy="365760"/>
          </a:xfrm>
          <a:prstGeom prst="rect">
            <a:avLst/>
          </a:prstGeom>
          <a:noFill/>
          <a:ln/>
        </p:spPr>
        <p:txBody>
          <a:bodyPr wrap="square" lIns="0" tIns="0" rIns="0" bIns="0" rtlCol="0" anchor="ctr"/>
          <a:lstStyle/>
          <a:p>
            <a:pPr marL="0" indent="0">
              <a:buNone/>
            </a:pPr>
            <a:r>
              <a:rPr lang="en-US" sz="750" dirty="0">
                <a:solidFill>
                  <a:srgbClr val="1B2E4B"/>
                </a:solidFill>
              </a:rPr>
              <a:t>§ 1a UStG (German perspective) - The Spanish subsidiary is a separate legal entity. The sale and transport of finished large machinery from Spain to Strabam AG in Germany constitutes an Intra-Community Supply (Innergemeinschaftliche Lieferung / IGL) by the Spanish subsidiary under Spanish VAT law and an Intra-Community Acquisition (Innergemeinschaftlicher Erwerb / IGE) by Strabam AG in Germany. § 1a Abs. 2 UStG (own-goods movement) does NOT apply since the entities are legally distinct.</a:t>
            </a:r>
            <a:endParaRPr lang="en-US" sz="750" dirty="0"/>
          </a:p>
        </p:txBody>
      </p:sp>
      <p:sp>
        <p:nvSpPr>
          <p:cNvPr id="19" name="Shape 17"/>
          <p:cNvSpPr/>
          <p:nvPr/>
        </p:nvSpPr>
        <p:spPr>
          <a:xfrm>
            <a:off x="4599432" y="1150864"/>
            <a:ext cx="4160520" cy="752368"/>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0" name="Shape 18"/>
          <p:cNvSpPr/>
          <p:nvPr/>
        </p:nvSpPr>
        <p:spPr>
          <a:xfrm>
            <a:off x="4599432" y="1158484"/>
            <a:ext cx="36576" cy="752368"/>
          </a:xfrm>
          <a:prstGeom prst="rect">
            <a:avLst/>
          </a:prstGeom>
          <a:solidFill>
            <a:srgbClr val="006B6B"/>
          </a:solidFill>
          <a:ln w="12700">
            <a:solidFill>
              <a:srgbClr val="006B6B"/>
            </a:solidFill>
            <a:prstDash val="solid"/>
          </a:ln>
        </p:spPr>
        <p:txBody>
          <a:bodyPr/>
          <a:lstStyle/>
          <a:p>
            <a:endParaRPr lang="en-DE"/>
          </a:p>
        </p:txBody>
      </p:sp>
      <p:sp>
        <p:nvSpPr>
          <p:cNvPr id="21" name="Text 19"/>
          <p:cNvSpPr/>
          <p:nvPr/>
        </p:nvSpPr>
        <p:spPr>
          <a:xfrm>
            <a:off x="4690872" y="1153668"/>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PLACE OF SUPPLY</a:t>
            </a:r>
            <a:endParaRPr lang="en-US" sz="650" dirty="0"/>
          </a:p>
        </p:txBody>
      </p:sp>
      <p:sp>
        <p:nvSpPr>
          <p:cNvPr id="22" name="Text 20"/>
          <p:cNvSpPr/>
          <p:nvPr/>
        </p:nvSpPr>
        <p:spPr>
          <a:xfrm>
            <a:off x="4690872" y="1328928"/>
            <a:ext cx="4023360" cy="365760"/>
          </a:xfrm>
          <a:prstGeom prst="rect">
            <a:avLst/>
          </a:prstGeom>
          <a:noFill/>
          <a:ln/>
        </p:spPr>
        <p:txBody>
          <a:bodyPr wrap="square" lIns="0" tIns="0" rIns="0" bIns="0" rtlCol="0" anchor="ctr"/>
          <a:lstStyle/>
          <a:p>
            <a:pPr marL="0" indent="0">
              <a:buNone/>
            </a:pPr>
            <a:r>
              <a:rPr lang="en-US" sz="750" dirty="0">
                <a:solidFill>
                  <a:srgbClr val="1B2E4B"/>
                </a:solidFill>
              </a:rPr>
              <a:t>Spanish VAT law - Place of ICS is Spain (transport begins). German VAT law - Strabam AG performs the IGE in Germany (§ 1a Abs. 1 UStG), because it holds a valid German USt-IdNr. and the goods arrive in Germany. Call-off stock simplification (§ 6b </a:t>
            </a:r>
            <a:r>
              <a:rPr lang="en-US" sz="750" dirty="0" err="1">
                <a:solidFill>
                  <a:srgbClr val="1B2E4B"/>
                </a:solidFill>
              </a:rPr>
              <a:t>UStG</a:t>
            </a:r>
            <a:r>
              <a:rPr lang="en-US" sz="750" dirty="0">
                <a:solidFill>
                  <a:srgbClr val="1B2E4B"/>
                </a:solidFill>
              </a:rPr>
              <a:t> - Call-off-Stock-Regelung) does NOT apply: goods are moved to Strabam AG's own warehouse, not pre-reserved for a specific identified customer.</a:t>
            </a:r>
            <a:endParaRPr lang="en-US" sz="750" dirty="0"/>
          </a:p>
        </p:txBody>
      </p:sp>
      <p:sp>
        <p:nvSpPr>
          <p:cNvPr id="23" name="Shape 21"/>
          <p:cNvSpPr/>
          <p:nvPr/>
        </p:nvSpPr>
        <p:spPr>
          <a:xfrm>
            <a:off x="274320" y="1919631"/>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4" name="Shape 22"/>
          <p:cNvSpPr/>
          <p:nvPr/>
        </p:nvSpPr>
        <p:spPr>
          <a:xfrm>
            <a:off x="274320" y="1958340"/>
            <a:ext cx="36576" cy="621792"/>
          </a:xfrm>
          <a:prstGeom prst="rect">
            <a:avLst/>
          </a:prstGeom>
          <a:solidFill>
            <a:srgbClr val="006B6B"/>
          </a:solidFill>
          <a:ln w="12700">
            <a:solidFill>
              <a:srgbClr val="006B6B"/>
            </a:solidFill>
            <a:prstDash val="solid"/>
          </a:ln>
        </p:spPr>
        <p:txBody>
          <a:bodyPr/>
          <a:lstStyle/>
          <a:p>
            <a:endParaRPr lang="en-DE"/>
          </a:p>
        </p:txBody>
      </p:sp>
      <p:sp>
        <p:nvSpPr>
          <p:cNvPr id="25" name="Text 23"/>
          <p:cNvSpPr/>
          <p:nvPr/>
        </p:nvSpPr>
        <p:spPr>
          <a:xfrm>
            <a:off x="365760" y="1933347"/>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TAXABLE AMOUNT</a:t>
            </a:r>
            <a:endParaRPr lang="en-US" sz="650" dirty="0"/>
          </a:p>
        </p:txBody>
      </p:sp>
      <p:sp>
        <p:nvSpPr>
          <p:cNvPr id="26" name="Text 24"/>
          <p:cNvSpPr/>
          <p:nvPr/>
        </p:nvSpPr>
        <p:spPr>
          <a:xfrm>
            <a:off x="365760" y="2106168"/>
            <a:ext cx="4023360" cy="402336"/>
          </a:xfrm>
          <a:prstGeom prst="rect">
            <a:avLst/>
          </a:prstGeom>
          <a:noFill/>
          <a:ln/>
        </p:spPr>
        <p:txBody>
          <a:bodyPr wrap="square" lIns="0" tIns="0" rIns="0" bIns="0" rtlCol="0" anchor="ctr"/>
          <a:lstStyle/>
          <a:p>
            <a:pPr marL="0" indent="0">
              <a:buNone/>
            </a:pPr>
            <a:r>
              <a:rPr lang="en-US" sz="750" dirty="0">
                <a:solidFill>
                  <a:srgbClr val="1B2E4B"/>
                </a:solidFill>
              </a:rPr>
              <a:t>§ 10 UStG (German IGE perspective) - Taxable amount for the IGE is the consideration (Entgelt) paid by Strabam AG to the Spanish subsidiary. As a 100% group transaction, arm's-length pricing documentation is essential. Machine value starts from €0.5M with no defined upper limit - high-value individual transactions require careful VAT treatment.</a:t>
            </a:r>
            <a:endParaRPr lang="en-US" sz="750" dirty="0"/>
          </a:p>
        </p:txBody>
      </p:sp>
      <p:sp>
        <p:nvSpPr>
          <p:cNvPr id="27" name="Shape 25"/>
          <p:cNvSpPr/>
          <p:nvPr/>
        </p:nvSpPr>
        <p:spPr>
          <a:xfrm>
            <a:off x="4599432" y="1919631"/>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8" name="Shape 26"/>
          <p:cNvSpPr/>
          <p:nvPr/>
        </p:nvSpPr>
        <p:spPr>
          <a:xfrm>
            <a:off x="4599432" y="1958340"/>
            <a:ext cx="36576" cy="621792"/>
          </a:xfrm>
          <a:prstGeom prst="rect">
            <a:avLst/>
          </a:prstGeom>
          <a:solidFill>
            <a:srgbClr val="006B6B"/>
          </a:solidFill>
          <a:ln w="12700">
            <a:solidFill>
              <a:srgbClr val="006B6B"/>
            </a:solidFill>
            <a:prstDash val="solid"/>
          </a:ln>
        </p:spPr>
        <p:txBody>
          <a:bodyPr/>
          <a:lstStyle/>
          <a:p>
            <a:endParaRPr lang="en-DE"/>
          </a:p>
        </p:txBody>
      </p:sp>
      <p:sp>
        <p:nvSpPr>
          <p:cNvPr id="29" name="Text 27"/>
          <p:cNvSpPr/>
          <p:nvPr/>
        </p:nvSpPr>
        <p:spPr>
          <a:xfrm>
            <a:off x="4690872" y="1933347"/>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VAT RATE</a:t>
            </a:r>
            <a:endParaRPr lang="en-US" sz="650" dirty="0"/>
          </a:p>
        </p:txBody>
      </p:sp>
      <p:sp>
        <p:nvSpPr>
          <p:cNvPr id="30" name="Text 28"/>
          <p:cNvSpPr/>
          <p:nvPr/>
        </p:nvSpPr>
        <p:spPr>
          <a:xfrm>
            <a:off x="4690872" y="2106168"/>
            <a:ext cx="4023360" cy="402336"/>
          </a:xfrm>
          <a:prstGeom prst="rect">
            <a:avLst/>
          </a:prstGeom>
          <a:noFill/>
          <a:ln/>
        </p:spPr>
        <p:txBody>
          <a:bodyPr wrap="square" lIns="0" tIns="0" rIns="0" bIns="0" rtlCol="0" anchor="ctr"/>
          <a:lstStyle/>
          <a:p>
            <a:pPr marL="0" indent="0">
              <a:buNone/>
            </a:pPr>
            <a:r>
              <a:rPr lang="en-US" sz="750" dirty="0">
                <a:solidFill>
                  <a:srgbClr val="1B2E4B"/>
                </a:solidFill>
              </a:rPr>
              <a:t>0% in Spain - Spanish ICS is VAT-exempt, subject to meeting all Spanish ICS conditions. 19% self-assessed in Germany - Strabam AG self-assesses German IGE VAT at 19% (§ 12 Abs. 1 UStG) and simultaneously deducts it as input VAT (§ 15 UStG) → net cash effect: zero for Strabam AG, provided machines are used for taxable activities.</a:t>
            </a:r>
            <a:endParaRPr lang="en-US" sz="750" dirty="0"/>
          </a:p>
        </p:txBody>
      </p:sp>
      <p:sp>
        <p:nvSpPr>
          <p:cNvPr id="31" name="Shape 29"/>
          <p:cNvSpPr/>
          <p:nvPr/>
        </p:nvSpPr>
        <p:spPr>
          <a:xfrm>
            <a:off x="274320" y="2631948"/>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2" name="Shape 30"/>
          <p:cNvSpPr/>
          <p:nvPr/>
        </p:nvSpPr>
        <p:spPr>
          <a:xfrm>
            <a:off x="274320" y="2647188"/>
            <a:ext cx="36576" cy="621792"/>
          </a:xfrm>
          <a:prstGeom prst="rect">
            <a:avLst/>
          </a:prstGeom>
          <a:solidFill>
            <a:srgbClr val="006B6B"/>
          </a:solidFill>
          <a:ln w="12700">
            <a:solidFill>
              <a:srgbClr val="006B6B"/>
            </a:solidFill>
            <a:prstDash val="solid"/>
          </a:ln>
        </p:spPr>
        <p:txBody>
          <a:bodyPr/>
          <a:lstStyle/>
          <a:p>
            <a:endParaRPr lang="en-DE"/>
          </a:p>
        </p:txBody>
      </p:sp>
      <p:sp>
        <p:nvSpPr>
          <p:cNvPr id="33" name="Text 31"/>
          <p:cNvSpPr/>
          <p:nvPr/>
        </p:nvSpPr>
        <p:spPr>
          <a:xfrm>
            <a:off x="365760" y="2638044"/>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TIME OF TAXATION</a:t>
            </a:r>
            <a:endParaRPr lang="en-US" sz="650" dirty="0"/>
          </a:p>
        </p:txBody>
      </p:sp>
      <p:sp>
        <p:nvSpPr>
          <p:cNvPr id="34" name="Text 32"/>
          <p:cNvSpPr/>
          <p:nvPr/>
        </p:nvSpPr>
        <p:spPr>
          <a:xfrm>
            <a:off x="365760" y="2820924"/>
            <a:ext cx="4023360" cy="365760"/>
          </a:xfrm>
          <a:prstGeom prst="rect">
            <a:avLst/>
          </a:prstGeom>
          <a:noFill/>
          <a:ln/>
        </p:spPr>
        <p:txBody>
          <a:bodyPr wrap="square" lIns="0" tIns="0" rIns="0" bIns="0" rtlCol="0" anchor="ctr"/>
          <a:lstStyle/>
          <a:p>
            <a:pPr marL="0" indent="0">
              <a:buNone/>
            </a:pPr>
            <a:r>
              <a:rPr lang="en-US" sz="750" dirty="0">
                <a:solidFill>
                  <a:srgbClr val="1B2E4B"/>
                </a:solidFill>
              </a:rPr>
              <a:t>§ 13 Abs. 1 Nr. 8 </a:t>
            </a:r>
            <a:r>
              <a:rPr lang="en-US" sz="750" dirty="0" err="1">
                <a:solidFill>
                  <a:srgbClr val="1B2E4B"/>
                </a:solidFill>
              </a:rPr>
              <a:t>UStG</a:t>
            </a:r>
            <a:r>
              <a:rPr lang="en-US" sz="750" dirty="0">
                <a:solidFill>
                  <a:srgbClr val="1B2E4B"/>
                </a:solidFill>
              </a:rPr>
              <a:t> - IGE VAT chargeable on 15th day of month following arrival of goods in Germany, or on invoice date if earlier. Spanish ICS: same principle under Spanish VAT law. Invoice must reference both USt-IdNr. (ES + DE) and include exemption note ('Steuerfreie innergemeinschaftliche Lieferung').</a:t>
            </a:r>
            <a:endParaRPr lang="en-US" sz="750" dirty="0"/>
          </a:p>
        </p:txBody>
      </p:sp>
      <p:sp>
        <p:nvSpPr>
          <p:cNvPr id="35" name="Shape 33"/>
          <p:cNvSpPr/>
          <p:nvPr/>
        </p:nvSpPr>
        <p:spPr>
          <a:xfrm>
            <a:off x="4599432" y="2631948"/>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6" name="Shape 34"/>
          <p:cNvSpPr/>
          <p:nvPr/>
        </p:nvSpPr>
        <p:spPr>
          <a:xfrm>
            <a:off x="4599432" y="2631948"/>
            <a:ext cx="36576" cy="621792"/>
          </a:xfrm>
          <a:prstGeom prst="rect">
            <a:avLst/>
          </a:prstGeom>
          <a:solidFill>
            <a:srgbClr val="006B6B"/>
          </a:solidFill>
          <a:ln w="12700">
            <a:solidFill>
              <a:srgbClr val="006B6B"/>
            </a:solidFill>
            <a:prstDash val="solid"/>
          </a:ln>
        </p:spPr>
        <p:txBody>
          <a:bodyPr/>
          <a:lstStyle/>
          <a:p>
            <a:endParaRPr lang="en-DE"/>
          </a:p>
        </p:txBody>
      </p:sp>
      <p:sp>
        <p:nvSpPr>
          <p:cNvPr id="37" name="Text 35"/>
          <p:cNvSpPr/>
          <p:nvPr/>
        </p:nvSpPr>
        <p:spPr>
          <a:xfrm>
            <a:off x="4690872" y="2638044"/>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PERSON LIABLE FOR VAT</a:t>
            </a:r>
            <a:endParaRPr lang="en-US" sz="650" dirty="0"/>
          </a:p>
        </p:txBody>
      </p:sp>
      <p:sp>
        <p:nvSpPr>
          <p:cNvPr id="38" name="Text 36"/>
          <p:cNvSpPr/>
          <p:nvPr/>
        </p:nvSpPr>
        <p:spPr>
          <a:xfrm>
            <a:off x="4690872" y="2752344"/>
            <a:ext cx="4023360" cy="365760"/>
          </a:xfrm>
          <a:prstGeom prst="rect">
            <a:avLst/>
          </a:prstGeom>
          <a:noFill/>
          <a:ln/>
        </p:spPr>
        <p:txBody>
          <a:bodyPr wrap="square" lIns="0" tIns="0" rIns="0" bIns="0" rtlCol="0" anchor="ctr"/>
          <a:lstStyle/>
          <a:p>
            <a:pPr marL="0" indent="0">
              <a:buNone/>
            </a:pPr>
            <a:r>
              <a:rPr lang="en-US" sz="750" dirty="0">
                <a:solidFill>
                  <a:srgbClr val="1B2E4B"/>
                </a:solidFill>
              </a:rPr>
              <a:t>Spanish subsidiary: liable for the ICS in Spain (zero-rated). Strabam AG: liable to self-assess IGE in Germany (§ 13 Abs. 1 Nr. 8 / § 13a UStG). Reverse-charge mechanism (§ 13b UStG) does NOT apply to intra-community acquisitions - IGE has its own regime under § 1a UStG.</a:t>
            </a:r>
            <a:endParaRPr lang="en-US" sz="750" dirty="0"/>
          </a:p>
        </p:txBody>
      </p:sp>
      <p:sp>
        <p:nvSpPr>
          <p:cNvPr id="39" name="Shape 37"/>
          <p:cNvSpPr/>
          <p:nvPr/>
        </p:nvSpPr>
        <p:spPr>
          <a:xfrm>
            <a:off x="274320" y="3278368"/>
            <a:ext cx="4160520" cy="752368"/>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0" name="Shape 38"/>
          <p:cNvSpPr/>
          <p:nvPr/>
        </p:nvSpPr>
        <p:spPr>
          <a:xfrm>
            <a:off x="274320" y="3293608"/>
            <a:ext cx="36576" cy="752368"/>
          </a:xfrm>
          <a:prstGeom prst="rect">
            <a:avLst/>
          </a:prstGeom>
          <a:solidFill>
            <a:srgbClr val="006B6B"/>
          </a:solidFill>
          <a:ln w="12700">
            <a:solidFill>
              <a:srgbClr val="006B6B"/>
            </a:solidFill>
            <a:prstDash val="solid"/>
          </a:ln>
        </p:spPr>
        <p:txBody>
          <a:bodyPr/>
          <a:lstStyle/>
          <a:p>
            <a:endParaRPr lang="en-DE"/>
          </a:p>
        </p:txBody>
      </p:sp>
      <p:sp>
        <p:nvSpPr>
          <p:cNvPr id="41" name="Text 39"/>
          <p:cNvSpPr/>
          <p:nvPr/>
        </p:nvSpPr>
        <p:spPr>
          <a:xfrm>
            <a:off x="365760" y="3286750"/>
            <a:ext cx="4023360" cy="199156"/>
          </a:xfrm>
          <a:prstGeom prst="rect">
            <a:avLst/>
          </a:prstGeom>
          <a:noFill/>
          <a:ln/>
        </p:spPr>
        <p:txBody>
          <a:bodyPr wrap="square" lIns="0" tIns="0" rIns="0" bIns="0" rtlCol="0" anchor="ctr"/>
          <a:lstStyle/>
          <a:p>
            <a:pPr marL="0" indent="0">
              <a:buNone/>
            </a:pPr>
            <a:r>
              <a:rPr lang="en-US" sz="650" b="1" kern="0" spc="50" dirty="0">
                <a:solidFill>
                  <a:srgbClr val="006B6B"/>
                </a:solidFill>
              </a:rPr>
              <a:t>INPUT VAT DEDUCTION</a:t>
            </a:r>
            <a:endParaRPr lang="en-US" sz="650" dirty="0"/>
          </a:p>
        </p:txBody>
      </p:sp>
      <p:sp>
        <p:nvSpPr>
          <p:cNvPr id="42" name="Text 40"/>
          <p:cNvSpPr/>
          <p:nvPr/>
        </p:nvSpPr>
        <p:spPr>
          <a:xfrm>
            <a:off x="365760" y="3395167"/>
            <a:ext cx="4023360" cy="442570"/>
          </a:xfrm>
          <a:prstGeom prst="rect">
            <a:avLst/>
          </a:prstGeom>
          <a:noFill/>
          <a:ln/>
        </p:spPr>
        <p:txBody>
          <a:bodyPr wrap="square" lIns="0" tIns="0" rIns="0" bIns="0" rtlCol="0" anchor="ctr"/>
          <a:lstStyle/>
          <a:p>
            <a:pPr marL="0" indent="0">
              <a:buNone/>
            </a:pPr>
            <a:r>
              <a:rPr lang="en-US" sz="750" dirty="0">
                <a:solidFill>
                  <a:srgbClr val="1B2E4B"/>
                </a:solidFill>
              </a:rPr>
              <a:t>§ 15 Abs. 1 Nr. 3 </a:t>
            </a:r>
            <a:r>
              <a:rPr lang="en-US" sz="750" dirty="0" err="1">
                <a:solidFill>
                  <a:srgbClr val="1B2E4B"/>
                </a:solidFill>
              </a:rPr>
              <a:t>UStG</a:t>
            </a:r>
            <a:r>
              <a:rPr lang="en-US" sz="750" dirty="0">
                <a:solidFill>
                  <a:srgbClr val="1B2E4B"/>
                </a:solidFill>
              </a:rPr>
              <a:t> - Strabam AG may deduct the self-assessed IGE VAT as Vorsteuer in the same reporting period in which the IGE VAT is recorded, provided the large machinery is used exclusively for taxable B2B supplies (which it is). Net VAT cost: zero.</a:t>
            </a:r>
            <a:endParaRPr lang="en-US" sz="750" dirty="0"/>
          </a:p>
        </p:txBody>
      </p:sp>
      <p:sp>
        <p:nvSpPr>
          <p:cNvPr id="43" name="Shape 41"/>
          <p:cNvSpPr/>
          <p:nvPr/>
        </p:nvSpPr>
        <p:spPr>
          <a:xfrm>
            <a:off x="4599432" y="3278368"/>
            <a:ext cx="4160520" cy="752368"/>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4" name="Shape 42"/>
          <p:cNvSpPr/>
          <p:nvPr/>
        </p:nvSpPr>
        <p:spPr>
          <a:xfrm>
            <a:off x="4599432" y="3278368"/>
            <a:ext cx="36576" cy="752368"/>
          </a:xfrm>
          <a:prstGeom prst="rect">
            <a:avLst/>
          </a:prstGeom>
          <a:solidFill>
            <a:srgbClr val="006B6B"/>
          </a:solidFill>
          <a:ln w="12700">
            <a:solidFill>
              <a:srgbClr val="006B6B"/>
            </a:solidFill>
            <a:prstDash val="solid"/>
          </a:ln>
        </p:spPr>
        <p:txBody>
          <a:bodyPr/>
          <a:lstStyle/>
          <a:p>
            <a:endParaRPr lang="en-DE"/>
          </a:p>
        </p:txBody>
      </p:sp>
      <p:sp>
        <p:nvSpPr>
          <p:cNvPr id="45" name="Text 43"/>
          <p:cNvSpPr/>
          <p:nvPr/>
        </p:nvSpPr>
        <p:spPr>
          <a:xfrm>
            <a:off x="4690872" y="3271510"/>
            <a:ext cx="4023360" cy="199156"/>
          </a:xfrm>
          <a:prstGeom prst="rect">
            <a:avLst/>
          </a:prstGeom>
          <a:noFill/>
          <a:ln/>
        </p:spPr>
        <p:txBody>
          <a:bodyPr wrap="square" lIns="0" tIns="0" rIns="0" bIns="0" rtlCol="0" anchor="ctr"/>
          <a:lstStyle/>
          <a:p>
            <a:pPr marL="0" indent="0">
              <a:buNone/>
            </a:pPr>
            <a:r>
              <a:rPr lang="en-US" sz="650" b="1" kern="0" spc="50" dirty="0">
                <a:solidFill>
                  <a:srgbClr val="006B6B"/>
                </a:solidFill>
              </a:rPr>
              <a:t>FILING &amp; COMPLIANCE</a:t>
            </a:r>
            <a:endParaRPr lang="en-US" sz="650" dirty="0"/>
          </a:p>
        </p:txBody>
      </p:sp>
      <p:sp>
        <p:nvSpPr>
          <p:cNvPr id="46" name="Text 44"/>
          <p:cNvSpPr/>
          <p:nvPr/>
        </p:nvSpPr>
        <p:spPr>
          <a:xfrm>
            <a:off x="4690872" y="3486607"/>
            <a:ext cx="4023360" cy="442570"/>
          </a:xfrm>
          <a:prstGeom prst="rect">
            <a:avLst/>
          </a:prstGeom>
          <a:noFill/>
          <a:ln/>
        </p:spPr>
        <p:txBody>
          <a:bodyPr wrap="square" lIns="0" tIns="0" rIns="0" bIns="0" rtlCol="0" anchor="ctr"/>
          <a:lstStyle/>
          <a:p>
            <a:pPr marL="0" indent="0">
              <a:buNone/>
            </a:pPr>
            <a:r>
              <a:rPr lang="en-US" sz="750" dirty="0">
                <a:solidFill>
                  <a:srgbClr val="1B2E4B"/>
                </a:solidFill>
              </a:rPr>
              <a:t>(a) Strabam AG's German VAT return (UVA): report IGE and simultaneous Vorsteuer deduction. (b) Intrastat Declaration (Intrahandelsstatistik): Strabam AG must file a receipt (Eingang) Intrastat for arrivals from Spain above threshold. (c) Spanish subsidiary: European Sales List (ZM equivalent in Spain - Modelo 349) filing required. (d) Spanish Intrastat: dispatch filing by Spanish subsidiary. (e) Retain CMR waybills, freight confirmations and warehouse receipts.</a:t>
            </a:r>
            <a:endParaRPr lang="en-US" sz="750" dirty="0"/>
          </a:p>
        </p:txBody>
      </p:sp>
      <p:sp>
        <p:nvSpPr>
          <p:cNvPr id="47" name="Shape 45"/>
          <p:cNvSpPr/>
          <p:nvPr/>
        </p:nvSpPr>
        <p:spPr>
          <a:xfrm>
            <a:off x="274320" y="4157472"/>
            <a:ext cx="8485632" cy="594360"/>
          </a:xfrm>
          <a:prstGeom prst="rect">
            <a:avLst/>
          </a:prstGeom>
          <a:solidFill>
            <a:srgbClr val="E8F4F4"/>
          </a:solidFill>
          <a:ln w="7620">
            <a:solidFill>
              <a:srgbClr val="006B6B"/>
            </a:solidFill>
            <a:prstDash val="solid"/>
          </a:ln>
          <a:effectLst>
            <a:outerShdw blurRad="38100" dist="12700" dir="8100000" algn="bl" rotWithShape="0">
              <a:srgbClr val="000000">
                <a:alpha val="6000"/>
              </a:srgbClr>
            </a:outerShdw>
          </a:effectLst>
        </p:spPr>
        <p:txBody>
          <a:bodyPr/>
          <a:lstStyle/>
          <a:p>
            <a:endParaRPr lang="en-DE"/>
          </a:p>
        </p:txBody>
      </p:sp>
      <p:sp>
        <p:nvSpPr>
          <p:cNvPr id="48" name="Shape 46"/>
          <p:cNvSpPr/>
          <p:nvPr/>
        </p:nvSpPr>
        <p:spPr>
          <a:xfrm>
            <a:off x="274320" y="4157472"/>
            <a:ext cx="36576" cy="594360"/>
          </a:xfrm>
          <a:prstGeom prst="rect">
            <a:avLst/>
          </a:prstGeom>
          <a:solidFill>
            <a:srgbClr val="006B6B"/>
          </a:solidFill>
          <a:ln w="12700">
            <a:solidFill>
              <a:srgbClr val="006B6B"/>
            </a:solidFill>
            <a:prstDash val="solid"/>
          </a:ln>
        </p:spPr>
        <p:txBody>
          <a:bodyPr/>
          <a:lstStyle/>
          <a:p>
            <a:endParaRPr lang="en-DE"/>
          </a:p>
        </p:txBody>
      </p:sp>
      <p:sp>
        <p:nvSpPr>
          <p:cNvPr id="49" name="Text 47"/>
          <p:cNvSpPr/>
          <p:nvPr/>
        </p:nvSpPr>
        <p:spPr>
          <a:xfrm>
            <a:off x="384048" y="4203192"/>
            <a:ext cx="2011680" cy="164592"/>
          </a:xfrm>
          <a:prstGeom prst="rect">
            <a:avLst/>
          </a:prstGeom>
          <a:noFill/>
          <a:ln/>
        </p:spPr>
        <p:txBody>
          <a:bodyPr wrap="square" lIns="0" tIns="0" rIns="0" bIns="0" rtlCol="0" anchor="ctr"/>
          <a:lstStyle/>
          <a:p>
            <a:pPr marL="0" indent="0">
              <a:buNone/>
            </a:pPr>
            <a:r>
              <a:rPr lang="en-US" sz="700" b="1" kern="0" spc="50" dirty="0">
                <a:solidFill>
                  <a:srgbClr val="006B6B"/>
                </a:solidFill>
              </a:rPr>
              <a:t>MANAGEMENT ACTION</a:t>
            </a:r>
            <a:endParaRPr lang="en-US" sz="700" dirty="0"/>
          </a:p>
        </p:txBody>
      </p:sp>
      <p:sp>
        <p:nvSpPr>
          <p:cNvPr id="50" name="Text 48"/>
          <p:cNvSpPr/>
          <p:nvPr/>
        </p:nvSpPr>
        <p:spPr>
          <a:xfrm>
            <a:off x="384048" y="4376928"/>
            <a:ext cx="8321040" cy="329184"/>
          </a:xfrm>
          <a:prstGeom prst="rect">
            <a:avLst/>
          </a:prstGeom>
          <a:noFill/>
          <a:ln/>
        </p:spPr>
        <p:txBody>
          <a:bodyPr wrap="square" lIns="0" tIns="0" rIns="0" bIns="0" rtlCol="0" anchor="ctr"/>
          <a:lstStyle/>
          <a:p>
            <a:pPr marL="0" indent="0">
              <a:buNone/>
            </a:pPr>
            <a:r>
              <a:rPr lang="en-US" sz="780" dirty="0">
                <a:solidFill>
                  <a:srgbClr val="1B2E4B"/>
                </a:solidFill>
              </a:rPr>
              <a:t>Establish a standardised CMR and warehouse receipt workflow for every Spain-to-Germany machinery shipment. Configure ERP to auto-generate IGE entries and simultaneous Vorsteuer bookings on goods receipt. Perform monthly reconciliation of Intrastat Eingang amounts vs. IGE reported in UVA. Validate Spanish subsidiary's USt-IdNr. via VIES before each shipment. Document arm's-length transfer prices for high-value machine transactions.</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6400800" y="100584"/>
            <a:ext cx="1280160" cy="292608"/>
          </a:xfrm>
          <a:prstGeom prst="rect">
            <a:avLst/>
          </a:prstGeom>
          <a:solidFill>
            <a:srgbClr val="15803D"/>
          </a:solidFill>
          <a:ln w="12700">
            <a:solidFill>
              <a:srgbClr val="15803D"/>
            </a:solidFill>
            <a:prstDash val="solid"/>
          </a:ln>
        </p:spPr>
        <p:txBody>
          <a:bodyPr/>
          <a:lstStyle/>
          <a:p>
            <a:endParaRPr lang="en-DE"/>
          </a:p>
        </p:txBody>
      </p:sp>
      <p:sp>
        <p:nvSpPr>
          <p:cNvPr id="4" name="Text 2"/>
          <p:cNvSpPr/>
          <p:nvPr/>
        </p:nvSpPr>
        <p:spPr>
          <a:xfrm>
            <a:off x="6400800" y="100584"/>
            <a:ext cx="1280160" cy="292608"/>
          </a:xfrm>
          <a:prstGeom prst="rect">
            <a:avLst/>
          </a:prstGeom>
          <a:noFill/>
          <a:ln/>
        </p:spPr>
        <p:txBody>
          <a:bodyPr wrap="square" lIns="0" tIns="0" rIns="0" bIns="0" rtlCol="0" anchor="ctr"/>
          <a:lstStyle/>
          <a:p>
            <a:pPr marL="0" indent="0" algn="ctr">
              <a:buNone/>
            </a:pPr>
            <a:r>
              <a:rPr lang="en-US" sz="750" b="1" dirty="0">
                <a:solidFill>
                  <a:srgbClr val="FFFFFF"/>
                </a:solidFill>
              </a:rPr>
              <a:t>RISK: LOW</a:t>
            </a:r>
            <a:endParaRPr lang="en-US" sz="750" dirty="0"/>
          </a:p>
        </p:txBody>
      </p:sp>
      <p:sp>
        <p:nvSpPr>
          <p:cNvPr id="5" name="Shape 3"/>
          <p:cNvSpPr/>
          <p:nvPr/>
        </p:nvSpPr>
        <p:spPr>
          <a:xfrm>
            <a:off x="7772400" y="100584"/>
            <a:ext cx="1234440" cy="292608"/>
          </a:xfrm>
          <a:prstGeom prst="rect">
            <a:avLst/>
          </a:prstGeom>
          <a:solidFill>
            <a:srgbClr val="D97706"/>
          </a:solidFill>
          <a:ln w="12700">
            <a:solidFill>
              <a:srgbClr val="D97706"/>
            </a:solidFill>
            <a:prstDash val="solid"/>
          </a:ln>
        </p:spPr>
        <p:txBody>
          <a:bodyPr/>
          <a:lstStyle/>
          <a:p>
            <a:endParaRPr lang="en-DE"/>
          </a:p>
        </p:txBody>
      </p:sp>
      <p:sp>
        <p:nvSpPr>
          <p:cNvPr id="6" name="Text 4"/>
          <p:cNvSpPr/>
          <p:nvPr/>
        </p:nvSpPr>
        <p:spPr>
          <a:xfrm>
            <a:off x="7772400" y="100584"/>
            <a:ext cx="1234440" cy="292608"/>
          </a:xfrm>
          <a:prstGeom prst="rect">
            <a:avLst/>
          </a:prstGeom>
          <a:noFill/>
          <a:ln/>
        </p:spPr>
        <p:txBody>
          <a:bodyPr wrap="square" lIns="0" tIns="0" rIns="0" bIns="0" rtlCol="0" anchor="ctr"/>
          <a:lstStyle/>
          <a:p>
            <a:pPr marL="0" indent="0" algn="ctr">
              <a:buNone/>
            </a:pPr>
            <a:r>
              <a:rPr lang="en-US" sz="750" b="1" dirty="0">
                <a:solidFill>
                  <a:srgbClr val="FFFFFF"/>
                </a:solidFill>
              </a:rPr>
              <a:t>PRIORITY: MEDIUM</a:t>
            </a:r>
            <a:endParaRPr lang="en-US" sz="750" dirty="0"/>
          </a:p>
        </p:txBody>
      </p:sp>
      <p:sp>
        <p:nvSpPr>
          <p:cNvPr id="7" name="Shape 5"/>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8" name="Text 6"/>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9" name="Text 7"/>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TRANSACTION ANALYSIS</a:t>
            </a:r>
            <a:endParaRPr lang="en-US" sz="700" dirty="0"/>
          </a:p>
        </p:txBody>
      </p:sp>
      <p:sp>
        <p:nvSpPr>
          <p:cNvPr id="10" name="Text 8"/>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11 / 23</a:t>
            </a:r>
            <a:endParaRPr lang="en-US" sz="700" dirty="0"/>
          </a:p>
        </p:txBody>
      </p:sp>
      <p:sp>
        <p:nvSpPr>
          <p:cNvPr id="11" name="Text 9"/>
          <p:cNvSpPr/>
          <p:nvPr/>
        </p:nvSpPr>
        <p:spPr>
          <a:xfrm>
            <a:off x="411480" y="137160"/>
            <a:ext cx="6400800" cy="201168"/>
          </a:xfrm>
          <a:prstGeom prst="rect">
            <a:avLst/>
          </a:prstGeom>
          <a:noFill/>
          <a:ln/>
        </p:spPr>
        <p:txBody>
          <a:bodyPr wrap="square" lIns="0" tIns="0" rIns="0" bIns="0" rtlCol="0" anchor="ctr"/>
          <a:lstStyle/>
          <a:p>
            <a:r>
              <a:rPr lang="en-US" sz="800" b="1" kern="0" spc="200" dirty="0">
                <a:solidFill>
                  <a:srgbClr val="006B6B"/>
                </a:solidFill>
              </a:rPr>
              <a:t>03 | TRANSACTION ANALYSIS</a:t>
            </a:r>
            <a:endParaRPr lang="en-US" sz="800" dirty="0"/>
          </a:p>
        </p:txBody>
      </p:sp>
      <p:sp>
        <p:nvSpPr>
          <p:cNvPr id="12" name="Text 10"/>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T5: Domestic Sales - Large Machines to German Customers</a:t>
            </a:r>
            <a:endParaRPr lang="en-US" sz="2100" dirty="0"/>
          </a:p>
        </p:txBody>
      </p:sp>
      <p:sp>
        <p:nvSpPr>
          <p:cNvPr id="13" name="Text 11"/>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Strabam AG (DE) → German B2B customers | Dispatch from Berlin Warehouse | Invoice after installation confirmation | from €0.5M per unit</a:t>
            </a:r>
            <a:endParaRPr lang="en-US" sz="950" dirty="0"/>
          </a:p>
        </p:txBody>
      </p:sp>
      <p:sp>
        <p:nvSpPr>
          <p:cNvPr id="14" name="Shape 12"/>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5" name="Shape 13"/>
          <p:cNvSpPr/>
          <p:nvPr/>
        </p:nvSpPr>
        <p:spPr>
          <a:xfrm>
            <a:off x="274320" y="1170432"/>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16" name="Shape 14"/>
          <p:cNvSpPr/>
          <p:nvPr/>
        </p:nvSpPr>
        <p:spPr>
          <a:xfrm>
            <a:off x="274320" y="1170432"/>
            <a:ext cx="36576" cy="621792"/>
          </a:xfrm>
          <a:prstGeom prst="rect">
            <a:avLst/>
          </a:prstGeom>
          <a:solidFill>
            <a:srgbClr val="006B6B"/>
          </a:solidFill>
          <a:ln w="12700">
            <a:solidFill>
              <a:srgbClr val="006B6B"/>
            </a:solidFill>
            <a:prstDash val="solid"/>
          </a:ln>
        </p:spPr>
        <p:txBody>
          <a:bodyPr/>
          <a:lstStyle/>
          <a:p>
            <a:endParaRPr lang="en-DE"/>
          </a:p>
        </p:txBody>
      </p:sp>
      <p:sp>
        <p:nvSpPr>
          <p:cNvPr id="17" name="Text 15"/>
          <p:cNvSpPr/>
          <p:nvPr/>
        </p:nvSpPr>
        <p:spPr>
          <a:xfrm>
            <a:off x="365760" y="1168908"/>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TAXABILITY</a:t>
            </a:r>
            <a:endParaRPr lang="en-US" sz="650" dirty="0"/>
          </a:p>
        </p:txBody>
      </p:sp>
      <p:sp>
        <p:nvSpPr>
          <p:cNvPr id="18" name="Text 16"/>
          <p:cNvSpPr/>
          <p:nvPr/>
        </p:nvSpPr>
        <p:spPr>
          <a:xfrm>
            <a:off x="365760" y="1351788"/>
            <a:ext cx="4023360" cy="365760"/>
          </a:xfrm>
          <a:prstGeom prst="rect">
            <a:avLst/>
          </a:prstGeom>
          <a:noFill/>
          <a:ln/>
        </p:spPr>
        <p:txBody>
          <a:bodyPr wrap="square" lIns="0" tIns="0" rIns="0" bIns="0" rtlCol="0" anchor="ctr"/>
          <a:lstStyle/>
          <a:p>
            <a:pPr marL="0" indent="0">
              <a:buNone/>
            </a:pPr>
            <a:r>
              <a:rPr lang="en-US" sz="750" dirty="0">
                <a:solidFill>
                  <a:srgbClr val="1B2E4B"/>
                </a:solidFill>
              </a:rPr>
              <a:t>§ 1 Abs. 1 Nr. 1 </a:t>
            </a:r>
            <a:r>
              <a:rPr lang="en-US" sz="750" dirty="0" err="1">
                <a:solidFill>
                  <a:srgbClr val="1B2E4B"/>
                </a:solidFill>
              </a:rPr>
              <a:t>UStG</a:t>
            </a:r>
            <a:r>
              <a:rPr lang="en-US" sz="750" dirty="0">
                <a:solidFill>
                  <a:srgbClr val="1B2E4B"/>
                </a:solidFill>
              </a:rPr>
              <a:t> - Supply of large industrial machinery by Strabam AG to German B2B customers for consideration, in the course of business, in Germany. All statutory elements of taxability are met: (a) supply of goods, (b) entrepreneur (Unternehmer), (c) for consideration (gegen Entgelt), (d) in Germany. Transaction is fully within scope of German VAT.</a:t>
            </a:r>
            <a:endParaRPr lang="en-US" sz="750" dirty="0"/>
          </a:p>
        </p:txBody>
      </p:sp>
      <p:sp>
        <p:nvSpPr>
          <p:cNvPr id="19" name="Shape 17"/>
          <p:cNvSpPr/>
          <p:nvPr/>
        </p:nvSpPr>
        <p:spPr>
          <a:xfrm>
            <a:off x="4599432" y="1170432"/>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0" name="Shape 18"/>
          <p:cNvSpPr/>
          <p:nvPr/>
        </p:nvSpPr>
        <p:spPr>
          <a:xfrm>
            <a:off x="4599432" y="1170432"/>
            <a:ext cx="36576" cy="621792"/>
          </a:xfrm>
          <a:prstGeom prst="rect">
            <a:avLst/>
          </a:prstGeom>
          <a:solidFill>
            <a:srgbClr val="006B6B"/>
          </a:solidFill>
          <a:ln w="12700">
            <a:solidFill>
              <a:srgbClr val="006B6B"/>
            </a:solidFill>
            <a:prstDash val="solid"/>
          </a:ln>
        </p:spPr>
        <p:txBody>
          <a:bodyPr/>
          <a:lstStyle/>
          <a:p>
            <a:endParaRPr lang="en-DE"/>
          </a:p>
        </p:txBody>
      </p:sp>
      <p:sp>
        <p:nvSpPr>
          <p:cNvPr id="21" name="Text 19"/>
          <p:cNvSpPr/>
          <p:nvPr/>
        </p:nvSpPr>
        <p:spPr>
          <a:xfrm>
            <a:off x="4690872" y="1168908"/>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PLACE OF SUPPLY</a:t>
            </a:r>
            <a:endParaRPr lang="en-US" sz="650" dirty="0"/>
          </a:p>
        </p:txBody>
      </p:sp>
      <p:sp>
        <p:nvSpPr>
          <p:cNvPr id="22" name="Text 20"/>
          <p:cNvSpPr/>
          <p:nvPr/>
        </p:nvSpPr>
        <p:spPr>
          <a:xfrm>
            <a:off x="4690872" y="1351788"/>
            <a:ext cx="4023360" cy="365760"/>
          </a:xfrm>
          <a:prstGeom prst="rect">
            <a:avLst/>
          </a:prstGeom>
          <a:noFill/>
          <a:ln/>
        </p:spPr>
        <p:txBody>
          <a:bodyPr wrap="square" lIns="0" tIns="0" rIns="0" bIns="0" rtlCol="0" anchor="ctr"/>
          <a:lstStyle/>
          <a:p>
            <a:pPr marL="0" indent="0">
              <a:buNone/>
            </a:pPr>
            <a:r>
              <a:rPr lang="en-US" sz="750" dirty="0">
                <a:solidFill>
                  <a:srgbClr val="1B2E4B"/>
                </a:solidFill>
              </a:rPr>
              <a:t>§ 3 Abs. 6 </a:t>
            </a:r>
            <a:r>
              <a:rPr lang="en-US" sz="750" dirty="0" err="1">
                <a:solidFill>
                  <a:srgbClr val="1B2E4B"/>
                </a:solidFill>
              </a:rPr>
              <a:t>UStG</a:t>
            </a:r>
            <a:r>
              <a:rPr lang="en-US" sz="750" dirty="0">
                <a:solidFill>
                  <a:srgbClr val="1B2E4B"/>
                </a:solidFill>
              </a:rPr>
              <a:t> - Transport begins at the Berlin Warehouse (Berliner Lager), where Strabam AG dispatches machinery using its own trucks (In-house Logistics / Eigentransport). Place of supply is Germany. Installation is also performed in Germany. Both dispatch and installation are domestic - no conflict in place-of-supply determination.</a:t>
            </a:r>
            <a:endParaRPr lang="en-US" sz="750" dirty="0"/>
          </a:p>
        </p:txBody>
      </p:sp>
      <p:sp>
        <p:nvSpPr>
          <p:cNvPr id="23" name="Shape 21"/>
          <p:cNvSpPr/>
          <p:nvPr/>
        </p:nvSpPr>
        <p:spPr>
          <a:xfrm>
            <a:off x="274320" y="1828800"/>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4" name="Shape 22"/>
          <p:cNvSpPr/>
          <p:nvPr/>
        </p:nvSpPr>
        <p:spPr>
          <a:xfrm>
            <a:off x="274320" y="1828800"/>
            <a:ext cx="36576" cy="621792"/>
          </a:xfrm>
          <a:prstGeom prst="rect">
            <a:avLst/>
          </a:prstGeom>
          <a:solidFill>
            <a:srgbClr val="006B6B"/>
          </a:solidFill>
          <a:ln w="12700">
            <a:solidFill>
              <a:srgbClr val="006B6B"/>
            </a:solidFill>
            <a:prstDash val="solid"/>
          </a:ln>
        </p:spPr>
        <p:txBody>
          <a:bodyPr/>
          <a:lstStyle/>
          <a:p>
            <a:endParaRPr lang="en-DE"/>
          </a:p>
        </p:txBody>
      </p:sp>
      <p:sp>
        <p:nvSpPr>
          <p:cNvPr id="25" name="Text 23"/>
          <p:cNvSpPr/>
          <p:nvPr/>
        </p:nvSpPr>
        <p:spPr>
          <a:xfrm>
            <a:off x="365760" y="1827276"/>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TAXABLE AMOUNT</a:t>
            </a:r>
            <a:endParaRPr lang="en-US" sz="650" dirty="0"/>
          </a:p>
        </p:txBody>
      </p:sp>
      <p:sp>
        <p:nvSpPr>
          <p:cNvPr id="26" name="Text 24"/>
          <p:cNvSpPr/>
          <p:nvPr/>
        </p:nvSpPr>
        <p:spPr>
          <a:xfrm>
            <a:off x="365760" y="2010156"/>
            <a:ext cx="4023360" cy="365760"/>
          </a:xfrm>
          <a:prstGeom prst="rect">
            <a:avLst/>
          </a:prstGeom>
          <a:noFill/>
          <a:ln/>
        </p:spPr>
        <p:txBody>
          <a:bodyPr wrap="square" lIns="0" tIns="0" rIns="0" bIns="0" rtlCol="0" anchor="ctr"/>
          <a:lstStyle/>
          <a:p>
            <a:pPr marL="0" indent="0">
              <a:buNone/>
            </a:pPr>
            <a:r>
              <a:rPr lang="en-US" sz="750" dirty="0">
                <a:solidFill>
                  <a:srgbClr val="1B2E4B"/>
                </a:solidFill>
              </a:rPr>
              <a:t>§ 10 Abs. 1 </a:t>
            </a:r>
            <a:r>
              <a:rPr lang="en-US" sz="750" dirty="0" err="1">
                <a:solidFill>
                  <a:srgbClr val="1B2E4B"/>
                </a:solidFill>
              </a:rPr>
              <a:t>UStG</a:t>
            </a:r>
            <a:r>
              <a:rPr lang="en-US" sz="750" dirty="0">
                <a:solidFill>
                  <a:srgbClr val="1B2E4B"/>
                </a:solidFill>
              </a:rPr>
              <a:t> - Taxable base is the total consideration (Gesamtentgelt): full contractual sales price of the machine + installation-related charges + transport costs if charged to customer + any directly connected ancillary costs. No discounts or subsequent price reductions (Preisnachlässe) are granted - full invoice amount is always the VAT base.</a:t>
            </a:r>
            <a:endParaRPr lang="en-US" sz="750" dirty="0"/>
          </a:p>
        </p:txBody>
      </p:sp>
      <p:sp>
        <p:nvSpPr>
          <p:cNvPr id="27" name="Shape 25"/>
          <p:cNvSpPr/>
          <p:nvPr/>
        </p:nvSpPr>
        <p:spPr>
          <a:xfrm>
            <a:off x="4599432" y="1828800"/>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8" name="Shape 26"/>
          <p:cNvSpPr/>
          <p:nvPr/>
        </p:nvSpPr>
        <p:spPr>
          <a:xfrm>
            <a:off x="4599432" y="1828800"/>
            <a:ext cx="36576" cy="621792"/>
          </a:xfrm>
          <a:prstGeom prst="rect">
            <a:avLst/>
          </a:prstGeom>
          <a:solidFill>
            <a:srgbClr val="006B6B"/>
          </a:solidFill>
          <a:ln w="12700">
            <a:solidFill>
              <a:srgbClr val="006B6B"/>
            </a:solidFill>
            <a:prstDash val="solid"/>
          </a:ln>
        </p:spPr>
        <p:txBody>
          <a:bodyPr/>
          <a:lstStyle/>
          <a:p>
            <a:endParaRPr lang="en-DE"/>
          </a:p>
        </p:txBody>
      </p:sp>
      <p:sp>
        <p:nvSpPr>
          <p:cNvPr id="29" name="Text 27"/>
          <p:cNvSpPr/>
          <p:nvPr/>
        </p:nvSpPr>
        <p:spPr>
          <a:xfrm>
            <a:off x="4690872" y="1834896"/>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VAT RATE</a:t>
            </a:r>
            <a:endParaRPr lang="en-US" sz="650" dirty="0"/>
          </a:p>
        </p:txBody>
      </p:sp>
      <p:sp>
        <p:nvSpPr>
          <p:cNvPr id="30" name="Text 28"/>
          <p:cNvSpPr/>
          <p:nvPr/>
        </p:nvSpPr>
        <p:spPr>
          <a:xfrm>
            <a:off x="4690872" y="1956816"/>
            <a:ext cx="4023360" cy="365760"/>
          </a:xfrm>
          <a:prstGeom prst="rect">
            <a:avLst/>
          </a:prstGeom>
          <a:noFill/>
          <a:ln/>
        </p:spPr>
        <p:txBody>
          <a:bodyPr wrap="square" lIns="0" tIns="0" rIns="0" bIns="0" rtlCol="0" anchor="ctr"/>
          <a:lstStyle/>
          <a:p>
            <a:pPr marL="0" indent="0">
              <a:buNone/>
            </a:pPr>
            <a:r>
              <a:rPr lang="en-US" sz="750" dirty="0">
                <a:solidFill>
                  <a:srgbClr val="1B2E4B"/>
                </a:solidFill>
              </a:rPr>
              <a:t>19% - Standard rate (Regelsteuersatz) under § 12 Abs. 1 UStG. Industrial machinery does not qualify for any reduced VAT rate (ermäßigter Steuersatz) under § 12 Abs. 2 UStG. Strabam AG charges 19% VAT on all domestic machine invoices.</a:t>
            </a:r>
            <a:endParaRPr lang="en-US" sz="750" dirty="0"/>
          </a:p>
        </p:txBody>
      </p:sp>
      <p:sp>
        <p:nvSpPr>
          <p:cNvPr id="31" name="Shape 29"/>
          <p:cNvSpPr/>
          <p:nvPr/>
        </p:nvSpPr>
        <p:spPr>
          <a:xfrm>
            <a:off x="274320" y="2471319"/>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2" name="Shape 30"/>
          <p:cNvSpPr/>
          <p:nvPr/>
        </p:nvSpPr>
        <p:spPr>
          <a:xfrm>
            <a:off x="274320" y="2478939"/>
            <a:ext cx="36576" cy="683971"/>
          </a:xfrm>
          <a:prstGeom prst="rect">
            <a:avLst/>
          </a:prstGeom>
          <a:solidFill>
            <a:srgbClr val="006B6B"/>
          </a:solidFill>
          <a:ln w="12700">
            <a:solidFill>
              <a:srgbClr val="006B6B"/>
            </a:solidFill>
            <a:prstDash val="solid"/>
          </a:ln>
        </p:spPr>
        <p:txBody>
          <a:bodyPr/>
          <a:lstStyle/>
          <a:p>
            <a:endParaRPr lang="en-DE"/>
          </a:p>
        </p:txBody>
      </p:sp>
      <p:sp>
        <p:nvSpPr>
          <p:cNvPr id="33" name="Text 31"/>
          <p:cNvSpPr/>
          <p:nvPr/>
        </p:nvSpPr>
        <p:spPr>
          <a:xfrm>
            <a:off x="365760" y="2462175"/>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TIME OF TAXATION</a:t>
            </a:r>
            <a:endParaRPr lang="en-US" sz="650" dirty="0"/>
          </a:p>
        </p:txBody>
      </p:sp>
      <p:sp>
        <p:nvSpPr>
          <p:cNvPr id="34" name="Text 32"/>
          <p:cNvSpPr/>
          <p:nvPr/>
        </p:nvSpPr>
        <p:spPr>
          <a:xfrm>
            <a:off x="365760" y="2665476"/>
            <a:ext cx="4023360" cy="402336"/>
          </a:xfrm>
          <a:prstGeom prst="rect">
            <a:avLst/>
          </a:prstGeom>
          <a:noFill/>
          <a:ln/>
        </p:spPr>
        <p:txBody>
          <a:bodyPr wrap="square" lIns="0" tIns="0" rIns="0" bIns="0" rtlCol="0" anchor="ctr"/>
          <a:lstStyle/>
          <a:p>
            <a:pPr marL="0" indent="0">
              <a:buNone/>
            </a:pPr>
            <a:r>
              <a:rPr lang="en-US" sz="750" dirty="0">
                <a:solidFill>
                  <a:srgbClr val="1B2E4B"/>
                </a:solidFill>
              </a:rPr>
              <a:t>§ 13 Abs. 1 Nr. 1a </a:t>
            </a:r>
            <a:r>
              <a:rPr lang="en-US" sz="750" dirty="0" err="1">
                <a:solidFill>
                  <a:srgbClr val="1B2E4B"/>
                </a:solidFill>
              </a:rPr>
              <a:t>UStG</a:t>
            </a:r>
            <a:r>
              <a:rPr lang="en-US" sz="750" dirty="0">
                <a:solidFill>
                  <a:srgbClr val="1B2E4B"/>
                </a:solidFill>
              </a:rPr>
              <a:t> - VAT becomes chargeable upon performance of the supply. The contractual trigger is the technician's confirmation of successful installation (Abnahmeprotokoll / Installationsbestätigung). No advance payments exist → no earlier VAT point arises under § 13 Abs. 1 Nr. 1a S. 4 UStG. Risk area: if installation spans a VAT reporting period boundary, VAT period of recognition must be consistently documented.</a:t>
            </a:r>
            <a:endParaRPr lang="en-US" sz="750" dirty="0"/>
          </a:p>
        </p:txBody>
      </p:sp>
      <p:sp>
        <p:nvSpPr>
          <p:cNvPr id="35" name="Shape 33"/>
          <p:cNvSpPr/>
          <p:nvPr/>
        </p:nvSpPr>
        <p:spPr>
          <a:xfrm>
            <a:off x="4599432" y="2478939"/>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6" name="Shape 34"/>
          <p:cNvSpPr/>
          <p:nvPr/>
        </p:nvSpPr>
        <p:spPr>
          <a:xfrm>
            <a:off x="4599432" y="2478939"/>
            <a:ext cx="36576" cy="683971"/>
          </a:xfrm>
          <a:prstGeom prst="rect">
            <a:avLst/>
          </a:prstGeom>
          <a:solidFill>
            <a:srgbClr val="006B6B"/>
          </a:solidFill>
          <a:ln w="12700">
            <a:solidFill>
              <a:srgbClr val="006B6B"/>
            </a:solidFill>
            <a:prstDash val="solid"/>
          </a:ln>
        </p:spPr>
        <p:txBody>
          <a:bodyPr/>
          <a:lstStyle/>
          <a:p>
            <a:endParaRPr lang="en-DE"/>
          </a:p>
        </p:txBody>
      </p:sp>
      <p:sp>
        <p:nvSpPr>
          <p:cNvPr id="37" name="Text 35"/>
          <p:cNvSpPr/>
          <p:nvPr/>
        </p:nvSpPr>
        <p:spPr>
          <a:xfrm>
            <a:off x="4690872" y="2470404"/>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PERSON LIABLE FOR VAT</a:t>
            </a:r>
            <a:endParaRPr lang="en-US" sz="650" dirty="0"/>
          </a:p>
        </p:txBody>
      </p:sp>
      <p:sp>
        <p:nvSpPr>
          <p:cNvPr id="38" name="Text 36"/>
          <p:cNvSpPr/>
          <p:nvPr/>
        </p:nvSpPr>
        <p:spPr>
          <a:xfrm>
            <a:off x="4690872" y="2660904"/>
            <a:ext cx="4023360" cy="365760"/>
          </a:xfrm>
          <a:prstGeom prst="rect">
            <a:avLst/>
          </a:prstGeom>
          <a:noFill/>
          <a:ln/>
        </p:spPr>
        <p:txBody>
          <a:bodyPr wrap="square" lIns="0" tIns="0" rIns="0" bIns="0" rtlCol="0" anchor="ctr"/>
          <a:lstStyle/>
          <a:p>
            <a:pPr marL="0" indent="0">
              <a:buNone/>
            </a:pPr>
            <a:r>
              <a:rPr lang="en-US" sz="750" dirty="0">
                <a:solidFill>
                  <a:srgbClr val="1B2E4B"/>
                </a:solidFill>
              </a:rPr>
              <a:t>§ 13a Abs. 1 Nr. 1 </a:t>
            </a:r>
            <a:r>
              <a:rPr lang="en-US" sz="750" dirty="0" err="1">
                <a:solidFill>
                  <a:srgbClr val="1B2E4B"/>
                </a:solidFill>
              </a:rPr>
              <a:t>UStG</a:t>
            </a:r>
            <a:r>
              <a:rPr lang="en-US" sz="750" dirty="0">
                <a:solidFill>
                  <a:srgbClr val="1B2E4B"/>
                </a:solidFill>
              </a:rPr>
              <a:t> - Strabam AG (as the supplying entrepreneur / leistender Unternehmer) is liable to charge, collect, report and remit the output VAT (Umsatzsteuer) to the Finanzamt (German Tax Authority). Reverse-charge under § 13b UStG does NOT apply - domestic supply by a German-established supplier to German customers.</a:t>
            </a:r>
            <a:endParaRPr lang="en-US" sz="750" dirty="0"/>
          </a:p>
        </p:txBody>
      </p:sp>
      <p:sp>
        <p:nvSpPr>
          <p:cNvPr id="39" name="Shape 37"/>
          <p:cNvSpPr/>
          <p:nvPr/>
        </p:nvSpPr>
        <p:spPr>
          <a:xfrm>
            <a:off x="274320" y="3187410"/>
            <a:ext cx="4160520" cy="827605"/>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0" name="Shape 38"/>
          <p:cNvSpPr/>
          <p:nvPr/>
        </p:nvSpPr>
        <p:spPr>
          <a:xfrm>
            <a:off x="274320" y="3187410"/>
            <a:ext cx="36576" cy="827605"/>
          </a:xfrm>
          <a:prstGeom prst="rect">
            <a:avLst/>
          </a:prstGeom>
          <a:solidFill>
            <a:srgbClr val="006B6B"/>
          </a:solidFill>
          <a:ln w="12700">
            <a:solidFill>
              <a:srgbClr val="006B6B"/>
            </a:solidFill>
            <a:prstDash val="solid"/>
          </a:ln>
        </p:spPr>
        <p:txBody>
          <a:bodyPr/>
          <a:lstStyle/>
          <a:p>
            <a:endParaRPr lang="en-DE"/>
          </a:p>
        </p:txBody>
      </p:sp>
      <p:sp>
        <p:nvSpPr>
          <p:cNvPr id="41" name="Text 39"/>
          <p:cNvSpPr/>
          <p:nvPr/>
        </p:nvSpPr>
        <p:spPr>
          <a:xfrm>
            <a:off x="365760" y="3170112"/>
            <a:ext cx="4023360" cy="219072"/>
          </a:xfrm>
          <a:prstGeom prst="rect">
            <a:avLst/>
          </a:prstGeom>
          <a:noFill/>
          <a:ln/>
        </p:spPr>
        <p:txBody>
          <a:bodyPr wrap="square" lIns="0" tIns="0" rIns="0" bIns="0" rtlCol="0" anchor="ctr"/>
          <a:lstStyle/>
          <a:p>
            <a:pPr marL="0" indent="0">
              <a:buNone/>
            </a:pPr>
            <a:r>
              <a:rPr lang="en-US" sz="650" b="1" kern="0" spc="50" dirty="0">
                <a:solidFill>
                  <a:srgbClr val="006B6B"/>
                </a:solidFill>
              </a:rPr>
              <a:t>INPUT VAT DEDUCTION</a:t>
            </a:r>
            <a:endParaRPr lang="en-US" sz="650" dirty="0"/>
          </a:p>
        </p:txBody>
      </p:sp>
      <p:sp>
        <p:nvSpPr>
          <p:cNvPr id="42" name="Text 40"/>
          <p:cNvSpPr/>
          <p:nvPr/>
        </p:nvSpPr>
        <p:spPr>
          <a:xfrm>
            <a:off x="365760" y="3319699"/>
            <a:ext cx="4023360" cy="486827"/>
          </a:xfrm>
          <a:prstGeom prst="rect">
            <a:avLst/>
          </a:prstGeom>
          <a:noFill/>
          <a:ln/>
        </p:spPr>
        <p:txBody>
          <a:bodyPr wrap="square" lIns="0" tIns="0" rIns="0" bIns="0" rtlCol="0" anchor="ctr"/>
          <a:lstStyle/>
          <a:p>
            <a:pPr marL="0" indent="0">
              <a:buNone/>
            </a:pPr>
            <a:r>
              <a:rPr lang="en-US" sz="750" dirty="0">
                <a:solidFill>
                  <a:srgbClr val="1B2E4B"/>
                </a:solidFill>
              </a:rPr>
              <a:t>Not applicable from Strabam AG's perspective as supplier - Strabam AG charges output VAT. From the customer's perspective: customers may deduct input VAT (Vorsteuer) under § 15 UStG if they hold a valid VAT invoice from Strabam AG and use the machine for taxable activities. Strabam AG's own input VAT on related procurement costs remains fully deductible.</a:t>
            </a:r>
            <a:endParaRPr lang="en-US" sz="750" dirty="0"/>
          </a:p>
        </p:txBody>
      </p:sp>
      <p:sp>
        <p:nvSpPr>
          <p:cNvPr id="43" name="Shape 41"/>
          <p:cNvSpPr/>
          <p:nvPr/>
        </p:nvSpPr>
        <p:spPr>
          <a:xfrm>
            <a:off x="4599432" y="3187410"/>
            <a:ext cx="4160520" cy="827605"/>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4" name="Shape 42"/>
          <p:cNvSpPr/>
          <p:nvPr/>
        </p:nvSpPr>
        <p:spPr>
          <a:xfrm>
            <a:off x="4599432" y="3187410"/>
            <a:ext cx="36576" cy="827605"/>
          </a:xfrm>
          <a:prstGeom prst="rect">
            <a:avLst/>
          </a:prstGeom>
          <a:solidFill>
            <a:srgbClr val="006B6B"/>
          </a:solidFill>
          <a:ln w="12700">
            <a:solidFill>
              <a:srgbClr val="006B6B"/>
            </a:solidFill>
            <a:prstDash val="solid"/>
          </a:ln>
        </p:spPr>
        <p:txBody>
          <a:bodyPr/>
          <a:lstStyle/>
          <a:p>
            <a:endParaRPr lang="en-DE"/>
          </a:p>
        </p:txBody>
      </p:sp>
      <p:sp>
        <p:nvSpPr>
          <p:cNvPr id="45" name="Text 43"/>
          <p:cNvSpPr/>
          <p:nvPr/>
        </p:nvSpPr>
        <p:spPr>
          <a:xfrm>
            <a:off x="4690872" y="3182112"/>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FILING &amp; COMPLIANCE</a:t>
            </a:r>
            <a:endParaRPr lang="en-US" sz="650" dirty="0"/>
          </a:p>
        </p:txBody>
      </p:sp>
      <p:sp>
        <p:nvSpPr>
          <p:cNvPr id="46" name="Text 44"/>
          <p:cNvSpPr/>
          <p:nvPr/>
        </p:nvSpPr>
        <p:spPr>
          <a:xfrm>
            <a:off x="4690872" y="3411139"/>
            <a:ext cx="4023360" cy="486827"/>
          </a:xfrm>
          <a:prstGeom prst="rect">
            <a:avLst/>
          </a:prstGeom>
          <a:noFill/>
          <a:ln/>
        </p:spPr>
        <p:txBody>
          <a:bodyPr wrap="square" lIns="0" tIns="0" rIns="0" bIns="0" rtlCol="0" anchor="ctr"/>
          <a:lstStyle/>
          <a:p>
            <a:pPr marL="0" indent="0">
              <a:buNone/>
            </a:pPr>
            <a:r>
              <a:rPr lang="en-US" sz="750" dirty="0">
                <a:solidFill>
                  <a:srgbClr val="1B2E4B"/>
                </a:solidFill>
              </a:rPr>
              <a:t>(a) German VAT return (Umsatzsteuer-Voranmeldung / UVA): output VAT reported monthly or quarterly. (b) Annual VAT return (Umsatzsteuerjahreserklärung): reconciliation of all domestic supplies. (c) Invoice requirements (§ 14 UStG): full invoice with sequential invoice number (fortlaufende Rechnungsnummer), both VAT IDs, date, service description, net amount, VAT rate, VAT amount. (d) From 2027: structured e-invoice (XRechnung / ZUGFeRD) mandatory for domestic B2B (Strabam AG exceeds €800K threshold).</a:t>
            </a:r>
            <a:endParaRPr lang="en-US" sz="750" dirty="0"/>
          </a:p>
        </p:txBody>
      </p:sp>
      <p:sp>
        <p:nvSpPr>
          <p:cNvPr id="47" name="Shape 45"/>
          <p:cNvSpPr/>
          <p:nvPr/>
        </p:nvSpPr>
        <p:spPr>
          <a:xfrm>
            <a:off x="274320" y="4111752"/>
            <a:ext cx="8485632" cy="594360"/>
          </a:xfrm>
          <a:prstGeom prst="rect">
            <a:avLst/>
          </a:prstGeom>
          <a:solidFill>
            <a:srgbClr val="E8F4F4"/>
          </a:solidFill>
          <a:ln w="7620">
            <a:solidFill>
              <a:srgbClr val="006B6B"/>
            </a:solidFill>
            <a:prstDash val="solid"/>
          </a:ln>
          <a:effectLst>
            <a:outerShdw blurRad="38100" dist="12700" dir="8100000" algn="bl" rotWithShape="0">
              <a:srgbClr val="000000">
                <a:alpha val="6000"/>
              </a:srgbClr>
            </a:outerShdw>
          </a:effectLst>
        </p:spPr>
        <p:txBody>
          <a:bodyPr/>
          <a:lstStyle/>
          <a:p>
            <a:endParaRPr lang="en-DE"/>
          </a:p>
        </p:txBody>
      </p:sp>
      <p:sp>
        <p:nvSpPr>
          <p:cNvPr id="48" name="Shape 46"/>
          <p:cNvSpPr/>
          <p:nvPr/>
        </p:nvSpPr>
        <p:spPr>
          <a:xfrm>
            <a:off x="274320" y="4111752"/>
            <a:ext cx="36576" cy="594360"/>
          </a:xfrm>
          <a:prstGeom prst="rect">
            <a:avLst/>
          </a:prstGeom>
          <a:solidFill>
            <a:srgbClr val="006B6B"/>
          </a:solidFill>
          <a:ln w="12700">
            <a:solidFill>
              <a:srgbClr val="006B6B"/>
            </a:solidFill>
            <a:prstDash val="solid"/>
          </a:ln>
        </p:spPr>
        <p:txBody>
          <a:bodyPr/>
          <a:lstStyle/>
          <a:p>
            <a:endParaRPr lang="en-DE"/>
          </a:p>
        </p:txBody>
      </p:sp>
      <p:sp>
        <p:nvSpPr>
          <p:cNvPr id="49" name="Text 47"/>
          <p:cNvSpPr/>
          <p:nvPr/>
        </p:nvSpPr>
        <p:spPr>
          <a:xfrm>
            <a:off x="384048" y="4157472"/>
            <a:ext cx="2011680" cy="164592"/>
          </a:xfrm>
          <a:prstGeom prst="rect">
            <a:avLst/>
          </a:prstGeom>
          <a:noFill/>
          <a:ln/>
        </p:spPr>
        <p:txBody>
          <a:bodyPr wrap="square" lIns="0" tIns="0" rIns="0" bIns="0" rtlCol="0" anchor="ctr"/>
          <a:lstStyle/>
          <a:p>
            <a:pPr marL="0" indent="0">
              <a:buNone/>
            </a:pPr>
            <a:r>
              <a:rPr lang="en-US" sz="700" b="1" kern="0" spc="50" dirty="0">
                <a:solidFill>
                  <a:srgbClr val="006B6B"/>
                </a:solidFill>
              </a:rPr>
              <a:t>MANAGEMENT ACTION</a:t>
            </a:r>
            <a:endParaRPr lang="en-US" sz="700" dirty="0"/>
          </a:p>
        </p:txBody>
      </p:sp>
      <p:sp>
        <p:nvSpPr>
          <p:cNvPr id="50" name="Text 48"/>
          <p:cNvSpPr/>
          <p:nvPr/>
        </p:nvSpPr>
        <p:spPr>
          <a:xfrm>
            <a:off x="384048" y="4331208"/>
            <a:ext cx="8321040" cy="329184"/>
          </a:xfrm>
          <a:prstGeom prst="rect">
            <a:avLst/>
          </a:prstGeom>
          <a:noFill/>
          <a:ln/>
        </p:spPr>
        <p:txBody>
          <a:bodyPr wrap="square" lIns="0" tIns="0" rIns="0" bIns="0" rtlCol="0" anchor="ctr"/>
          <a:lstStyle/>
          <a:p>
            <a:pPr marL="0" indent="0">
              <a:buNone/>
            </a:pPr>
            <a:r>
              <a:rPr lang="en-US" sz="780" dirty="0">
                <a:solidFill>
                  <a:srgbClr val="1B2E4B"/>
                </a:solidFill>
              </a:rPr>
              <a:t>Document the installation confirmation (Abnahmeprotokoll) process formally - this is the VAT trigger point. Ensure ERP generates VAT postings automatically on the date of Abnahme, not invoice date. Flag installations near VAT period-end for timely reporting. Begin e-invoicing (XRechnung / ZUGFeRD) readiness project for domestic B2B by Q4 2026 - mandatory from 01.01.2027 given Strabam AG's turnover exceeds €800K.</a:t>
            </a:r>
            <a:endParaRPr lang="en-US" sz="7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6400800" y="100584"/>
            <a:ext cx="1280160" cy="292608"/>
          </a:xfrm>
          <a:prstGeom prst="rect">
            <a:avLst/>
          </a:prstGeom>
          <a:solidFill>
            <a:srgbClr val="D97706"/>
          </a:solidFill>
          <a:ln w="12700">
            <a:solidFill>
              <a:srgbClr val="D97706"/>
            </a:solidFill>
            <a:prstDash val="solid"/>
          </a:ln>
        </p:spPr>
        <p:txBody>
          <a:bodyPr/>
          <a:lstStyle/>
          <a:p>
            <a:endParaRPr lang="en-DE"/>
          </a:p>
        </p:txBody>
      </p:sp>
      <p:sp>
        <p:nvSpPr>
          <p:cNvPr id="4" name="Text 2"/>
          <p:cNvSpPr/>
          <p:nvPr/>
        </p:nvSpPr>
        <p:spPr>
          <a:xfrm>
            <a:off x="6400800" y="100584"/>
            <a:ext cx="1280160" cy="292608"/>
          </a:xfrm>
          <a:prstGeom prst="rect">
            <a:avLst/>
          </a:prstGeom>
          <a:noFill/>
          <a:ln/>
        </p:spPr>
        <p:txBody>
          <a:bodyPr wrap="square" lIns="0" tIns="0" rIns="0" bIns="0" rtlCol="0" anchor="ctr"/>
          <a:lstStyle/>
          <a:p>
            <a:pPr marL="0" indent="0" algn="ctr">
              <a:buNone/>
            </a:pPr>
            <a:r>
              <a:rPr lang="en-US" sz="750" b="1" dirty="0">
                <a:solidFill>
                  <a:srgbClr val="FFFFFF"/>
                </a:solidFill>
              </a:rPr>
              <a:t>RISK: MEDIUM</a:t>
            </a:r>
            <a:endParaRPr lang="en-US" sz="750" dirty="0"/>
          </a:p>
        </p:txBody>
      </p:sp>
      <p:sp>
        <p:nvSpPr>
          <p:cNvPr id="5" name="Shape 3"/>
          <p:cNvSpPr/>
          <p:nvPr/>
        </p:nvSpPr>
        <p:spPr>
          <a:xfrm>
            <a:off x="7772400" y="100584"/>
            <a:ext cx="1234440" cy="292608"/>
          </a:xfrm>
          <a:prstGeom prst="rect">
            <a:avLst/>
          </a:prstGeom>
          <a:solidFill>
            <a:srgbClr val="D97706"/>
          </a:solidFill>
          <a:ln w="12700">
            <a:solidFill>
              <a:srgbClr val="D97706"/>
            </a:solidFill>
            <a:prstDash val="solid"/>
          </a:ln>
        </p:spPr>
        <p:txBody>
          <a:bodyPr/>
          <a:lstStyle/>
          <a:p>
            <a:endParaRPr lang="en-DE"/>
          </a:p>
        </p:txBody>
      </p:sp>
      <p:sp>
        <p:nvSpPr>
          <p:cNvPr id="6" name="Text 4"/>
          <p:cNvSpPr/>
          <p:nvPr/>
        </p:nvSpPr>
        <p:spPr>
          <a:xfrm>
            <a:off x="7772400" y="100584"/>
            <a:ext cx="1234440" cy="292608"/>
          </a:xfrm>
          <a:prstGeom prst="rect">
            <a:avLst/>
          </a:prstGeom>
          <a:noFill/>
          <a:ln/>
        </p:spPr>
        <p:txBody>
          <a:bodyPr wrap="square" lIns="0" tIns="0" rIns="0" bIns="0" rtlCol="0" anchor="ctr"/>
          <a:lstStyle/>
          <a:p>
            <a:pPr marL="0" indent="0" algn="ctr">
              <a:buNone/>
            </a:pPr>
            <a:r>
              <a:rPr lang="en-US" sz="750" b="1" dirty="0">
                <a:solidFill>
                  <a:srgbClr val="FFFFFF"/>
                </a:solidFill>
              </a:rPr>
              <a:t>PRIORITY: MEDIUM</a:t>
            </a:r>
            <a:endParaRPr lang="en-US" sz="750" dirty="0"/>
          </a:p>
        </p:txBody>
      </p:sp>
      <p:sp>
        <p:nvSpPr>
          <p:cNvPr id="7" name="Shape 5"/>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8" name="Text 6"/>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9" name="Text 7"/>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TRANSACTION ANALYSIS</a:t>
            </a:r>
            <a:endParaRPr lang="en-US" sz="700" dirty="0"/>
          </a:p>
        </p:txBody>
      </p:sp>
      <p:sp>
        <p:nvSpPr>
          <p:cNvPr id="10" name="Text 8"/>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12 / 23</a:t>
            </a:r>
            <a:endParaRPr lang="en-US" sz="700" dirty="0"/>
          </a:p>
        </p:txBody>
      </p:sp>
      <p:sp>
        <p:nvSpPr>
          <p:cNvPr id="11" name="Text 9"/>
          <p:cNvSpPr/>
          <p:nvPr/>
        </p:nvSpPr>
        <p:spPr>
          <a:xfrm>
            <a:off x="411480" y="137160"/>
            <a:ext cx="6400800" cy="201168"/>
          </a:xfrm>
          <a:prstGeom prst="rect">
            <a:avLst/>
          </a:prstGeom>
          <a:noFill/>
          <a:ln/>
        </p:spPr>
        <p:txBody>
          <a:bodyPr wrap="square" lIns="0" tIns="0" rIns="0" bIns="0" rtlCol="0" anchor="ctr"/>
          <a:lstStyle/>
          <a:p>
            <a:r>
              <a:rPr lang="en-US" sz="800" b="1" kern="0" spc="200" dirty="0">
                <a:solidFill>
                  <a:srgbClr val="006B6B"/>
                </a:solidFill>
              </a:rPr>
              <a:t>03 | TRANSACTION ANALYSIS</a:t>
            </a:r>
            <a:endParaRPr lang="en-US" sz="800" dirty="0"/>
          </a:p>
        </p:txBody>
      </p:sp>
      <p:sp>
        <p:nvSpPr>
          <p:cNvPr id="12" name="Text 10"/>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T6: Intra-Community Supplies - Poland to EU Customers</a:t>
            </a:r>
            <a:endParaRPr lang="en-US" sz="2100" dirty="0"/>
          </a:p>
        </p:txBody>
      </p:sp>
      <p:sp>
        <p:nvSpPr>
          <p:cNvPr id="13" name="Text 11"/>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Strabam S.p.l (PL, independent entity) → EU B2B customers | Small machinery | All EU Member States except Germany and Poland</a:t>
            </a:r>
            <a:endParaRPr lang="en-US" sz="950" dirty="0"/>
          </a:p>
        </p:txBody>
      </p:sp>
      <p:sp>
        <p:nvSpPr>
          <p:cNvPr id="14" name="Shape 12"/>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5" name="Shape 13"/>
          <p:cNvSpPr/>
          <p:nvPr/>
        </p:nvSpPr>
        <p:spPr>
          <a:xfrm>
            <a:off x="274320" y="1185063"/>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16" name="Shape 14"/>
          <p:cNvSpPr/>
          <p:nvPr/>
        </p:nvSpPr>
        <p:spPr>
          <a:xfrm>
            <a:off x="274320" y="1185063"/>
            <a:ext cx="36576" cy="683971"/>
          </a:xfrm>
          <a:prstGeom prst="rect">
            <a:avLst/>
          </a:prstGeom>
          <a:solidFill>
            <a:srgbClr val="006B6B"/>
          </a:solidFill>
          <a:ln w="12700">
            <a:solidFill>
              <a:srgbClr val="006B6B"/>
            </a:solidFill>
            <a:prstDash val="solid"/>
          </a:ln>
        </p:spPr>
        <p:txBody>
          <a:bodyPr/>
          <a:lstStyle/>
          <a:p>
            <a:endParaRPr lang="en-DE"/>
          </a:p>
        </p:txBody>
      </p:sp>
      <p:sp>
        <p:nvSpPr>
          <p:cNvPr id="17" name="Text 15"/>
          <p:cNvSpPr/>
          <p:nvPr/>
        </p:nvSpPr>
        <p:spPr>
          <a:xfrm>
            <a:off x="365760" y="1175919"/>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TAXABILITY</a:t>
            </a:r>
            <a:endParaRPr lang="en-US" sz="650" dirty="0"/>
          </a:p>
        </p:txBody>
      </p:sp>
      <p:sp>
        <p:nvSpPr>
          <p:cNvPr id="18" name="Text 16"/>
          <p:cNvSpPr/>
          <p:nvPr/>
        </p:nvSpPr>
        <p:spPr>
          <a:xfrm>
            <a:off x="365760" y="1379220"/>
            <a:ext cx="4023360" cy="402336"/>
          </a:xfrm>
          <a:prstGeom prst="rect">
            <a:avLst/>
          </a:prstGeom>
          <a:noFill/>
          <a:ln/>
        </p:spPr>
        <p:txBody>
          <a:bodyPr wrap="square" lIns="0" tIns="0" rIns="0" bIns="0" rtlCol="0" anchor="ctr"/>
          <a:lstStyle/>
          <a:p>
            <a:pPr marL="0" indent="0">
              <a:buNone/>
            </a:pPr>
            <a:r>
              <a:rPr lang="en-US" sz="750" dirty="0">
                <a:solidFill>
                  <a:srgbClr val="1B2E4B"/>
                </a:solidFill>
              </a:rPr>
              <a:t>Polish VAT law (Ustawa o VAT) - Strabam S.p.l is an independent Polish legal entity with its own Polish VAT registration. Supplies of small machinery to B2B customers in other EU Member States qualify as Intra-Community Supplies (Wewnątrzwspólnotowa Dostawa Towarów / WDT) under Polish VAT law, equivalent to § 6a UStG. Each supply is taxable in Poland but eligible for 0% exemption if statutory conditions are met.</a:t>
            </a:r>
            <a:endParaRPr lang="en-US" sz="750" dirty="0"/>
          </a:p>
        </p:txBody>
      </p:sp>
      <p:sp>
        <p:nvSpPr>
          <p:cNvPr id="19" name="Shape 17"/>
          <p:cNvSpPr/>
          <p:nvPr/>
        </p:nvSpPr>
        <p:spPr>
          <a:xfrm>
            <a:off x="4599432" y="1185063"/>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0" name="Shape 18"/>
          <p:cNvSpPr/>
          <p:nvPr/>
        </p:nvSpPr>
        <p:spPr>
          <a:xfrm>
            <a:off x="4599432" y="1185063"/>
            <a:ext cx="36576" cy="683971"/>
          </a:xfrm>
          <a:prstGeom prst="rect">
            <a:avLst/>
          </a:prstGeom>
          <a:solidFill>
            <a:srgbClr val="006B6B"/>
          </a:solidFill>
          <a:ln w="12700">
            <a:solidFill>
              <a:srgbClr val="006B6B"/>
            </a:solidFill>
            <a:prstDash val="solid"/>
          </a:ln>
        </p:spPr>
        <p:txBody>
          <a:bodyPr/>
          <a:lstStyle/>
          <a:p>
            <a:endParaRPr lang="en-DE"/>
          </a:p>
        </p:txBody>
      </p:sp>
      <p:sp>
        <p:nvSpPr>
          <p:cNvPr id="21" name="Text 19"/>
          <p:cNvSpPr/>
          <p:nvPr/>
        </p:nvSpPr>
        <p:spPr>
          <a:xfrm>
            <a:off x="4690872" y="1183539"/>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PLACE OF SUPPLY</a:t>
            </a:r>
            <a:endParaRPr lang="en-US" sz="650" dirty="0"/>
          </a:p>
        </p:txBody>
      </p:sp>
      <p:sp>
        <p:nvSpPr>
          <p:cNvPr id="22" name="Text 20"/>
          <p:cNvSpPr/>
          <p:nvPr/>
        </p:nvSpPr>
        <p:spPr>
          <a:xfrm>
            <a:off x="4690872" y="1348740"/>
            <a:ext cx="4023360" cy="402336"/>
          </a:xfrm>
          <a:prstGeom prst="rect">
            <a:avLst/>
          </a:prstGeom>
          <a:noFill/>
          <a:ln/>
        </p:spPr>
        <p:txBody>
          <a:bodyPr wrap="square" lIns="0" tIns="0" rIns="0" bIns="0" rtlCol="0" anchor="ctr"/>
          <a:lstStyle/>
          <a:p>
            <a:pPr marL="0" indent="0">
              <a:buNone/>
            </a:pPr>
            <a:r>
              <a:rPr lang="en-US" sz="750" dirty="0">
                <a:solidFill>
                  <a:srgbClr val="1B2E4B"/>
                </a:solidFill>
              </a:rPr>
              <a:t>Polish VAT law - Place of ICS is Poland (transport begins in Poland). Corresponding IGE is taxed in the destination EU Member State where the customer is established. No German or Spanish VAT involvement for this flow. Important: customers in Germany and Poland are explicitly excluded from Strabam S.p.l's customer base.</a:t>
            </a:r>
            <a:endParaRPr lang="en-US" sz="750" dirty="0"/>
          </a:p>
        </p:txBody>
      </p:sp>
      <p:sp>
        <p:nvSpPr>
          <p:cNvPr id="23" name="Shape 21"/>
          <p:cNvSpPr/>
          <p:nvPr/>
        </p:nvSpPr>
        <p:spPr>
          <a:xfrm>
            <a:off x="274320" y="1897380"/>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4" name="Shape 22"/>
          <p:cNvSpPr/>
          <p:nvPr/>
        </p:nvSpPr>
        <p:spPr>
          <a:xfrm>
            <a:off x="274320" y="1897380"/>
            <a:ext cx="36576" cy="621792"/>
          </a:xfrm>
          <a:prstGeom prst="rect">
            <a:avLst/>
          </a:prstGeom>
          <a:solidFill>
            <a:srgbClr val="006B6B"/>
          </a:solidFill>
          <a:ln w="12700">
            <a:solidFill>
              <a:srgbClr val="006B6B"/>
            </a:solidFill>
            <a:prstDash val="solid"/>
          </a:ln>
        </p:spPr>
        <p:txBody>
          <a:bodyPr/>
          <a:lstStyle/>
          <a:p>
            <a:endParaRPr lang="en-DE"/>
          </a:p>
        </p:txBody>
      </p:sp>
      <p:sp>
        <p:nvSpPr>
          <p:cNvPr id="25" name="Text 23"/>
          <p:cNvSpPr/>
          <p:nvPr/>
        </p:nvSpPr>
        <p:spPr>
          <a:xfrm>
            <a:off x="365760" y="1900091"/>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TAXABLE AMOUNT</a:t>
            </a:r>
            <a:endParaRPr lang="en-US" sz="650" dirty="0"/>
          </a:p>
        </p:txBody>
      </p:sp>
      <p:sp>
        <p:nvSpPr>
          <p:cNvPr id="26" name="Text 24"/>
          <p:cNvSpPr/>
          <p:nvPr/>
        </p:nvSpPr>
        <p:spPr>
          <a:xfrm>
            <a:off x="365760" y="2082971"/>
            <a:ext cx="4023360" cy="365760"/>
          </a:xfrm>
          <a:prstGeom prst="rect">
            <a:avLst/>
          </a:prstGeom>
          <a:noFill/>
          <a:ln/>
        </p:spPr>
        <p:txBody>
          <a:bodyPr wrap="square" lIns="0" tIns="0" rIns="0" bIns="0" rtlCol="0" anchor="ctr"/>
          <a:lstStyle/>
          <a:p>
            <a:pPr marL="0" indent="0">
              <a:buNone/>
            </a:pPr>
            <a:r>
              <a:rPr lang="en-US" sz="750" dirty="0">
                <a:solidFill>
                  <a:srgbClr val="1B2E4B"/>
                </a:solidFill>
              </a:rPr>
              <a:t>Polish VAT law - Taxable amount is the agreed consideration (cena netto) with the EU customer. No discounts are granted. For Intrastat reporting purposes, the Statistical Value (Wartość statystyczna) declared in the Polish Intrastat (Intrastat PL) must reflect the commercial value of goods at the Polish border.</a:t>
            </a:r>
            <a:endParaRPr lang="en-US" sz="750" dirty="0"/>
          </a:p>
        </p:txBody>
      </p:sp>
      <p:sp>
        <p:nvSpPr>
          <p:cNvPr id="27" name="Shape 25"/>
          <p:cNvSpPr/>
          <p:nvPr/>
        </p:nvSpPr>
        <p:spPr>
          <a:xfrm>
            <a:off x="4599432" y="1897380"/>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8" name="Shape 26"/>
          <p:cNvSpPr/>
          <p:nvPr/>
        </p:nvSpPr>
        <p:spPr>
          <a:xfrm>
            <a:off x="4599432" y="1897380"/>
            <a:ext cx="36576" cy="621792"/>
          </a:xfrm>
          <a:prstGeom prst="rect">
            <a:avLst/>
          </a:prstGeom>
          <a:solidFill>
            <a:srgbClr val="006B6B"/>
          </a:solidFill>
          <a:ln w="12700">
            <a:solidFill>
              <a:srgbClr val="006B6B"/>
            </a:solidFill>
            <a:prstDash val="solid"/>
          </a:ln>
        </p:spPr>
        <p:txBody>
          <a:bodyPr/>
          <a:lstStyle/>
          <a:p>
            <a:endParaRPr lang="en-DE"/>
          </a:p>
        </p:txBody>
      </p:sp>
      <p:sp>
        <p:nvSpPr>
          <p:cNvPr id="29" name="Text 27"/>
          <p:cNvSpPr/>
          <p:nvPr/>
        </p:nvSpPr>
        <p:spPr>
          <a:xfrm>
            <a:off x="4690872" y="1900091"/>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VAT RATE</a:t>
            </a:r>
            <a:endParaRPr lang="en-US" sz="650" dirty="0"/>
          </a:p>
        </p:txBody>
      </p:sp>
      <p:sp>
        <p:nvSpPr>
          <p:cNvPr id="30" name="Text 28"/>
          <p:cNvSpPr/>
          <p:nvPr/>
        </p:nvSpPr>
        <p:spPr>
          <a:xfrm>
            <a:off x="4690872" y="2082971"/>
            <a:ext cx="4023360" cy="365760"/>
          </a:xfrm>
          <a:prstGeom prst="rect">
            <a:avLst/>
          </a:prstGeom>
          <a:noFill/>
          <a:ln/>
        </p:spPr>
        <p:txBody>
          <a:bodyPr wrap="square" lIns="0" tIns="0" rIns="0" bIns="0" rtlCol="0" anchor="ctr"/>
          <a:lstStyle/>
          <a:p>
            <a:pPr marL="0" indent="0">
              <a:buNone/>
            </a:pPr>
            <a:r>
              <a:rPr lang="en-US" sz="750" dirty="0">
                <a:solidFill>
                  <a:srgbClr val="1B2E4B"/>
                </a:solidFill>
              </a:rPr>
              <a:t>0% in Poland - Polish ICS exemption applies if: (a) customer holds valid VAT Identification Number (Numer identyfikacji podatkowej / NIP) in the destination EU Member State, confirmed via VIES, (b) goods are physically transported from Poland to the destination Member State, (c) transport documentation available. If customer VAT ID is invalid: Polish VAT at 23% applies.</a:t>
            </a:r>
            <a:endParaRPr lang="en-US" sz="750" dirty="0"/>
          </a:p>
        </p:txBody>
      </p:sp>
      <p:sp>
        <p:nvSpPr>
          <p:cNvPr id="31" name="Shape 29"/>
          <p:cNvSpPr/>
          <p:nvPr/>
        </p:nvSpPr>
        <p:spPr>
          <a:xfrm>
            <a:off x="274320" y="2555748"/>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2" name="Shape 30"/>
          <p:cNvSpPr/>
          <p:nvPr/>
        </p:nvSpPr>
        <p:spPr>
          <a:xfrm>
            <a:off x="274320" y="2555748"/>
            <a:ext cx="36576" cy="621792"/>
          </a:xfrm>
          <a:prstGeom prst="rect">
            <a:avLst/>
          </a:prstGeom>
          <a:solidFill>
            <a:srgbClr val="006B6B"/>
          </a:solidFill>
          <a:ln w="12700">
            <a:solidFill>
              <a:srgbClr val="006B6B"/>
            </a:solidFill>
            <a:prstDash val="solid"/>
          </a:ln>
        </p:spPr>
        <p:txBody>
          <a:bodyPr/>
          <a:lstStyle/>
          <a:p>
            <a:endParaRPr lang="en-DE"/>
          </a:p>
        </p:txBody>
      </p:sp>
      <p:sp>
        <p:nvSpPr>
          <p:cNvPr id="33" name="Text 31"/>
          <p:cNvSpPr/>
          <p:nvPr/>
        </p:nvSpPr>
        <p:spPr>
          <a:xfrm>
            <a:off x="365760" y="2592324"/>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TIME OF TAXATION</a:t>
            </a:r>
            <a:endParaRPr lang="en-US" sz="650" dirty="0"/>
          </a:p>
        </p:txBody>
      </p:sp>
      <p:sp>
        <p:nvSpPr>
          <p:cNvPr id="34" name="Text 32"/>
          <p:cNvSpPr/>
          <p:nvPr/>
        </p:nvSpPr>
        <p:spPr>
          <a:xfrm>
            <a:off x="365760" y="2775204"/>
            <a:ext cx="4023360" cy="365760"/>
          </a:xfrm>
          <a:prstGeom prst="rect">
            <a:avLst/>
          </a:prstGeom>
          <a:noFill/>
          <a:ln/>
        </p:spPr>
        <p:txBody>
          <a:bodyPr wrap="square" lIns="0" tIns="0" rIns="0" bIns="0" rtlCol="0" anchor="ctr"/>
          <a:lstStyle/>
          <a:p>
            <a:pPr marL="0" indent="0">
              <a:buNone/>
            </a:pPr>
            <a:r>
              <a:rPr lang="en-US" sz="750" dirty="0">
                <a:solidFill>
                  <a:srgbClr val="1B2E4B"/>
                </a:solidFill>
              </a:rPr>
              <a:t>Polish VAT law - VAT becomes chargeable on the 15th day of the month following dispatch, or on invoice date if earlier. Invoice must be issued no later than the 15th of the month following the month in which the WDT occurred. Delay in invoicing does not defer the VAT point.</a:t>
            </a:r>
            <a:endParaRPr lang="en-US" sz="750" dirty="0"/>
          </a:p>
        </p:txBody>
      </p:sp>
      <p:sp>
        <p:nvSpPr>
          <p:cNvPr id="35" name="Shape 33"/>
          <p:cNvSpPr/>
          <p:nvPr/>
        </p:nvSpPr>
        <p:spPr>
          <a:xfrm>
            <a:off x="4599432" y="2555748"/>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6" name="Shape 34"/>
          <p:cNvSpPr/>
          <p:nvPr/>
        </p:nvSpPr>
        <p:spPr>
          <a:xfrm>
            <a:off x="4599432" y="2555748"/>
            <a:ext cx="36576" cy="621792"/>
          </a:xfrm>
          <a:prstGeom prst="rect">
            <a:avLst/>
          </a:prstGeom>
          <a:solidFill>
            <a:srgbClr val="006B6B"/>
          </a:solidFill>
          <a:ln w="12700">
            <a:solidFill>
              <a:srgbClr val="006B6B"/>
            </a:solidFill>
            <a:prstDash val="solid"/>
          </a:ln>
        </p:spPr>
        <p:txBody>
          <a:bodyPr/>
          <a:lstStyle/>
          <a:p>
            <a:endParaRPr lang="en-DE"/>
          </a:p>
        </p:txBody>
      </p:sp>
      <p:sp>
        <p:nvSpPr>
          <p:cNvPr id="37" name="Text 35"/>
          <p:cNvSpPr/>
          <p:nvPr/>
        </p:nvSpPr>
        <p:spPr>
          <a:xfrm>
            <a:off x="4690872" y="2592324"/>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PERSON LIABLE FOR VAT</a:t>
            </a:r>
            <a:endParaRPr lang="en-US" sz="650" dirty="0"/>
          </a:p>
        </p:txBody>
      </p:sp>
      <p:sp>
        <p:nvSpPr>
          <p:cNvPr id="38" name="Text 36"/>
          <p:cNvSpPr/>
          <p:nvPr/>
        </p:nvSpPr>
        <p:spPr>
          <a:xfrm>
            <a:off x="4690872" y="2775204"/>
            <a:ext cx="4023360" cy="365760"/>
          </a:xfrm>
          <a:prstGeom prst="rect">
            <a:avLst/>
          </a:prstGeom>
          <a:noFill/>
          <a:ln/>
        </p:spPr>
        <p:txBody>
          <a:bodyPr wrap="square" lIns="0" tIns="0" rIns="0" bIns="0" rtlCol="0" anchor="ctr"/>
          <a:lstStyle/>
          <a:p>
            <a:pPr marL="0" indent="0">
              <a:buNone/>
            </a:pPr>
            <a:r>
              <a:rPr lang="en-US" sz="750" dirty="0">
                <a:solidFill>
                  <a:srgbClr val="1B2E4B"/>
                </a:solidFill>
              </a:rPr>
              <a:t>Strabam S.p.l is liable as the Polish supplier for the WDT. It must charge 0%, file the Polish European Sales List (Informacja podsumowująca / VAT-UE) and submit Polish Intrastat. The customer self-assesses IGE in their jurisdiction. No German or Spanish entity is the liable party in this transaction.</a:t>
            </a:r>
            <a:endParaRPr lang="en-US" sz="750" dirty="0"/>
          </a:p>
        </p:txBody>
      </p:sp>
      <p:sp>
        <p:nvSpPr>
          <p:cNvPr id="39" name="Shape 37"/>
          <p:cNvSpPr/>
          <p:nvPr/>
        </p:nvSpPr>
        <p:spPr>
          <a:xfrm>
            <a:off x="274320" y="3194548"/>
            <a:ext cx="4160520" cy="752368"/>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0" name="Shape 38"/>
          <p:cNvSpPr/>
          <p:nvPr/>
        </p:nvSpPr>
        <p:spPr>
          <a:xfrm>
            <a:off x="274320" y="3194548"/>
            <a:ext cx="36576" cy="752368"/>
          </a:xfrm>
          <a:prstGeom prst="rect">
            <a:avLst/>
          </a:prstGeom>
          <a:solidFill>
            <a:srgbClr val="006B6B"/>
          </a:solidFill>
          <a:ln w="12700">
            <a:solidFill>
              <a:srgbClr val="006B6B"/>
            </a:solidFill>
            <a:prstDash val="solid"/>
          </a:ln>
        </p:spPr>
        <p:txBody>
          <a:bodyPr/>
          <a:lstStyle/>
          <a:p>
            <a:endParaRPr lang="en-DE"/>
          </a:p>
        </p:txBody>
      </p:sp>
      <p:sp>
        <p:nvSpPr>
          <p:cNvPr id="41" name="Text 39"/>
          <p:cNvSpPr/>
          <p:nvPr/>
        </p:nvSpPr>
        <p:spPr>
          <a:xfrm>
            <a:off x="365760" y="3180070"/>
            <a:ext cx="4023360" cy="199156"/>
          </a:xfrm>
          <a:prstGeom prst="rect">
            <a:avLst/>
          </a:prstGeom>
          <a:noFill/>
          <a:ln/>
        </p:spPr>
        <p:txBody>
          <a:bodyPr wrap="square" lIns="0" tIns="0" rIns="0" bIns="0" rtlCol="0" anchor="ctr"/>
          <a:lstStyle/>
          <a:p>
            <a:pPr marL="0" indent="0">
              <a:buNone/>
            </a:pPr>
            <a:r>
              <a:rPr lang="en-US" sz="650" b="1" kern="0" spc="50" dirty="0">
                <a:solidFill>
                  <a:srgbClr val="006B6B"/>
                </a:solidFill>
              </a:rPr>
              <a:t>INPUT VAT DEDUCTION</a:t>
            </a:r>
            <a:endParaRPr lang="en-US" sz="650" dirty="0"/>
          </a:p>
        </p:txBody>
      </p:sp>
      <p:sp>
        <p:nvSpPr>
          <p:cNvPr id="42" name="Text 40"/>
          <p:cNvSpPr/>
          <p:nvPr/>
        </p:nvSpPr>
        <p:spPr>
          <a:xfrm>
            <a:off x="365760" y="3341827"/>
            <a:ext cx="4023360" cy="442570"/>
          </a:xfrm>
          <a:prstGeom prst="rect">
            <a:avLst/>
          </a:prstGeom>
          <a:noFill/>
          <a:ln/>
        </p:spPr>
        <p:txBody>
          <a:bodyPr wrap="square" lIns="0" tIns="0" rIns="0" bIns="0" rtlCol="0" anchor="ctr"/>
          <a:lstStyle/>
          <a:p>
            <a:pPr marL="0" indent="0">
              <a:buNone/>
            </a:pPr>
            <a:r>
              <a:rPr lang="en-US" sz="750" dirty="0">
                <a:solidFill>
                  <a:srgbClr val="1B2E4B"/>
                </a:solidFill>
              </a:rPr>
              <a:t>Polish VAT law - Despite applying 0% rate, Strabam S.p.l retains full right to deduct Polish input VAT (VAT naliczony) on costs related to the zero-rated WDT supplies (e.g. steel purchases, production costs, logistics). This is equivalent to § 15 Abs. 3 Nr. 1 UStG logic. Polish VAT returns must reconcile input and output VAT positions.</a:t>
            </a:r>
            <a:endParaRPr lang="en-US" sz="750" dirty="0"/>
          </a:p>
        </p:txBody>
      </p:sp>
      <p:sp>
        <p:nvSpPr>
          <p:cNvPr id="43" name="Shape 41"/>
          <p:cNvSpPr/>
          <p:nvPr/>
        </p:nvSpPr>
        <p:spPr>
          <a:xfrm>
            <a:off x="4599432" y="3186928"/>
            <a:ext cx="4160520" cy="752368"/>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4" name="Shape 42"/>
          <p:cNvSpPr/>
          <p:nvPr/>
        </p:nvSpPr>
        <p:spPr>
          <a:xfrm>
            <a:off x="4599432" y="3186928"/>
            <a:ext cx="36576" cy="752368"/>
          </a:xfrm>
          <a:prstGeom prst="rect">
            <a:avLst/>
          </a:prstGeom>
          <a:solidFill>
            <a:srgbClr val="006B6B"/>
          </a:solidFill>
          <a:ln w="12700">
            <a:solidFill>
              <a:srgbClr val="006B6B"/>
            </a:solidFill>
            <a:prstDash val="solid"/>
          </a:ln>
        </p:spPr>
        <p:txBody>
          <a:bodyPr/>
          <a:lstStyle/>
          <a:p>
            <a:endParaRPr lang="en-DE"/>
          </a:p>
        </p:txBody>
      </p:sp>
      <p:sp>
        <p:nvSpPr>
          <p:cNvPr id="45" name="Text 43"/>
          <p:cNvSpPr/>
          <p:nvPr/>
        </p:nvSpPr>
        <p:spPr>
          <a:xfrm>
            <a:off x="4690872" y="3172450"/>
            <a:ext cx="4023360" cy="199156"/>
          </a:xfrm>
          <a:prstGeom prst="rect">
            <a:avLst/>
          </a:prstGeom>
          <a:noFill/>
          <a:ln/>
        </p:spPr>
        <p:txBody>
          <a:bodyPr wrap="square" lIns="0" tIns="0" rIns="0" bIns="0" rtlCol="0" anchor="ctr"/>
          <a:lstStyle/>
          <a:p>
            <a:pPr marL="0" indent="0">
              <a:buNone/>
            </a:pPr>
            <a:r>
              <a:rPr lang="en-US" sz="650" b="1" kern="0" spc="50" dirty="0">
                <a:solidFill>
                  <a:srgbClr val="006B6B"/>
                </a:solidFill>
              </a:rPr>
              <a:t>FILING &amp; COMPLIANCE</a:t>
            </a:r>
            <a:endParaRPr lang="en-US" sz="650" dirty="0"/>
          </a:p>
        </p:txBody>
      </p:sp>
      <p:sp>
        <p:nvSpPr>
          <p:cNvPr id="46" name="Text 44"/>
          <p:cNvSpPr/>
          <p:nvPr/>
        </p:nvSpPr>
        <p:spPr>
          <a:xfrm>
            <a:off x="4690872" y="3410407"/>
            <a:ext cx="4023360" cy="442570"/>
          </a:xfrm>
          <a:prstGeom prst="rect">
            <a:avLst/>
          </a:prstGeom>
          <a:noFill/>
          <a:ln/>
        </p:spPr>
        <p:txBody>
          <a:bodyPr wrap="square" lIns="0" tIns="0" rIns="0" bIns="0" rtlCol="0" anchor="ctr"/>
          <a:lstStyle/>
          <a:p>
            <a:pPr marL="0" indent="0">
              <a:buNone/>
            </a:pPr>
            <a:r>
              <a:rPr lang="en-US" sz="750" dirty="0">
                <a:solidFill>
                  <a:srgbClr val="1B2E4B"/>
                </a:solidFill>
              </a:rPr>
              <a:t>(a) Polish VAT return (JPK_VAT - Jednolity Plik Kontrolny): monthly electronic reporting including WDT. (b) Polish European Sales List (VAT-UE / Informacja podsumowująca): quarterly or monthly reporting of customer VAT IDs and amounts. (c) Polish Intrastat - dispatch (wysyłka): above applicable Polish threshold. (d) Third-party logistics contracts must include CMR documentation clause. (e) Retain transport documents: CMR waybill, freight notes, warehouse acceptance documents.</a:t>
            </a:r>
            <a:endParaRPr lang="en-US" sz="750" dirty="0"/>
          </a:p>
        </p:txBody>
      </p:sp>
      <p:sp>
        <p:nvSpPr>
          <p:cNvPr id="47" name="Shape 45"/>
          <p:cNvSpPr/>
          <p:nvPr/>
        </p:nvSpPr>
        <p:spPr>
          <a:xfrm>
            <a:off x="274320" y="4035552"/>
            <a:ext cx="8485632" cy="594360"/>
          </a:xfrm>
          <a:prstGeom prst="rect">
            <a:avLst/>
          </a:prstGeom>
          <a:solidFill>
            <a:srgbClr val="E8F4F4"/>
          </a:solidFill>
          <a:ln w="7620">
            <a:solidFill>
              <a:srgbClr val="006B6B"/>
            </a:solidFill>
            <a:prstDash val="solid"/>
          </a:ln>
          <a:effectLst>
            <a:outerShdw blurRad="38100" dist="12700" dir="8100000" algn="bl" rotWithShape="0">
              <a:srgbClr val="000000">
                <a:alpha val="6000"/>
              </a:srgbClr>
            </a:outerShdw>
          </a:effectLst>
        </p:spPr>
        <p:txBody>
          <a:bodyPr/>
          <a:lstStyle/>
          <a:p>
            <a:endParaRPr lang="en-DE"/>
          </a:p>
        </p:txBody>
      </p:sp>
      <p:sp>
        <p:nvSpPr>
          <p:cNvPr id="48" name="Shape 46"/>
          <p:cNvSpPr/>
          <p:nvPr/>
        </p:nvSpPr>
        <p:spPr>
          <a:xfrm>
            <a:off x="274320" y="4035552"/>
            <a:ext cx="36576" cy="594360"/>
          </a:xfrm>
          <a:prstGeom prst="rect">
            <a:avLst/>
          </a:prstGeom>
          <a:solidFill>
            <a:srgbClr val="006B6B"/>
          </a:solidFill>
          <a:ln w="12700">
            <a:solidFill>
              <a:srgbClr val="006B6B"/>
            </a:solidFill>
            <a:prstDash val="solid"/>
          </a:ln>
        </p:spPr>
        <p:txBody>
          <a:bodyPr/>
          <a:lstStyle/>
          <a:p>
            <a:endParaRPr lang="en-DE"/>
          </a:p>
        </p:txBody>
      </p:sp>
      <p:sp>
        <p:nvSpPr>
          <p:cNvPr id="49" name="Text 47"/>
          <p:cNvSpPr/>
          <p:nvPr/>
        </p:nvSpPr>
        <p:spPr>
          <a:xfrm>
            <a:off x="384048" y="4081272"/>
            <a:ext cx="2011680" cy="164592"/>
          </a:xfrm>
          <a:prstGeom prst="rect">
            <a:avLst/>
          </a:prstGeom>
          <a:noFill/>
          <a:ln/>
        </p:spPr>
        <p:txBody>
          <a:bodyPr wrap="square" lIns="0" tIns="0" rIns="0" bIns="0" rtlCol="0" anchor="ctr"/>
          <a:lstStyle/>
          <a:p>
            <a:pPr marL="0" indent="0">
              <a:buNone/>
            </a:pPr>
            <a:r>
              <a:rPr lang="en-US" sz="700" b="1" kern="0" spc="50" dirty="0">
                <a:solidFill>
                  <a:srgbClr val="006B6B"/>
                </a:solidFill>
              </a:rPr>
              <a:t>MANAGEMENT ACTION</a:t>
            </a:r>
            <a:endParaRPr lang="en-US" sz="700" dirty="0"/>
          </a:p>
        </p:txBody>
      </p:sp>
      <p:sp>
        <p:nvSpPr>
          <p:cNvPr id="50" name="Text 48"/>
          <p:cNvSpPr/>
          <p:nvPr/>
        </p:nvSpPr>
        <p:spPr>
          <a:xfrm>
            <a:off x="384048" y="4255008"/>
            <a:ext cx="8321040" cy="329184"/>
          </a:xfrm>
          <a:prstGeom prst="rect">
            <a:avLst/>
          </a:prstGeom>
          <a:noFill/>
          <a:ln/>
        </p:spPr>
        <p:txBody>
          <a:bodyPr wrap="square" lIns="0" tIns="0" rIns="0" bIns="0" rtlCol="0" anchor="ctr"/>
          <a:lstStyle/>
          <a:p>
            <a:pPr marL="0" indent="0">
              <a:buNone/>
            </a:pPr>
            <a:r>
              <a:rPr lang="en-US" sz="780" dirty="0">
                <a:solidFill>
                  <a:srgbClr val="1B2E4B"/>
                </a:solidFill>
              </a:rPr>
              <a:t>Automate VIES VAT ID validation within Strabam S.p.l's ERP before each invoice is issued - invalid customer ID forces 23% Polish VAT, eliminating the 0% benefit. For third-party logistics (acquired for peak demand), contractually require CMR waybills for every shipment. Perform quarterly reconciliation of VAT-UE vs. Jednolity Plik Kontrolny (JPK_VAT) and accounting records. Review Polish Intrastat thresholds annually as turnover grows.</a:t>
            </a:r>
            <a:endParaRPr lang="en-US" sz="7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6400800" y="100584"/>
            <a:ext cx="1280160" cy="292608"/>
          </a:xfrm>
          <a:prstGeom prst="rect">
            <a:avLst/>
          </a:prstGeom>
          <a:solidFill>
            <a:srgbClr val="15803D"/>
          </a:solidFill>
          <a:ln w="12700">
            <a:solidFill>
              <a:srgbClr val="15803D"/>
            </a:solidFill>
            <a:prstDash val="solid"/>
          </a:ln>
        </p:spPr>
        <p:txBody>
          <a:bodyPr/>
          <a:lstStyle/>
          <a:p>
            <a:endParaRPr lang="en-DE"/>
          </a:p>
        </p:txBody>
      </p:sp>
      <p:sp>
        <p:nvSpPr>
          <p:cNvPr id="4" name="Text 2"/>
          <p:cNvSpPr/>
          <p:nvPr/>
        </p:nvSpPr>
        <p:spPr>
          <a:xfrm>
            <a:off x="6400800" y="100584"/>
            <a:ext cx="1280160" cy="292608"/>
          </a:xfrm>
          <a:prstGeom prst="rect">
            <a:avLst/>
          </a:prstGeom>
          <a:noFill/>
          <a:ln/>
        </p:spPr>
        <p:txBody>
          <a:bodyPr wrap="square" lIns="0" tIns="0" rIns="0" bIns="0" rtlCol="0" anchor="ctr"/>
          <a:lstStyle/>
          <a:p>
            <a:pPr marL="0" indent="0" algn="ctr">
              <a:buNone/>
            </a:pPr>
            <a:r>
              <a:rPr lang="en-US" sz="750" b="1" dirty="0">
                <a:solidFill>
                  <a:srgbClr val="FFFFFF"/>
                </a:solidFill>
              </a:rPr>
              <a:t>RISK: LOW</a:t>
            </a:r>
            <a:endParaRPr lang="en-US" sz="750" dirty="0"/>
          </a:p>
        </p:txBody>
      </p:sp>
      <p:sp>
        <p:nvSpPr>
          <p:cNvPr id="5" name="Shape 3"/>
          <p:cNvSpPr/>
          <p:nvPr/>
        </p:nvSpPr>
        <p:spPr>
          <a:xfrm>
            <a:off x="7772400" y="100584"/>
            <a:ext cx="1234440" cy="292608"/>
          </a:xfrm>
          <a:prstGeom prst="rect">
            <a:avLst/>
          </a:prstGeom>
          <a:solidFill>
            <a:srgbClr val="15803D"/>
          </a:solidFill>
          <a:ln w="12700">
            <a:solidFill>
              <a:srgbClr val="15803D"/>
            </a:solidFill>
            <a:prstDash val="solid"/>
          </a:ln>
        </p:spPr>
        <p:txBody>
          <a:bodyPr/>
          <a:lstStyle/>
          <a:p>
            <a:endParaRPr lang="en-DE"/>
          </a:p>
        </p:txBody>
      </p:sp>
      <p:sp>
        <p:nvSpPr>
          <p:cNvPr id="6" name="Text 4"/>
          <p:cNvSpPr/>
          <p:nvPr/>
        </p:nvSpPr>
        <p:spPr>
          <a:xfrm>
            <a:off x="7772400" y="100584"/>
            <a:ext cx="1234440" cy="292608"/>
          </a:xfrm>
          <a:prstGeom prst="rect">
            <a:avLst/>
          </a:prstGeom>
          <a:noFill/>
          <a:ln/>
        </p:spPr>
        <p:txBody>
          <a:bodyPr wrap="square" lIns="0" tIns="0" rIns="0" bIns="0" rtlCol="0" anchor="ctr"/>
          <a:lstStyle/>
          <a:p>
            <a:pPr marL="0" indent="0" algn="ctr">
              <a:buNone/>
            </a:pPr>
            <a:r>
              <a:rPr lang="en-US" sz="750" b="1" dirty="0">
                <a:solidFill>
                  <a:srgbClr val="FFFFFF"/>
                </a:solidFill>
              </a:rPr>
              <a:t>PRIORITY: LOW</a:t>
            </a:r>
            <a:endParaRPr lang="en-US" sz="750" dirty="0"/>
          </a:p>
        </p:txBody>
      </p:sp>
      <p:sp>
        <p:nvSpPr>
          <p:cNvPr id="7" name="Shape 5"/>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8" name="Text 6"/>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9" name="Text 7"/>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TRANSACTION ANALYSIS</a:t>
            </a:r>
            <a:endParaRPr lang="en-US" sz="700" dirty="0"/>
          </a:p>
        </p:txBody>
      </p:sp>
      <p:sp>
        <p:nvSpPr>
          <p:cNvPr id="10" name="Text 8"/>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13 / 23</a:t>
            </a:r>
            <a:endParaRPr lang="en-US" sz="700" dirty="0"/>
          </a:p>
        </p:txBody>
      </p:sp>
      <p:sp>
        <p:nvSpPr>
          <p:cNvPr id="11" name="Text 9"/>
          <p:cNvSpPr/>
          <p:nvPr/>
        </p:nvSpPr>
        <p:spPr>
          <a:xfrm>
            <a:off x="411480" y="137160"/>
            <a:ext cx="6400800" cy="201168"/>
          </a:xfrm>
          <a:prstGeom prst="rect">
            <a:avLst/>
          </a:prstGeom>
          <a:noFill/>
          <a:ln/>
        </p:spPr>
        <p:txBody>
          <a:bodyPr wrap="square" lIns="0" tIns="0" rIns="0" bIns="0" rtlCol="0" anchor="ctr"/>
          <a:lstStyle/>
          <a:p>
            <a:r>
              <a:rPr lang="en-US" sz="800" b="1" kern="0" spc="200" dirty="0">
                <a:solidFill>
                  <a:srgbClr val="006B6B"/>
                </a:solidFill>
              </a:rPr>
              <a:t>03 | TRANSACTION ANALYSIS</a:t>
            </a:r>
            <a:endParaRPr lang="en-US" sz="800" dirty="0"/>
          </a:p>
        </p:txBody>
      </p:sp>
      <p:sp>
        <p:nvSpPr>
          <p:cNvPr id="12" name="Text 10"/>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T7: Annual B2B Maintenance Contracts</a:t>
            </a:r>
            <a:endParaRPr lang="en-US" sz="2100" dirty="0"/>
          </a:p>
        </p:txBody>
      </p:sp>
      <p:sp>
        <p:nvSpPr>
          <p:cNvPr id="13" name="Text 11"/>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Strabam AG (DE) → German B2B customers | Yearly maintenance of installed large machinery | Invoiced annually per contract</a:t>
            </a:r>
            <a:endParaRPr lang="en-US" sz="950" dirty="0"/>
          </a:p>
        </p:txBody>
      </p:sp>
      <p:sp>
        <p:nvSpPr>
          <p:cNvPr id="14" name="Shape 12"/>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5" name="Shape 13"/>
          <p:cNvSpPr/>
          <p:nvPr/>
        </p:nvSpPr>
        <p:spPr>
          <a:xfrm>
            <a:off x="274320" y="1169823"/>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16" name="Shape 14"/>
          <p:cNvSpPr/>
          <p:nvPr/>
        </p:nvSpPr>
        <p:spPr>
          <a:xfrm>
            <a:off x="274320" y="1169823"/>
            <a:ext cx="36576" cy="683971"/>
          </a:xfrm>
          <a:prstGeom prst="rect">
            <a:avLst/>
          </a:prstGeom>
          <a:solidFill>
            <a:srgbClr val="006B6B"/>
          </a:solidFill>
          <a:ln w="12700">
            <a:solidFill>
              <a:srgbClr val="006B6B"/>
            </a:solidFill>
            <a:prstDash val="solid"/>
          </a:ln>
        </p:spPr>
        <p:txBody>
          <a:bodyPr/>
          <a:lstStyle/>
          <a:p>
            <a:endParaRPr lang="en-DE"/>
          </a:p>
        </p:txBody>
      </p:sp>
      <p:sp>
        <p:nvSpPr>
          <p:cNvPr id="17" name="Text 15"/>
          <p:cNvSpPr/>
          <p:nvPr/>
        </p:nvSpPr>
        <p:spPr>
          <a:xfrm>
            <a:off x="365760" y="1183539"/>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TAXABILITY</a:t>
            </a:r>
            <a:endParaRPr lang="en-US" sz="650" dirty="0"/>
          </a:p>
        </p:txBody>
      </p:sp>
      <p:sp>
        <p:nvSpPr>
          <p:cNvPr id="18" name="Text 16"/>
          <p:cNvSpPr/>
          <p:nvPr/>
        </p:nvSpPr>
        <p:spPr>
          <a:xfrm>
            <a:off x="365760" y="1379220"/>
            <a:ext cx="4023360" cy="402336"/>
          </a:xfrm>
          <a:prstGeom prst="rect">
            <a:avLst/>
          </a:prstGeom>
          <a:noFill/>
          <a:ln/>
        </p:spPr>
        <p:txBody>
          <a:bodyPr wrap="square" lIns="0" tIns="0" rIns="0" bIns="0" rtlCol="0" anchor="ctr"/>
          <a:lstStyle/>
          <a:p>
            <a:pPr marL="0" indent="0">
              <a:buNone/>
            </a:pPr>
            <a:r>
              <a:rPr lang="en-US" sz="750" dirty="0">
                <a:solidFill>
                  <a:srgbClr val="1B2E4B"/>
                </a:solidFill>
              </a:rPr>
              <a:t>§ 1 Abs. 1 Nr. 1 </a:t>
            </a:r>
            <a:r>
              <a:rPr lang="en-US" sz="750" dirty="0" err="1">
                <a:solidFill>
                  <a:srgbClr val="1B2E4B"/>
                </a:solidFill>
              </a:rPr>
              <a:t>UStG</a:t>
            </a:r>
            <a:r>
              <a:rPr lang="en-US" sz="750" dirty="0">
                <a:solidFill>
                  <a:srgbClr val="1B2E4B"/>
                </a:solidFill>
              </a:rPr>
              <a:t> - Annual maintenance services (inspections, repairs, technical servicing, preventive maintenance) provided by Strabam AG to German B2B customers for consideration, in the course of business. All taxability elements met. Service is distinct from the original machinery supply and constitutes a separate taxable supply (sonstige Leistung) in its own right.</a:t>
            </a:r>
            <a:endParaRPr lang="en-US" sz="750" dirty="0"/>
          </a:p>
        </p:txBody>
      </p:sp>
      <p:sp>
        <p:nvSpPr>
          <p:cNvPr id="19" name="Shape 17"/>
          <p:cNvSpPr/>
          <p:nvPr/>
        </p:nvSpPr>
        <p:spPr>
          <a:xfrm>
            <a:off x="4599432" y="1185063"/>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0" name="Shape 18"/>
          <p:cNvSpPr/>
          <p:nvPr/>
        </p:nvSpPr>
        <p:spPr>
          <a:xfrm>
            <a:off x="4599432" y="1185063"/>
            <a:ext cx="36576" cy="683971"/>
          </a:xfrm>
          <a:prstGeom prst="rect">
            <a:avLst/>
          </a:prstGeom>
          <a:solidFill>
            <a:srgbClr val="006B6B"/>
          </a:solidFill>
          <a:ln w="12700">
            <a:solidFill>
              <a:srgbClr val="006B6B"/>
            </a:solidFill>
            <a:prstDash val="solid"/>
          </a:ln>
        </p:spPr>
        <p:txBody>
          <a:bodyPr/>
          <a:lstStyle/>
          <a:p>
            <a:endParaRPr lang="en-DE"/>
          </a:p>
        </p:txBody>
      </p:sp>
      <p:sp>
        <p:nvSpPr>
          <p:cNvPr id="21" name="Text 19"/>
          <p:cNvSpPr/>
          <p:nvPr/>
        </p:nvSpPr>
        <p:spPr>
          <a:xfrm>
            <a:off x="4690872" y="1198779"/>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PLACE OF SUPPLY</a:t>
            </a:r>
            <a:endParaRPr lang="en-US" sz="650" dirty="0"/>
          </a:p>
        </p:txBody>
      </p:sp>
      <p:sp>
        <p:nvSpPr>
          <p:cNvPr id="22" name="Text 20"/>
          <p:cNvSpPr/>
          <p:nvPr/>
        </p:nvSpPr>
        <p:spPr>
          <a:xfrm>
            <a:off x="4690872" y="1394460"/>
            <a:ext cx="4023360" cy="402336"/>
          </a:xfrm>
          <a:prstGeom prst="rect">
            <a:avLst/>
          </a:prstGeom>
          <a:noFill/>
          <a:ln/>
        </p:spPr>
        <p:txBody>
          <a:bodyPr wrap="square" lIns="0" tIns="0" rIns="0" bIns="0" rtlCol="0" anchor="ctr"/>
          <a:lstStyle/>
          <a:p>
            <a:pPr marL="0" indent="0">
              <a:buNone/>
            </a:pPr>
            <a:r>
              <a:rPr lang="en-US" sz="750" dirty="0">
                <a:solidFill>
                  <a:srgbClr val="1B2E4B"/>
                </a:solidFill>
              </a:rPr>
              <a:t>§ 3a Abs. 2 UStG in conjunction with Art. 44 EU VAT Directive - For B2B services, the place of supply is where the recipient customer is established (Empfängerortprinzip). All maintenance customers are German businesses → place of supply is Germany. German VAT law applies in full. No reverse-charge, no cross-border complications.</a:t>
            </a:r>
            <a:endParaRPr lang="en-US" sz="750" dirty="0"/>
          </a:p>
        </p:txBody>
      </p:sp>
      <p:sp>
        <p:nvSpPr>
          <p:cNvPr id="23" name="Shape 21"/>
          <p:cNvSpPr/>
          <p:nvPr/>
        </p:nvSpPr>
        <p:spPr>
          <a:xfrm>
            <a:off x="274320" y="1866291"/>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4" name="Shape 22"/>
          <p:cNvSpPr/>
          <p:nvPr/>
        </p:nvSpPr>
        <p:spPr>
          <a:xfrm>
            <a:off x="274320" y="1866291"/>
            <a:ext cx="36576" cy="683971"/>
          </a:xfrm>
          <a:prstGeom prst="rect">
            <a:avLst/>
          </a:prstGeom>
          <a:solidFill>
            <a:srgbClr val="006B6B"/>
          </a:solidFill>
          <a:ln w="12700">
            <a:solidFill>
              <a:srgbClr val="006B6B"/>
            </a:solidFill>
            <a:prstDash val="solid"/>
          </a:ln>
        </p:spPr>
        <p:txBody>
          <a:bodyPr/>
          <a:lstStyle/>
          <a:p>
            <a:endParaRPr lang="en-DE"/>
          </a:p>
        </p:txBody>
      </p:sp>
      <p:sp>
        <p:nvSpPr>
          <p:cNvPr id="25" name="Text 23"/>
          <p:cNvSpPr/>
          <p:nvPr/>
        </p:nvSpPr>
        <p:spPr>
          <a:xfrm>
            <a:off x="365760" y="1857147"/>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TAXABLE AMOUNT</a:t>
            </a:r>
            <a:endParaRPr lang="en-US" sz="650" dirty="0"/>
          </a:p>
        </p:txBody>
      </p:sp>
      <p:sp>
        <p:nvSpPr>
          <p:cNvPr id="26" name="Text 24"/>
          <p:cNvSpPr/>
          <p:nvPr/>
        </p:nvSpPr>
        <p:spPr>
          <a:xfrm>
            <a:off x="365760" y="2060448"/>
            <a:ext cx="4023360" cy="402336"/>
          </a:xfrm>
          <a:prstGeom prst="rect">
            <a:avLst/>
          </a:prstGeom>
          <a:noFill/>
          <a:ln/>
        </p:spPr>
        <p:txBody>
          <a:bodyPr wrap="square" lIns="0" tIns="0" rIns="0" bIns="0" rtlCol="0" anchor="ctr"/>
          <a:lstStyle/>
          <a:p>
            <a:pPr marL="0" indent="0">
              <a:buNone/>
            </a:pPr>
            <a:r>
              <a:rPr lang="en-US" sz="750" dirty="0">
                <a:solidFill>
                  <a:srgbClr val="1B2E4B"/>
                </a:solidFill>
              </a:rPr>
              <a:t>§ 10 Abs. 1 </a:t>
            </a:r>
            <a:r>
              <a:rPr lang="en-US" sz="750" dirty="0" err="1">
                <a:solidFill>
                  <a:srgbClr val="1B2E4B"/>
                </a:solidFill>
              </a:rPr>
              <a:t>UStG</a:t>
            </a:r>
            <a:r>
              <a:rPr lang="en-US" sz="750" dirty="0">
                <a:solidFill>
                  <a:srgbClr val="1B2E4B"/>
                </a:solidFill>
              </a:rPr>
              <a:t> - Total annual maintenance fee per contract: includes inspection fees, repair charges, replacement part costs (Ersatzteilkosten), technical support, preventive servicing and any directly connected ancillary costs billed under the contract. No discounts are granted. Replacement parts may need to be assessed separately if separately invoiced and if they constitute a separate supply of goods.</a:t>
            </a:r>
            <a:endParaRPr lang="en-US" sz="750" dirty="0"/>
          </a:p>
        </p:txBody>
      </p:sp>
      <p:sp>
        <p:nvSpPr>
          <p:cNvPr id="27" name="Shape 25"/>
          <p:cNvSpPr/>
          <p:nvPr/>
        </p:nvSpPr>
        <p:spPr>
          <a:xfrm>
            <a:off x="4599432" y="1889151"/>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8" name="Shape 26"/>
          <p:cNvSpPr/>
          <p:nvPr/>
        </p:nvSpPr>
        <p:spPr>
          <a:xfrm>
            <a:off x="4599432" y="1889151"/>
            <a:ext cx="36576" cy="683971"/>
          </a:xfrm>
          <a:prstGeom prst="rect">
            <a:avLst/>
          </a:prstGeom>
          <a:solidFill>
            <a:srgbClr val="006B6B"/>
          </a:solidFill>
          <a:ln w="12700">
            <a:solidFill>
              <a:srgbClr val="006B6B"/>
            </a:solidFill>
            <a:prstDash val="solid"/>
          </a:ln>
        </p:spPr>
        <p:txBody>
          <a:bodyPr/>
          <a:lstStyle/>
          <a:p>
            <a:endParaRPr lang="en-DE"/>
          </a:p>
        </p:txBody>
      </p:sp>
      <p:sp>
        <p:nvSpPr>
          <p:cNvPr id="29" name="Text 27"/>
          <p:cNvSpPr/>
          <p:nvPr/>
        </p:nvSpPr>
        <p:spPr>
          <a:xfrm>
            <a:off x="4690872" y="1948587"/>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VAT RATE</a:t>
            </a:r>
            <a:endParaRPr lang="en-US" sz="650" dirty="0"/>
          </a:p>
        </p:txBody>
      </p:sp>
      <p:sp>
        <p:nvSpPr>
          <p:cNvPr id="30" name="Text 28"/>
          <p:cNvSpPr/>
          <p:nvPr/>
        </p:nvSpPr>
        <p:spPr>
          <a:xfrm>
            <a:off x="4690872" y="2121408"/>
            <a:ext cx="4023360" cy="402336"/>
          </a:xfrm>
          <a:prstGeom prst="rect">
            <a:avLst/>
          </a:prstGeom>
          <a:noFill/>
          <a:ln/>
        </p:spPr>
        <p:txBody>
          <a:bodyPr wrap="square" lIns="0" tIns="0" rIns="0" bIns="0" rtlCol="0" anchor="ctr"/>
          <a:lstStyle/>
          <a:p>
            <a:pPr marL="0" indent="0">
              <a:buNone/>
            </a:pPr>
            <a:r>
              <a:rPr lang="en-US" sz="750" dirty="0">
                <a:solidFill>
                  <a:srgbClr val="1B2E4B"/>
                </a:solidFill>
              </a:rPr>
              <a:t>19% - Standard rate (Regelsteuersatz) under § 12 Abs. 1 UStG. Maintenance, repair and technical support services for industrial machinery are not included in the reduced-rate categories (ermäßigter Steuersatz) of § 12 Abs. 2 UStG. 19% VAT applies to the full annual maintenance invoice.</a:t>
            </a:r>
            <a:endParaRPr lang="en-US" sz="750" dirty="0"/>
          </a:p>
        </p:txBody>
      </p:sp>
      <p:sp>
        <p:nvSpPr>
          <p:cNvPr id="31" name="Shape 29"/>
          <p:cNvSpPr/>
          <p:nvPr/>
        </p:nvSpPr>
        <p:spPr>
          <a:xfrm>
            <a:off x="274320" y="2585619"/>
            <a:ext cx="4160520" cy="683971"/>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2" name="Shape 30"/>
          <p:cNvSpPr/>
          <p:nvPr/>
        </p:nvSpPr>
        <p:spPr>
          <a:xfrm>
            <a:off x="274320" y="2585619"/>
            <a:ext cx="36576" cy="683971"/>
          </a:xfrm>
          <a:prstGeom prst="rect">
            <a:avLst/>
          </a:prstGeom>
          <a:solidFill>
            <a:srgbClr val="006B6B"/>
          </a:solidFill>
          <a:ln w="12700">
            <a:solidFill>
              <a:srgbClr val="006B6B"/>
            </a:solidFill>
            <a:prstDash val="solid"/>
          </a:ln>
        </p:spPr>
        <p:txBody>
          <a:bodyPr/>
          <a:lstStyle/>
          <a:p>
            <a:endParaRPr lang="en-DE"/>
          </a:p>
        </p:txBody>
      </p:sp>
      <p:sp>
        <p:nvSpPr>
          <p:cNvPr id="33" name="Text 31"/>
          <p:cNvSpPr/>
          <p:nvPr/>
        </p:nvSpPr>
        <p:spPr>
          <a:xfrm>
            <a:off x="365760" y="2561235"/>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TIME OF TAXATION</a:t>
            </a:r>
            <a:endParaRPr lang="en-US" sz="650" dirty="0"/>
          </a:p>
        </p:txBody>
      </p:sp>
      <p:sp>
        <p:nvSpPr>
          <p:cNvPr id="34" name="Text 32"/>
          <p:cNvSpPr/>
          <p:nvPr/>
        </p:nvSpPr>
        <p:spPr>
          <a:xfrm>
            <a:off x="365760" y="2772156"/>
            <a:ext cx="4023360" cy="402336"/>
          </a:xfrm>
          <a:prstGeom prst="rect">
            <a:avLst/>
          </a:prstGeom>
          <a:noFill/>
          <a:ln/>
        </p:spPr>
        <p:txBody>
          <a:bodyPr wrap="square" lIns="0" tIns="0" rIns="0" bIns="0" rtlCol="0" anchor="ctr"/>
          <a:lstStyle/>
          <a:p>
            <a:pPr marL="0" indent="0">
              <a:buNone/>
            </a:pPr>
            <a:r>
              <a:rPr lang="en-US" sz="750" dirty="0">
                <a:solidFill>
                  <a:srgbClr val="1B2E4B"/>
                </a:solidFill>
              </a:rPr>
              <a:t>§ 13 Abs. 1 Nr. 1a </a:t>
            </a:r>
            <a:r>
              <a:rPr lang="en-US" sz="750" dirty="0" err="1">
                <a:solidFill>
                  <a:srgbClr val="1B2E4B"/>
                </a:solidFill>
              </a:rPr>
              <a:t>UStG</a:t>
            </a:r>
            <a:r>
              <a:rPr lang="en-US" sz="750" dirty="0">
                <a:solidFill>
                  <a:srgbClr val="1B2E4B"/>
                </a:solidFill>
              </a:rPr>
              <a:t> - VAT becomes chargeable upon performance of the service. For annual contracts, the service is performed continuously throughout the year; VAT becomes chargeable at the end of the contractual service period (Leistungszeitraum), or upon invoice date if earlier. No advance payments → no earlier VAT point. Risk: if contract year-end differs from VAT reporting period-end, accrual must be assessed.</a:t>
            </a:r>
            <a:endParaRPr lang="en-US" sz="750" dirty="0"/>
          </a:p>
        </p:txBody>
      </p:sp>
      <p:sp>
        <p:nvSpPr>
          <p:cNvPr id="35" name="Shape 33"/>
          <p:cNvSpPr/>
          <p:nvPr/>
        </p:nvSpPr>
        <p:spPr>
          <a:xfrm>
            <a:off x="4599432" y="2609088"/>
            <a:ext cx="4160520" cy="621792"/>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36" name="Shape 34"/>
          <p:cNvSpPr/>
          <p:nvPr/>
        </p:nvSpPr>
        <p:spPr>
          <a:xfrm>
            <a:off x="4599432" y="2609088"/>
            <a:ext cx="36576" cy="621792"/>
          </a:xfrm>
          <a:prstGeom prst="rect">
            <a:avLst/>
          </a:prstGeom>
          <a:solidFill>
            <a:srgbClr val="006B6B"/>
          </a:solidFill>
          <a:ln w="12700">
            <a:solidFill>
              <a:srgbClr val="006B6B"/>
            </a:solidFill>
            <a:prstDash val="solid"/>
          </a:ln>
        </p:spPr>
        <p:txBody>
          <a:bodyPr/>
          <a:lstStyle/>
          <a:p>
            <a:endParaRPr lang="en-DE"/>
          </a:p>
        </p:txBody>
      </p:sp>
      <p:sp>
        <p:nvSpPr>
          <p:cNvPr id="37" name="Text 35"/>
          <p:cNvSpPr/>
          <p:nvPr/>
        </p:nvSpPr>
        <p:spPr>
          <a:xfrm>
            <a:off x="4690872" y="2606955"/>
            <a:ext cx="4023360" cy="181051"/>
          </a:xfrm>
          <a:prstGeom prst="rect">
            <a:avLst/>
          </a:prstGeom>
          <a:noFill/>
          <a:ln/>
        </p:spPr>
        <p:txBody>
          <a:bodyPr wrap="square" lIns="0" tIns="0" rIns="0" bIns="0" rtlCol="0" anchor="ctr"/>
          <a:lstStyle/>
          <a:p>
            <a:pPr marL="0" indent="0">
              <a:buNone/>
            </a:pPr>
            <a:r>
              <a:rPr lang="en-US" sz="650" b="1" kern="0" spc="50" dirty="0">
                <a:solidFill>
                  <a:srgbClr val="006B6B"/>
                </a:solidFill>
              </a:rPr>
              <a:t>PERSON LIABLE FOR VAT</a:t>
            </a:r>
            <a:endParaRPr lang="en-US" sz="650" dirty="0"/>
          </a:p>
        </p:txBody>
      </p:sp>
      <p:sp>
        <p:nvSpPr>
          <p:cNvPr id="38" name="Text 36"/>
          <p:cNvSpPr/>
          <p:nvPr/>
        </p:nvSpPr>
        <p:spPr>
          <a:xfrm>
            <a:off x="4690872" y="2779776"/>
            <a:ext cx="4023360" cy="402336"/>
          </a:xfrm>
          <a:prstGeom prst="rect">
            <a:avLst/>
          </a:prstGeom>
          <a:noFill/>
          <a:ln/>
        </p:spPr>
        <p:txBody>
          <a:bodyPr wrap="square" lIns="0" tIns="0" rIns="0" bIns="0" rtlCol="0" anchor="ctr"/>
          <a:lstStyle/>
          <a:p>
            <a:pPr marL="0" indent="0">
              <a:buNone/>
            </a:pPr>
            <a:r>
              <a:rPr lang="en-US" sz="750" dirty="0">
                <a:solidFill>
                  <a:srgbClr val="1B2E4B"/>
                </a:solidFill>
              </a:rPr>
              <a:t>§ 13a Abs. 1 Nr. 1 </a:t>
            </a:r>
            <a:r>
              <a:rPr lang="en-US" sz="750" dirty="0" err="1">
                <a:solidFill>
                  <a:srgbClr val="1B2E4B"/>
                </a:solidFill>
              </a:rPr>
              <a:t>UStG</a:t>
            </a:r>
            <a:r>
              <a:rPr lang="en-US" sz="750" dirty="0">
                <a:solidFill>
                  <a:srgbClr val="1B2E4B"/>
                </a:solidFill>
              </a:rPr>
              <a:t> - Strabam AG (as service provider / leistender Unternehmer) is liable to charge, collect and remit 19% output VAT. Reverse-charge (§ 13b UStG) does NOT apply - Strabam AG is German-established, customers are German-established; purely domestic B2B service. This analysis may change if Strabam AG ever provides maintenance to non-German EU customers.</a:t>
            </a:r>
            <a:endParaRPr lang="en-US" sz="750" dirty="0"/>
          </a:p>
        </p:txBody>
      </p:sp>
      <p:sp>
        <p:nvSpPr>
          <p:cNvPr id="39" name="Shape 37"/>
          <p:cNvSpPr/>
          <p:nvPr/>
        </p:nvSpPr>
        <p:spPr>
          <a:xfrm>
            <a:off x="274320" y="3294090"/>
            <a:ext cx="4160520" cy="827605"/>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0" name="Shape 38"/>
          <p:cNvSpPr/>
          <p:nvPr/>
        </p:nvSpPr>
        <p:spPr>
          <a:xfrm>
            <a:off x="274320" y="3294090"/>
            <a:ext cx="36576" cy="827605"/>
          </a:xfrm>
          <a:prstGeom prst="rect">
            <a:avLst/>
          </a:prstGeom>
          <a:solidFill>
            <a:srgbClr val="006B6B"/>
          </a:solidFill>
          <a:ln w="12700">
            <a:solidFill>
              <a:srgbClr val="006B6B"/>
            </a:solidFill>
            <a:prstDash val="solid"/>
          </a:ln>
        </p:spPr>
        <p:txBody>
          <a:bodyPr/>
          <a:lstStyle/>
          <a:p>
            <a:endParaRPr lang="en-DE"/>
          </a:p>
        </p:txBody>
      </p:sp>
      <p:sp>
        <p:nvSpPr>
          <p:cNvPr id="41" name="Text 39"/>
          <p:cNvSpPr/>
          <p:nvPr/>
        </p:nvSpPr>
        <p:spPr>
          <a:xfrm>
            <a:off x="365760" y="3309610"/>
            <a:ext cx="4023360" cy="199156"/>
          </a:xfrm>
          <a:prstGeom prst="rect">
            <a:avLst/>
          </a:prstGeom>
          <a:noFill/>
          <a:ln/>
        </p:spPr>
        <p:txBody>
          <a:bodyPr wrap="square" lIns="0" tIns="0" rIns="0" bIns="0" rtlCol="0" anchor="ctr"/>
          <a:lstStyle/>
          <a:p>
            <a:pPr marL="0" indent="0">
              <a:buNone/>
            </a:pPr>
            <a:r>
              <a:rPr lang="en-US" sz="650" b="1" kern="0" spc="50" dirty="0">
                <a:solidFill>
                  <a:srgbClr val="006B6B"/>
                </a:solidFill>
              </a:rPr>
              <a:t>INPUT VAT DEDUCTION</a:t>
            </a:r>
            <a:endParaRPr lang="en-US" sz="650" dirty="0"/>
          </a:p>
        </p:txBody>
      </p:sp>
      <p:sp>
        <p:nvSpPr>
          <p:cNvPr id="42" name="Text 40"/>
          <p:cNvSpPr/>
          <p:nvPr/>
        </p:nvSpPr>
        <p:spPr>
          <a:xfrm>
            <a:off x="365760" y="3471367"/>
            <a:ext cx="4023360" cy="442570"/>
          </a:xfrm>
          <a:prstGeom prst="rect">
            <a:avLst/>
          </a:prstGeom>
          <a:noFill/>
          <a:ln/>
        </p:spPr>
        <p:txBody>
          <a:bodyPr wrap="square" lIns="0" tIns="0" rIns="0" bIns="0" rtlCol="0" anchor="ctr"/>
          <a:lstStyle/>
          <a:p>
            <a:pPr marL="0" indent="0">
              <a:buNone/>
            </a:pPr>
            <a:r>
              <a:rPr lang="en-US" sz="750" dirty="0">
                <a:solidFill>
                  <a:srgbClr val="1B2E4B"/>
                </a:solidFill>
              </a:rPr>
              <a:t>Not applicable from Strabam AG's perspective as service provider - output VAT is charged. Strabam AG retains full right to deduct input VAT on costs of providing maintenance (spare parts purchases, subcontractor costs, tools, vehicles) under § 15 UStG. Customer may deduct input VAT on maintenance invoices under § 15 UStG if used for their taxable activities.</a:t>
            </a:r>
            <a:endParaRPr lang="en-US" sz="750" dirty="0"/>
          </a:p>
        </p:txBody>
      </p:sp>
      <p:sp>
        <p:nvSpPr>
          <p:cNvPr id="43" name="Shape 41"/>
          <p:cNvSpPr/>
          <p:nvPr/>
        </p:nvSpPr>
        <p:spPr>
          <a:xfrm>
            <a:off x="4599432" y="3294090"/>
            <a:ext cx="4160520" cy="827605"/>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44" name="Shape 42"/>
          <p:cNvSpPr/>
          <p:nvPr/>
        </p:nvSpPr>
        <p:spPr>
          <a:xfrm>
            <a:off x="4599432" y="3294090"/>
            <a:ext cx="36576" cy="827605"/>
          </a:xfrm>
          <a:prstGeom prst="rect">
            <a:avLst/>
          </a:prstGeom>
          <a:solidFill>
            <a:srgbClr val="006B6B"/>
          </a:solidFill>
          <a:ln w="12700">
            <a:solidFill>
              <a:srgbClr val="006B6B"/>
            </a:solidFill>
            <a:prstDash val="solid"/>
          </a:ln>
        </p:spPr>
        <p:txBody>
          <a:bodyPr/>
          <a:lstStyle/>
          <a:p>
            <a:endParaRPr lang="en-DE"/>
          </a:p>
        </p:txBody>
      </p:sp>
      <p:sp>
        <p:nvSpPr>
          <p:cNvPr id="45" name="Text 43"/>
          <p:cNvSpPr/>
          <p:nvPr/>
        </p:nvSpPr>
        <p:spPr>
          <a:xfrm>
            <a:off x="4690872" y="3296412"/>
            <a:ext cx="4023360" cy="164592"/>
          </a:xfrm>
          <a:prstGeom prst="rect">
            <a:avLst/>
          </a:prstGeom>
          <a:noFill/>
          <a:ln/>
        </p:spPr>
        <p:txBody>
          <a:bodyPr wrap="square" lIns="0" tIns="0" rIns="0" bIns="0" rtlCol="0" anchor="ctr"/>
          <a:lstStyle/>
          <a:p>
            <a:pPr marL="0" indent="0">
              <a:buNone/>
            </a:pPr>
            <a:r>
              <a:rPr lang="en-US" sz="650" b="1" kern="0" spc="50" dirty="0">
                <a:solidFill>
                  <a:srgbClr val="006B6B"/>
                </a:solidFill>
              </a:rPr>
              <a:t>FILING &amp; COMPLIANCE</a:t>
            </a:r>
            <a:endParaRPr lang="en-US" sz="650" dirty="0"/>
          </a:p>
        </p:txBody>
      </p:sp>
      <p:sp>
        <p:nvSpPr>
          <p:cNvPr id="46" name="Text 44"/>
          <p:cNvSpPr/>
          <p:nvPr/>
        </p:nvSpPr>
        <p:spPr>
          <a:xfrm>
            <a:off x="4690872" y="3539947"/>
            <a:ext cx="4023360" cy="442570"/>
          </a:xfrm>
          <a:prstGeom prst="rect">
            <a:avLst/>
          </a:prstGeom>
          <a:noFill/>
          <a:ln/>
        </p:spPr>
        <p:txBody>
          <a:bodyPr wrap="square" lIns="0" tIns="0" rIns="0" bIns="0" rtlCol="0" anchor="ctr"/>
          <a:lstStyle/>
          <a:p>
            <a:pPr marL="0" indent="0">
              <a:buNone/>
            </a:pPr>
            <a:r>
              <a:rPr lang="en-US" sz="750" dirty="0">
                <a:solidFill>
                  <a:srgbClr val="1B2E4B"/>
                </a:solidFill>
              </a:rPr>
              <a:t>(a) German VAT return (Umsatzsteuer-Voranmeldung / UVA): output VAT from maintenance services reported in the period of performance. (b) Annual VAT return (Umsatzsteuerjahreserklärung): all maintenance revenue reconciled. (c) Invoice compliance (§ 14 UStG): service period (Leistungszeitraum) must be specified on each maintenance invoice. (d) From 2027: structured e-invoice (XRechnung / ZUGFeRD) required for domestic B2B - maintenance invoices are domestic B2B and Strabam AG exceeds the €800K threshold.</a:t>
            </a:r>
            <a:endParaRPr lang="en-US" sz="750" dirty="0"/>
          </a:p>
        </p:txBody>
      </p:sp>
      <p:sp>
        <p:nvSpPr>
          <p:cNvPr id="47" name="Shape 45"/>
          <p:cNvSpPr/>
          <p:nvPr/>
        </p:nvSpPr>
        <p:spPr>
          <a:xfrm>
            <a:off x="274320" y="4180332"/>
            <a:ext cx="8485632" cy="594360"/>
          </a:xfrm>
          <a:prstGeom prst="rect">
            <a:avLst/>
          </a:prstGeom>
          <a:solidFill>
            <a:srgbClr val="E8F4F4"/>
          </a:solidFill>
          <a:ln w="7620">
            <a:solidFill>
              <a:srgbClr val="006B6B"/>
            </a:solidFill>
            <a:prstDash val="solid"/>
          </a:ln>
          <a:effectLst>
            <a:outerShdw blurRad="38100" dist="12700" dir="8100000" algn="bl" rotWithShape="0">
              <a:srgbClr val="000000">
                <a:alpha val="6000"/>
              </a:srgbClr>
            </a:outerShdw>
          </a:effectLst>
        </p:spPr>
        <p:txBody>
          <a:bodyPr/>
          <a:lstStyle/>
          <a:p>
            <a:endParaRPr lang="en-DE"/>
          </a:p>
        </p:txBody>
      </p:sp>
      <p:sp>
        <p:nvSpPr>
          <p:cNvPr id="48" name="Shape 46"/>
          <p:cNvSpPr/>
          <p:nvPr/>
        </p:nvSpPr>
        <p:spPr>
          <a:xfrm>
            <a:off x="274320" y="4180332"/>
            <a:ext cx="36576" cy="594360"/>
          </a:xfrm>
          <a:prstGeom prst="rect">
            <a:avLst/>
          </a:prstGeom>
          <a:solidFill>
            <a:srgbClr val="006B6B"/>
          </a:solidFill>
          <a:ln w="12700">
            <a:solidFill>
              <a:srgbClr val="006B6B"/>
            </a:solidFill>
            <a:prstDash val="solid"/>
          </a:ln>
        </p:spPr>
        <p:txBody>
          <a:bodyPr/>
          <a:lstStyle/>
          <a:p>
            <a:endParaRPr lang="en-DE"/>
          </a:p>
        </p:txBody>
      </p:sp>
      <p:sp>
        <p:nvSpPr>
          <p:cNvPr id="49" name="Text 47"/>
          <p:cNvSpPr/>
          <p:nvPr/>
        </p:nvSpPr>
        <p:spPr>
          <a:xfrm>
            <a:off x="384048" y="4226052"/>
            <a:ext cx="2011680" cy="164592"/>
          </a:xfrm>
          <a:prstGeom prst="rect">
            <a:avLst/>
          </a:prstGeom>
          <a:noFill/>
          <a:ln/>
        </p:spPr>
        <p:txBody>
          <a:bodyPr wrap="square" lIns="0" tIns="0" rIns="0" bIns="0" rtlCol="0" anchor="ctr"/>
          <a:lstStyle/>
          <a:p>
            <a:pPr marL="0" indent="0">
              <a:buNone/>
            </a:pPr>
            <a:r>
              <a:rPr lang="en-US" sz="700" b="1" kern="0" spc="50" dirty="0">
                <a:solidFill>
                  <a:srgbClr val="006B6B"/>
                </a:solidFill>
              </a:rPr>
              <a:t>MANAGEMENT ACTION</a:t>
            </a:r>
            <a:endParaRPr lang="en-US" sz="700" dirty="0"/>
          </a:p>
        </p:txBody>
      </p:sp>
      <p:sp>
        <p:nvSpPr>
          <p:cNvPr id="50" name="Text 48"/>
          <p:cNvSpPr/>
          <p:nvPr/>
        </p:nvSpPr>
        <p:spPr>
          <a:xfrm>
            <a:off x="384048" y="4399788"/>
            <a:ext cx="8321040" cy="329184"/>
          </a:xfrm>
          <a:prstGeom prst="rect">
            <a:avLst/>
          </a:prstGeom>
          <a:noFill/>
          <a:ln/>
        </p:spPr>
        <p:txBody>
          <a:bodyPr wrap="square" lIns="0" tIns="0" rIns="0" bIns="0" rtlCol="0" anchor="ctr"/>
          <a:lstStyle/>
          <a:p>
            <a:pPr marL="0" indent="0">
              <a:buNone/>
            </a:pPr>
            <a:r>
              <a:rPr lang="en-US" sz="780" dirty="0">
                <a:solidFill>
                  <a:srgbClr val="1B2E4B"/>
                </a:solidFill>
              </a:rPr>
              <a:t>Specify the Leistungszeitraum (service period) explicitly on every maintenance invoice - mandatory under § 14 Abs. 4 Nr. 6 UStG and required for customer's Vorsteuer deduction. Implement recurring invoice automation for annual contracts to ensure consistent and timely VAT reporting. Prepare maintenance invoice templates for XRechnung / ZUGFeRD format ahead of the mandatory 01.01.2027 e-invoicing obligation.</a:t>
            </a:r>
            <a:endParaRPr lang="en-US" sz="7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2C4A6E"/>
          </a:solidFill>
          <a:ln w="12700">
            <a:solidFill>
              <a:srgbClr val="2C4A6E"/>
            </a:solidFill>
            <a:prstDash val="solid"/>
          </a:ln>
        </p:spPr>
        <p:txBody>
          <a:bodyPr/>
          <a:lstStyle/>
          <a:p>
            <a:endParaRPr lang="en-DE"/>
          </a:p>
        </p:txBody>
      </p:sp>
      <p:sp>
        <p:nvSpPr>
          <p:cNvPr id="3" name="Shape 1"/>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4" name="Text 2"/>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5" name="Text 3"/>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TRANSACTION ANALYSIS</a:t>
            </a:r>
            <a:endParaRPr lang="en-US" sz="7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14 / 23</a:t>
            </a:r>
            <a:endParaRPr lang="en-US" sz="700" dirty="0"/>
          </a:p>
        </p:txBody>
      </p:sp>
      <p:sp>
        <p:nvSpPr>
          <p:cNvPr id="7" name="Text 5"/>
          <p:cNvSpPr/>
          <p:nvPr/>
        </p:nvSpPr>
        <p:spPr>
          <a:xfrm>
            <a:off x="411480" y="137160"/>
            <a:ext cx="6400800" cy="201168"/>
          </a:xfrm>
          <a:prstGeom prst="rect">
            <a:avLst/>
          </a:prstGeom>
          <a:noFill/>
          <a:ln/>
        </p:spPr>
        <p:txBody>
          <a:bodyPr wrap="square" lIns="0" tIns="0" rIns="0" bIns="0" rtlCol="0" anchor="ctr"/>
          <a:lstStyle/>
          <a:p>
            <a:r>
              <a:rPr lang="en-US" sz="800" b="1" kern="0" spc="200" dirty="0">
                <a:solidFill>
                  <a:srgbClr val="006B6B"/>
                </a:solidFill>
              </a:rPr>
              <a:t>03 | TRANSACTION ANALYSIS</a:t>
            </a:r>
            <a:endParaRPr lang="en-US" sz="800" dirty="0"/>
          </a:p>
        </p:txBody>
      </p:sp>
      <p:sp>
        <p:nvSpPr>
          <p:cNvPr id="8" name="Text 6"/>
          <p:cNvSpPr/>
          <p:nvPr/>
        </p:nvSpPr>
        <p:spPr>
          <a:xfrm>
            <a:off x="411480" y="338328"/>
            <a:ext cx="8046720" cy="530352"/>
          </a:xfrm>
          <a:prstGeom prst="rect">
            <a:avLst/>
          </a:prstGeom>
          <a:noFill/>
          <a:ln/>
        </p:spPr>
        <p:txBody>
          <a:bodyPr wrap="square" lIns="0" tIns="0" rIns="0" bIns="0" rtlCol="0" anchor="ctr"/>
          <a:lstStyle/>
          <a:p>
            <a:pPr marL="0" indent="0">
              <a:buNone/>
            </a:pPr>
            <a:r>
              <a:rPr lang="en-US" sz="2100" b="1" dirty="0">
                <a:solidFill>
                  <a:srgbClr val="0A1628"/>
                </a:solidFill>
              </a:rPr>
              <a:t>Reverse-Charge Radar - § 13b UStG Applicability</a:t>
            </a:r>
            <a:endParaRPr lang="en-US" sz="2100" dirty="0"/>
          </a:p>
        </p:txBody>
      </p:sp>
      <p:sp>
        <p:nvSpPr>
          <p:cNvPr id="9" name="Text 7"/>
          <p:cNvSpPr/>
          <p:nvPr/>
        </p:nvSpPr>
        <p:spPr>
          <a:xfrm>
            <a:off x="411480" y="877824"/>
            <a:ext cx="8046720" cy="219456"/>
          </a:xfrm>
          <a:prstGeom prst="rect">
            <a:avLst/>
          </a:prstGeom>
          <a:noFill/>
          <a:ln/>
        </p:spPr>
        <p:txBody>
          <a:bodyPr wrap="square" lIns="0" tIns="0" rIns="0" bIns="0" rtlCol="0" anchor="ctr"/>
          <a:lstStyle/>
          <a:p>
            <a:pPr marL="0" indent="0">
              <a:buNone/>
            </a:pPr>
            <a:r>
              <a:rPr lang="en-US" sz="950" i="1" dirty="0">
                <a:solidFill>
                  <a:srgbClr val="64748B"/>
                </a:solidFill>
              </a:rPr>
              <a:t>Assessment of whether the Reverse-Charge Procedure (Steuerschuldnerschaft des Leistungsempfängers) applies across all Strabam AG transactions</a:t>
            </a:r>
            <a:endParaRPr lang="en-US" sz="950" dirty="0"/>
          </a:p>
        </p:txBody>
      </p:sp>
      <p:sp>
        <p:nvSpPr>
          <p:cNvPr id="10" name="Shape 8"/>
          <p:cNvSpPr/>
          <p:nvPr/>
        </p:nvSpPr>
        <p:spPr>
          <a:xfrm>
            <a:off x="411480" y="1133856"/>
            <a:ext cx="8503920" cy="0"/>
          </a:xfrm>
          <a:prstGeom prst="line">
            <a:avLst/>
          </a:prstGeom>
          <a:noFill/>
          <a:ln w="6350">
            <a:solidFill>
              <a:srgbClr val="CBD5E1"/>
            </a:solidFill>
            <a:prstDash val="solid"/>
          </a:ln>
        </p:spPr>
        <p:txBody>
          <a:bodyPr/>
          <a:lstStyle/>
          <a:p>
            <a:endParaRPr lang="en-DE"/>
          </a:p>
        </p:txBody>
      </p:sp>
      <p:sp>
        <p:nvSpPr>
          <p:cNvPr id="11" name="Shape 9"/>
          <p:cNvSpPr/>
          <p:nvPr/>
        </p:nvSpPr>
        <p:spPr>
          <a:xfrm>
            <a:off x="320040" y="1188720"/>
            <a:ext cx="8595360" cy="329184"/>
          </a:xfrm>
          <a:prstGeom prst="rect">
            <a:avLst/>
          </a:prstGeom>
          <a:solidFill>
            <a:srgbClr val="0A1628"/>
          </a:solidFill>
          <a:ln w="12700">
            <a:solidFill>
              <a:srgbClr val="0A1628"/>
            </a:solidFill>
            <a:prstDash val="solid"/>
          </a:ln>
        </p:spPr>
        <p:txBody>
          <a:bodyPr/>
          <a:lstStyle/>
          <a:p>
            <a:endParaRPr lang="en-DE"/>
          </a:p>
        </p:txBody>
      </p:sp>
      <p:sp>
        <p:nvSpPr>
          <p:cNvPr id="12" name="Text 10"/>
          <p:cNvSpPr/>
          <p:nvPr/>
        </p:nvSpPr>
        <p:spPr>
          <a:xfrm>
            <a:off x="411480" y="1243584"/>
            <a:ext cx="2560320" cy="219456"/>
          </a:xfrm>
          <a:prstGeom prst="rect">
            <a:avLst/>
          </a:prstGeom>
          <a:noFill/>
          <a:ln/>
        </p:spPr>
        <p:txBody>
          <a:bodyPr wrap="square" lIns="0" tIns="0" rIns="0" bIns="0" rtlCol="0" anchor="ctr"/>
          <a:lstStyle/>
          <a:p>
            <a:pPr marL="0" indent="0">
              <a:buNone/>
            </a:pPr>
            <a:r>
              <a:rPr lang="en-US" sz="850" b="1" dirty="0">
                <a:solidFill>
                  <a:srgbClr val="FFFFFF"/>
                </a:solidFill>
              </a:rPr>
              <a:t>Transaction</a:t>
            </a:r>
            <a:endParaRPr lang="en-US" sz="850" dirty="0"/>
          </a:p>
        </p:txBody>
      </p:sp>
      <p:sp>
        <p:nvSpPr>
          <p:cNvPr id="13" name="Text 11"/>
          <p:cNvSpPr/>
          <p:nvPr/>
        </p:nvSpPr>
        <p:spPr>
          <a:xfrm>
            <a:off x="3063240" y="1243584"/>
            <a:ext cx="1143000" cy="219456"/>
          </a:xfrm>
          <a:prstGeom prst="rect">
            <a:avLst/>
          </a:prstGeom>
          <a:noFill/>
          <a:ln/>
        </p:spPr>
        <p:txBody>
          <a:bodyPr wrap="square" lIns="0" tIns="0" rIns="0" bIns="0" rtlCol="0" anchor="ctr"/>
          <a:lstStyle/>
          <a:p>
            <a:pPr marL="0" indent="0">
              <a:buNone/>
            </a:pPr>
            <a:r>
              <a:rPr lang="en-US" sz="850" b="1" dirty="0">
                <a:solidFill>
                  <a:srgbClr val="FFFFFF"/>
                </a:solidFill>
              </a:rPr>
              <a:t>§ 13b Applies?</a:t>
            </a:r>
            <a:endParaRPr lang="en-US" sz="850" dirty="0"/>
          </a:p>
        </p:txBody>
      </p:sp>
      <p:sp>
        <p:nvSpPr>
          <p:cNvPr id="14" name="Text 12"/>
          <p:cNvSpPr/>
          <p:nvPr/>
        </p:nvSpPr>
        <p:spPr>
          <a:xfrm>
            <a:off x="4343400" y="1243584"/>
            <a:ext cx="4572000" cy="219456"/>
          </a:xfrm>
          <a:prstGeom prst="rect">
            <a:avLst/>
          </a:prstGeom>
          <a:noFill/>
          <a:ln/>
        </p:spPr>
        <p:txBody>
          <a:bodyPr wrap="square" lIns="0" tIns="0" rIns="0" bIns="0" rtlCol="0" anchor="ctr"/>
          <a:lstStyle/>
          <a:p>
            <a:pPr marL="0" indent="0">
              <a:buNone/>
            </a:pPr>
            <a:r>
              <a:rPr lang="en-US" sz="850" b="1" dirty="0">
                <a:solidFill>
                  <a:srgbClr val="FFFFFF"/>
                </a:solidFill>
              </a:rPr>
              <a:t>Reasoning / Legal Basis</a:t>
            </a:r>
            <a:endParaRPr lang="en-US" sz="850" dirty="0"/>
          </a:p>
        </p:txBody>
      </p:sp>
      <p:sp>
        <p:nvSpPr>
          <p:cNvPr id="15" name="Shape 13"/>
          <p:cNvSpPr/>
          <p:nvPr/>
        </p:nvSpPr>
        <p:spPr>
          <a:xfrm>
            <a:off x="320040" y="1536192"/>
            <a:ext cx="8595360" cy="320040"/>
          </a:xfrm>
          <a:prstGeom prst="rect">
            <a:avLst/>
          </a:prstGeom>
          <a:solidFill>
            <a:srgbClr val="FFFFFF"/>
          </a:solidFill>
          <a:ln w="3810">
            <a:solidFill>
              <a:srgbClr val="CBD5E1"/>
            </a:solidFill>
            <a:prstDash val="solid"/>
          </a:ln>
        </p:spPr>
        <p:txBody>
          <a:bodyPr/>
          <a:lstStyle/>
          <a:p>
            <a:endParaRPr lang="en-DE"/>
          </a:p>
        </p:txBody>
      </p:sp>
      <p:sp>
        <p:nvSpPr>
          <p:cNvPr id="16" name="Text 14"/>
          <p:cNvSpPr/>
          <p:nvPr/>
        </p:nvSpPr>
        <p:spPr>
          <a:xfrm>
            <a:off x="411480" y="1581912"/>
            <a:ext cx="2560320" cy="237744"/>
          </a:xfrm>
          <a:prstGeom prst="rect">
            <a:avLst/>
          </a:prstGeom>
          <a:noFill/>
          <a:ln/>
        </p:spPr>
        <p:txBody>
          <a:bodyPr wrap="square" lIns="0" tIns="0" rIns="0" bIns="0" rtlCol="0" anchor="ctr"/>
          <a:lstStyle/>
          <a:p>
            <a:pPr marL="0" indent="0">
              <a:buNone/>
            </a:pPr>
            <a:r>
              <a:rPr lang="en-US" sz="800" dirty="0">
                <a:solidFill>
                  <a:srgbClr val="1B2E4B"/>
                </a:solidFill>
              </a:rPr>
              <a:t>T1: Import VAT - China → Germany</a:t>
            </a:r>
            <a:endParaRPr lang="en-US" sz="800" dirty="0"/>
          </a:p>
        </p:txBody>
      </p:sp>
      <p:sp>
        <p:nvSpPr>
          <p:cNvPr id="17" name="Text 15"/>
          <p:cNvSpPr/>
          <p:nvPr/>
        </p:nvSpPr>
        <p:spPr>
          <a:xfrm>
            <a:off x="3090672" y="1591056"/>
            <a:ext cx="1097280" cy="219456"/>
          </a:xfrm>
          <a:prstGeom prst="rect">
            <a:avLst/>
          </a:prstGeom>
          <a:noFill/>
          <a:ln/>
        </p:spPr>
        <p:txBody>
          <a:bodyPr wrap="square" lIns="0" tIns="0" rIns="0" bIns="0" rtlCol="0" anchor="ctr"/>
          <a:lstStyle/>
          <a:p>
            <a:pPr marL="0" indent="0" algn="ctr">
              <a:buNone/>
            </a:pPr>
            <a:r>
              <a:rPr lang="en-US" sz="850" b="1" dirty="0">
                <a:solidFill>
                  <a:srgbClr val="15803D"/>
                </a:solidFill>
              </a:rPr>
              <a:t>NO</a:t>
            </a:r>
            <a:endParaRPr lang="en-US" sz="850" dirty="0"/>
          </a:p>
        </p:txBody>
      </p:sp>
      <p:sp>
        <p:nvSpPr>
          <p:cNvPr id="18" name="Text 16"/>
          <p:cNvSpPr/>
          <p:nvPr/>
        </p:nvSpPr>
        <p:spPr>
          <a:xfrm>
            <a:off x="4315968" y="1581912"/>
            <a:ext cx="4526280" cy="237744"/>
          </a:xfrm>
          <a:prstGeom prst="rect">
            <a:avLst/>
          </a:prstGeom>
          <a:noFill/>
          <a:ln/>
        </p:spPr>
        <p:txBody>
          <a:bodyPr wrap="square" lIns="0" tIns="0" rIns="0" bIns="0" rtlCol="0" anchor="ctr"/>
          <a:lstStyle/>
          <a:p>
            <a:pPr marL="0" indent="0">
              <a:buNone/>
            </a:pPr>
            <a:r>
              <a:rPr lang="en-US" sz="780" dirty="0">
                <a:solidFill>
                  <a:srgbClr val="64748B"/>
                </a:solidFill>
              </a:rPr>
              <a:t>Import VAT (Einfuhrumsatzsteuer) is a separate regime governed by § 21 UStG and the Union Customs Code (UZK), not § 13b.</a:t>
            </a:r>
            <a:endParaRPr lang="en-US" sz="780" dirty="0"/>
          </a:p>
        </p:txBody>
      </p:sp>
      <p:sp>
        <p:nvSpPr>
          <p:cNvPr id="19" name="Shape 17"/>
          <p:cNvSpPr/>
          <p:nvPr/>
        </p:nvSpPr>
        <p:spPr>
          <a:xfrm>
            <a:off x="320040" y="1874520"/>
            <a:ext cx="8595360" cy="320040"/>
          </a:xfrm>
          <a:prstGeom prst="rect">
            <a:avLst/>
          </a:prstGeom>
          <a:solidFill>
            <a:srgbClr val="F7F9FC"/>
          </a:solidFill>
          <a:ln w="3810">
            <a:solidFill>
              <a:srgbClr val="CBD5E1"/>
            </a:solidFill>
            <a:prstDash val="solid"/>
          </a:ln>
        </p:spPr>
        <p:txBody>
          <a:bodyPr/>
          <a:lstStyle/>
          <a:p>
            <a:endParaRPr lang="en-DE"/>
          </a:p>
        </p:txBody>
      </p:sp>
      <p:sp>
        <p:nvSpPr>
          <p:cNvPr id="20" name="Text 18"/>
          <p:cNvSpPr/>
          <p:nvPr/>
        </p:nvSpPr>
        <p:spPr>
          <a:xfrm>
            <a:off x="411480" y="1920240"/>
            <a:ext cx="2560320" cy="237744"/>
          </a:xfrm>
          <a:prstGeom prst="rect">
            <a:avLst/>
          </a:prstGeom>
          <a:noFill/>
          <a:ln/>
        </p:spPr>
        <p:txBody>
          <a:bodyPr wrap="square" lIns="0" tIns="0" rIns="0" bIns="0" rtlCol="0" anchor="ctr"/>
          <a:lstStyle/>
          <a:p>
            <a:pPr marL="0" indent="0">
              <a:buNone/>
            </a:pPr>
            <a:r>
              <a:rPr lang="en-US" sz="800" dirty="0">
                <a:solidFill>
                  <a:srgbClr val="1B2E4B"/>
                </a:solidFill>
              </a:rPr>
              <a:t>T2: ICS - Germany → Spain (DE→ESP)</a:t>
            </a:r>
            <a:endParaRPr lang="en-US" sz="800" dirty="0"/>
          </a:p>
        </p:txBody>
      </p:sp>
      <p:sp>
        <p:nvSpPr>
          <p:cNvPr id="21" name="Text 19"/>
          <p:cNvSpPr/>
          <p:nvPr/>
        </p:nvSpPr>
        <p:spPr>
          <a:xfrm>
            <a:off x="3090672" y="1929384"/>
            <a:ext cx="1097280" cy="219456"/>
          </a:xfrm>
          <a:prstGeom prst="rect">
            <a:avLst/>
          </a:prstGeom>
          <a:noFill/>
          <a:ln/>
        </p:spPr>
        <p:txBody>
          <a:bodyPr wrap="square" lIns="0" tIns="0" rIns="0" bIns="0" rtlCol="0" anchor="ctr"/>
          <a:lstStyle/>
          <a:p>
            <a:pPr marL="0" indent="0" algn="ctr">
              <a:buNone/>
            </a:pPr>
            <a:r>
              <a:rPr lang="en-US" sz="850" b="1" dirty="0">
                <a:solidFill>
                  <a:srgbClr val="15803D"/>
                </a:solidFill>
              </a:rPr>
              <a:t>NO</a:t>
            </a:r>
            <a:endParaRPr lang="en-US" sz="850" dirty="0"/>
          </a:p>
        </p:txBody>
      </p:sp>
      <p:sp>
        <p:nvSpPr>
          <p:cNvPr id="22" name="Text 20"/>
          <p:cNvSpPr/>
          <p:nvPr/>
        </p:nvSpPr>
        <p:spPr>
          <a:xfrm>
            <a:off x="4315968" y="1920240"/>
            <a:ext cx="4526280" cy="237744"/>
          </a:xfrm>
          <a:prstGeom prst="rect">
            <a:avLst/>
          </a:prstGeom>
          <a:noFill/>
          <a:ln/>
        </p:spPr>
        <p:txBody>
          <a:bodyPr wrap="square" lIns="0" tIns="0" rIns="0" bIns="0" rtlCol="0" anchor="ctr"/>
          <a:lstStyle/>
          <a:p>
            <a:pPr marL="0" indent="0">
              <a:buNone/>
            </a:pPr>
            <a:r>
              <a:rPr lang="en-US" sz="780" dirty="0">
                <a:solidFill>
                  <a:srgbClr val="64748B"/>
                </a:solidFill>
              </a:rPr>
              <a:t>Intra-Community Supply (Innergemeinschaftliche Lieferung) is governed by § 6a UStG. § 13b applies at destination (Spanish subsidiary self-assesses IGE).</a:t>
            </a:r>
            <a:endParaRPr lang="en-US" sz="780" dirty="0"/>
          </a:p>
        </p:txBody>
      </p:sp>
      <p:sp>
        <p:nvSpPr>
          <p:cNvPr id="23" name="Shape 21"/>
          <p:cNvSpPr/>
          <p:nvPr/>
        </p:nvSpPr>
        <p:spPr>
          <a:xfrm>
            <a:off x="320040" y="2212848"/>
            <a:ext cx="8595360" cy="320040"/>
          </a:xfrm>
          <a:prstGeom prst="rect">
            <a:avLst/>
          </a:prstGeom>
          <a:solidFill>
            <a:srgbClr val="FFFFFF"/>
          </a:solidFill>
          <a:ln w="3810">
            <a:solidFill>
              <a:srgbClr val="CBD5E1"/>
            </a:solidFill>
            <a:prstDash val="solid"/>
          </a:ln>
        </p:spPr>
        <p:txBody>
          <a:bodyPr/>
          <a:lstStyle/>
          <a:p>
            <a:endParaRPr lang="en-DE"/>
          </a:p>
        </p:txBody>
      </p:sp>
      <p:sp>
        <p:nvSpPr>
          <p:cNvPr id="24" name="Text 22"/>
          <p:cNvSpPr/>
          <p:nvPr/>
        </p:nvSpPr>
        <p:spPr>
          <a:xfrm>
            <a:off x="411480" y="2258568"/>
            <a:ext cx="2560320" cy="237744"/>
          </a:xfrm>
          <a:prstGeom prst="rect">
            <a:avLst/>
          </a:prstGeom>
          <a:noFill/>
          <a:ln/>
        </p:spPr>
        <p:txBody>
          <a:bodyPr wrap="square" lIns="0" tIns="0" rIns="0" bIns="0" rtlCol="0" anchor="ctr"/>
          <a:lstStyle/>
          <a:p>
            <a:pPr marL="0" indent="0">
              <a:buNone/>
            </a:pPr>
            <a:r>
              <a:rPr lang="en-US" sz="800" dirty="0">
                <a:solidFill>
                  <a:srgbClr val="1B2E4B"/>
                </a:solidFill>
              </a:rPr>
              <a:t>T3: Direct Import - China → Spain</a:t>
            </a:r>
            <a:endParaRPr lang="en-US" sz="800" dirty="0"/>
          </a:p>
        </p:txBody>
      </p:sp>
      <p:sp>
        <p:nvSpPr>
          <p:cNvPr id="25" name="Text 23"/>
          <p:cNvSpPr/>
          <p:nvPr/>
        </p:nvSpPr>
        <p:spPr>
          <a:xfrm>
            <a:off x="3090672" y="2267712"/>
            <a:ext cx="1097280" cy="219456"/>
          </a:xfrm>
          <a:prstGeom prst="rect">
            <a:avLst/>
          </a:prstGeom>
          <a:noFill/>
          <a:ln/>
        </p:spPr>
        <p:txBody>
          <a:bodyPr wrap="square" lIns="0" tIns="0" rIns="0" bIns="0" rtlCol="0" anchor="ctr"/>
          <a:lstStyle/>
          <a:p>
            <a:pPr marL="0" indent="0" algn="ctr">
              <a:buNone/>
            </a:pPr>
            <a:r>
              <a:rPr lang="en-US" sz="850" b="1" dirty="0">
                <a:solidFill>
                  <a:srgbClr val="D97706"/>
                </a:solidFill>
              </a:rPr>
              <a:t>N/A</a:t>
            </a:r>
            <a:endParaRPr lang="en-US" sz="850" dirty="0"/>
          </a:p>
        </p:txBody>
      </p:sp>
      <p:sp>
        <p:nvSpPr>
          <p:cNvPr id="26" name="Text 24"/>
          <p:cNvSpPr/>
          <p:nvPr/>
        </p:nvSpPr>
        <p:spPr>
          <a:xfrm>
            <a:off x="4315968" y="2258568"/>
            <a:ext cx="4526280" cy="237744"/>
          </a:xfrm>
          <a:prstGeom prst="rect">
            <a:avLst/>
          </a:prstGeom>
          <a:noFill/>
          <a:ln/>
        </p:spPr>
        <p:txBody>
          <a:bodyPr wrap="square" lIns="0" tIns="0" rIns="0" bIns="0" rtlCol="0" anchor="ctr"/>
          <a:lstStyle/>
          <a:p>
            <a:pPr marL="0" indent="0">
              <a:buNone/>
            </a:pPr>
            <a:r>
              <a:rPr lang="en-US" sz="780" dirty="0">
                <a:solidFill>
                  <a:srgbClr val="64748B"/>
                </a:solidFill>
              </a:rPr>
              <a:t>Spanish VAT law governs. No German § 13b obligation. Spanish reverse-charge rules may apply within Spain for certain services.</a:t>
            </a:r>
            <a:endParaRPr lang="en-US" sz="780" dirty="0"/>
          </a:p>
        </p:txBody>
      </p:sp>
      <p:sp>
        <p:nvSpPr>
          <p:cNvPr id="27" name="Shape 25"/>
          <p:cNvSpPr/>
          <p:nvPr/>
        </p:nvSpPr>
        <p:spPr>
          <a:xfrm>
            <a:off x="320040" y="2551176"/>
            <a:ext cx="8595360" cy="320040"/>
          </a:xfrm>
          <a:prstGeom prst="rect">
            <a:avLst/>
          </a:prstGeom>
          <a:solidFill>
            <a:srgbClr val="F7F9FC"/>
          </a:solidFill>
          <a:ln w="3810">
            <a:solidFill>
              <a:srgbClr val="CBD5E1"/>
            </a:solidFill>
            <a:prstDash val="solid"/>
          </a:ln>
        </p:spPr>
        <p:txBody>
          <a:bodyPr/>
          <a:lstStyle/>
          <a:p>
            <a:endParaRPr lang="en-DE"/>
          </a:p>
        </p:txBody>
      </p:sp>
      <p:sp>
        <p:nvSpPr>
          <p:cNvPr id="28" name="Text 26"/>
          <p:cNvSpPr/>
          <p:nvPr/>
        </p:nvSpPr>
        <p:spPr>
          <a:xfrm>
            <a:off x="411480" y="2596896"/>
            <a:ext cx="2560320" cy="237744"/>
          </a:xfrm>
          <a:prstGeom prst="rect">
            <a:avLst/>
          </a:prstGeom>
          <a:noFill/>
          <a:ln/>
        </p:spPr>
        <p:txBody>
          <a:bodyPr wrap="square" lIns="0" tIns="0" rIns="0" bIns="0" rtlCol="0" anchor="ctr"/>
          <a:lstStyle/>
          <a:p>
            <a:pPr marL="0" indent="0">
              <a:buNone/>
            </a:pPr>
            <a:r>
              <a:rPr lang="en-US" sz="800" dirty="0">
                <a:solidFill>
                  <a:srgbClr val="1B2E4B"/>
                </a:solidFill>
              </a:rPr>
              <a:t>T4: ICS - Spain → Germany (ESP→DE)</a:t>
            </a:r>
            <a:endParaRPr lang="en-US" sz="800" dirty="0"/>
          </a:p>
        </p:txBody>
      </p:sp>
      <p:sp>
        <p:nvSpPr>
          <p:cNvPr id="29" name="Text 27"/>
          <p:cNvSpPr/>
          <p:nvPr/>
        </p:nvSpPr>
        <p:spPr>
          <a:xfrm>
            <a:off x="3090672" y="2606040"/>
            <a:ext cx="1097280" cy="219456"/>
          </a:xfrm>
          <a:prstGeom prst="rect">
            <a:avLst/>
          </a:prstGeom>
          <a:noFill/>
          <a:ln/>
        </p:spPr>
        <p:txBody>
          <a:bodyPr wrap="square" lIns="0" tIns="0" rIns="0" bIns="0" rtlCol="0" anchor="ctr"/>
          <a:lstStyle/>
          <a:p>
            <a:pPr marL="0" indent="0" algn="ctr">
              <a:buNone/>
            </a:pPr>
            <a:r>
              <a:rPr lang="en-US" sz="850" b="1" dirty="0">
                <a:solidFill>
                  <a:srgbClr val="15803D"/>
                </a:solidFill>
              </a:rPr>
              <a:t>NO</a:t>
            </a:r>
            <a:endParaRPr lang="en-US" sz="850" dirty="0"/>
          </a:p>
        </p:txBody>
      </p:sp>
      <p:sp>
        <p:nvSpPr>
          <p:cNvPr id="30" name="Text 28"/>
          <p:cNvSpPr/>
          <p:nvPr/>
        </p:nvSpPr>
        <p:spPr>
          <a:xfrm>
            <a:off x="4315968" y="2596896"/>
            <a:ext cx="4526280" cy="237744"/>
          </a:xfrm>
          <a:prstGeom prst="rect">
            <a:avLst/>
          </a:prstGeom>
          <a:noFill/>
          <a:ln/>
        </p:spPr>
        <p:txBody>
          <a:bodyPr wrap="square" lIns="0" tIns="0" rIns="0" bIns="0" rtlCol="0" anchor="ctr"/>
          <a:lstStyle/>
          <a:p>
            <a:pPr marL="0" indent="0">
              <a:buNone/>
            </a:pPr>
            <a:r>
              <a:rPr lang="en-US" sz="780" dirty="0">
                <a:solidFill>
                  <a:srgbClr val="64748B"/>
                </a:solidFill>
              </a:rPr>
              <a:t>Intra-Community Acquisition (IGE) governed by § 1a UStG. Strabam AG self-assesses IGE VAT - this is IGE, not § 13b reverse-charge.</a:t>
            </a:r>
            <a:endParaRPr lang="en-US" sz="780" dirty="0"/>
          </a:p>
        </p:txBody>
      </p:sp>
      <p:sp>
        <p:nvSpPr>
          <p:cNvPr id="31" name="Shape 29"/>
          <p:cNvSpPr/>
          <p:nvPr/>
        </p:nvSpPr>
        <p:spPr>
          <a:xfrm>
            <a:off x="320040" y="2889504"/>
            <a:ext cx="8595360" cy="201168"/>
          </a:xfrm>
          <a:prstGeom prst="rect">
            <a:avLst/>
          </a:prstGeom>
          <a:solidFill>
            <a:srgbClr val="FFFFFF"/>
          </a:solidFill>
          <a:ln w="3810">
            <a:solidFill>
              <a:srgbClr val="CBD5E1"/>
            </a:solidFill>
            <a:prstDash val="solid"/>
          </a:ln>
        </p:spPr>
        <p:txBody>
          <a:bodyPr/>
          <a:lstStyle/>
          <a:p>
            <a:endParaRPr lang="en-DE"/>
          </a:p>
        </p:txBody>
      </p:sp>
      <p:sp>
        <p:nvSpPr>
          <p:cNvPr id="32" name="Text 30"/>
          <p:cNvSpPr/>
          <p:nvPr/>
        </p:nvSpPr>
        <p:spPr>
          <a:xfrm>
            <a:off x="411480" y="2866644"/>
            <a:ext cx="2560320" cy="237744"/>
          </a:xfrm>
          <a:prstGeom prst="rect">
            <a:avLst/>
          </a:prstGeom>
          <a:noFill/>
          <a:ln/>
        </p:spPr>
        <p:txBody>
          <a:bodyPr wrap="square" lIns="0" tIns="0" rIns="0" bIns="0" rtlCol="0" anchor="ctr"/>
          <a:lstStyle/>
          <a:p>
            <a:pPr marL="0" indent="0">
              <a:buNone/>
            </a:pPr>
            <a:r>
              <a:rPr lang="en-US" sz="800" dirty="0">
                <a:solidFill>
                  <a:srgbClr val="1B2E4B"/>
                </a:solidFill>
              </a:rPr>
              <a:t>T5: Domestic Sales - Large Machines</a:t>
            </a:r>
            <a:endParaRPr lang="en-US" sz="800" dirty="0"/>
          </a:p>
        </p:txBody>
      </p:sp>
      <p:sp>
        <p:nvSpPr>
          <p:cNvPr id="33" name="Text 31"/>
          <p:cNvSpPr/>
          <p:nvPr/>
        </p:nvSpPr>
        <p:spPr>
          <a:xfrm>
            <a:off x="3090672" y="2875788"/>
            <a:ext cx="1097280" cy="219456"/>
          </a:xfrm>
          <a:prstGeom prst="rect">
            <a:avLst/>
          </a:prstGeom>
          <a:noFill/>
          <a:ln/>
        </p:spPr>
        <p:txBody>
          <a:bodyPr wrap="square" lIns="0" tIns="0" rIns="0" bIns="0" rtlCol="0" anchor="ctr"/>
          <a:lstStyle/>
          <a:p>
            <a:pPr marL="0" indent="0" algn="ctr">
              <a:buNone/>
            </a:pPr>
            <a:r>
              <a:rPr lang="en-US" sz="850" b="1" dirty="0">
                <a:solidFill>
                  <a:srgbClr val="15803D"/>
                </a:solidFill>
              </a:rPr>
              <a:t>NO</a:t>
            </a:r>
            <a:endParaRPr lang="en-US" sz="850" dirty="0"/>
          </a:p>
        </p:txBody>
      </p:sp>
      <p:sp>
        <p:nvSpPr>
          <p:cNvPr id="34" name="Text 32"/>
          <p:cNvSpPr/>
          <p:nvPr/>
        </p:nvSpPr>
        <p:spPr>
          <a:xfrm>
            <a:off x="4315968" y="2866644"/>
            <a:ext cx="4526280" cy="237744"/>
          </a:xfrm>
          <a:prstGeom prst="rect">
            <a:avLst/>
          </a:prstGeom>
          <a:noFill/>
          <a:ln/>
        </p:spPr>
        <p:txBody>
          <a:bodyPr wrap="square" lIns="0" tIns="0" rIns="0" bIns="0" rtlCol="0" anchor="ctr"/>
          <a:lstStyle/>
          <a:p>
            <a:pPr marL="0" indent="0">
              <a:buNone/>
            </a:pPr>
            <a:r>
              <a:rPr lang="en-US" sz="780" dirty="0">
                <a:solidFill>
                  <a:srgbClr val="64748B"/>
                </a:solidFill>
              </a:rPr>
              <a:t>Domestic B2B supply by German-established supplier (Strabam AG) to German customers. § 13b does not apply.</a:t>
            </a:r>
            <a:endParaRPr lang="en-US" sz="780" dirty="0"/>
          </a:p>
        </p:txBody>
      </p:sp>
      <p:sp>
        <p:nvSpPr>
          <p:cNvPr id="35" name="Shape 33"/>
          <p:cNvSpPr/>
          <p:nvPr/>
        </p:nvSpPr>
        <p:spPr>
          <a:xfrm>
            <a:off x="320040" y="3105912"/>
            <a:ext cx="8595360" cy="201168"/>
          </a:xfrm>
          <a:prstGeom prst="rect">
            <a:avLst/>
          </a:prstGeom>
          <a:solidFill>
            <a:srgbClr val="F7F9FC"/>
          </a:solidFill>
          <a:ln w="3810">
            <a:solidFill>
              <a:srgbClr val="CBD5E1"/>
            </a:solidFill>
            <a:prstDash val="solid"/>
          </a:ln>
        </p:spPr>
        <p:txBody>
          <a:bodyPr/>
          <a:lstStyle/>
          <a:p>
            <a:endParaRPr lang="en-DE"/>
          </a:p>
        </p:txBody>
      </p:sp>
      <p:sp>
        <p:nvSpPr>
          <p:cNvPr id="36" name="Text 34"/>
          <p:cNvSpPr/>
          <p:nvPr/>
        </p:nvSpPr>
        <p:spPr>
          <a:xfrm>
            <a:off x="411480" y="3083052"/>
            <a:ext cx="2560320" cy="237744"/>
          </a:xfrm>
          <a:prstGeom prst="rect">
            <a:avLst/>
          </a:prstGeom>
          <a:noFill/>
          <a:ln/>
        </p:spPr>
        <p:txBody>
          <a:bodyPr wrap="square" lIns="0" tIns="0" rIns="0" bIns="0" rtlCol="0" anchor="ctr"/>
          <a:lstStyle/>
          <a:p>
            <a:pPr marL="0" indent="0">
              <a:buNone/>
            </a:pPr>
            <a:r>
              <a:rPr lang="en-US" sz="800" dirty="0">
                <a:solidFill>
                  <a:srgbClr val="1B2E4B"/>
                </a:solidFill>
              </a:rPr>
              <a:t>T6: PL Small Machines → EU</a:t>
            </a:r>
            <a:endParaRPr lang="en-US" sz="800" dirty="0"/>
          </a:p>
        </p:txBody>
      </p:sp>
      <p:sp>
        <p:nvSpPr>
          <p:cNvPr id="37" name="Text 35"/>
          <p:cNvSpPr/>
          <p:nvPr/>
        </p:nvSpPr>
        <p:spPr>
          <a:xfrm>
            <a:off x="3090672" y="3092196"/>
            <a:ext cx="1097280" cy="219456"/>
          </a:xfrm>
          <a:prstGeom prst="rect">
            <a:avLst/>
          </a:prstGeom>
          <a:noFill/>
          <a:ln/>
        </p:spPr>
        <p:txBody>
          <a:bodyPr wrap="square" lIns="0" tIns="0" rIns="0" bIns="0" rtlCol="0" anchor="ctr"/>
          <a:lstStyle/>
          <a:p>
            <a:pPr marL="0" indent="0" algn="ctr">
              <a:buNone/>
            </a:pPr>
            <a:r>
              <a:rPr lang="en-US" sz="850" b="1" dirty="0">
                <a:solidFill>
                  <a:srgbClr val="D97706"/>
                </a:solidFill>
              </a:rPr>
              <a:t>N/A</a:t>
            </a:r>
            <a:endParaRPr lang="en-US" sz="850" dirty="0"/>
          </a:p>
        </p:txBody>
      </p:sp>
      <p:sp>
        <p:nvSpPr>
          <p:cNvPr id="38" name="Text 36"/>
          <p:cNvSpPr/>
          <p:nvPr/>
        </p:nvSpPr>
        <p:spPr>
          <a:xfrm>
            <a:off x="4315968" y="3083052"/>
            <a:ext cx="4526280" cy="237744"/>
          </a:xfrm>
          <a:prstGeom prst="rect">
            <a:avLst/>
          </a:prstGeom>
          <a:noFill/>
          <a:ln/>
        </p:spPr>
        <p:txBody>
          <a:bodyPr wrap="square" lIns="0" tIns="0" rIns="0" bIns="0" rtlCol="0" anchor="ctr"/>
          <a:lstStyle/>
          <a:p>
            <a:pPr marL="0" indent="0">
              <a:buNone/>
            </a:pPr>
            <a:r>
              <a:rPr lang="en-US" sz="780" dirty="0">
                <a:solidFill>
                  <a:srgbClr val="64748B"/>
                </a:solidFill>
              </a:rPr>
              <a:t>Polish VAT law (Ustawa o VAT). Polish WDT / IGE rules apply. No German § 13b involvement.</a:t>
            </a:r>
            <a:endParaRPr lang="en-US" sz="780" dirty="0"/>
          </a:p>
        </p:txBody>
      </p:sp>
      <p:sp>
        <p:nvSpPr>
          <p:cNvPr id="39" name="Shape 37"/>
          <p:cNvSpPr/>
          <p:nvPr/>
        </p:nvSpPr>
        <p:spPr>
          <a:xfrm>
            <a:off x="320040" y="3322320"/>
            <a:ext cx="8595360" cy="201168"/>
          </a:xfrm>
          <a:prstGeom prst="rect">
            <a:avLst/>
          </a:prstGeom>
          <a:solidFill>
            <a:srgbClr val="FFFFFF"/>
          </a:solidFill>
          <a:ln w="3810">
            <a:solidFill>
              <a:srgbClr val="CBD5E1"/>
            </a:solidFill>
            <a:prstDash val="solid"/>
          </a:ln>
        </p:spPr>
        <p:txBody>
          <a:bodyPr/>
          <a:lstStyle/>
          <a:p>
            <a:endParaRPr lang="en-DE"/>
          </a:p>
        </p:txBody>
      </p:sp>
      <p:sp>
        <p:nvSpPr>
          <p:cNvPr id="40" name="Text 38"/>
          <p:cNvSpPr/>
          <p:nvPr/>
        </p:nvSpPr>
        <p:spPr>
          <a:xfrm>
            <a:off x="411480" y="3314700"/>
            <a:ext cx="2560320" cy="237744"/>
          </a:xfrm>
          <a:prstGeom prst="rect">
            <a:avLst/>
          </a:prstGeom>
          <a:noFill/>
          <a:ln/>
        </p:spPr>
        <p:txBody>
          <a:bodyPr wrap="square" lIns="0" tIns="0" rIns="0" bIns="0" rtlCol="0" anchor="ctr"/>
          <a:lstStyle/>
          <a:p>
            <a:pPr marL="0" indent="0">
              <a:buNone/>
            </a:pPr>
            <a:r>
              <a:rPr lang="en-US" sz="800" dirty="0">
                <a:solidFill>
                  <a:srgbClr val="1B2E4B"/>
                </a:solidFill>
              </a:rPr>
              <a:t>T7: Annual Maintenance Contracts</a:t>
            </a:r>
            <a:endParaRPr lang="en-US" sz="800" dirty="0"/>
          </a:p>
        </p:txBody>
      </p:sp>
      <p:sp>
        <p:nvSpPr>
          <p:cNvPr id="41" name="Text 39"/>
          <p:cNvSpPr/>
          <p:nvPr/>
        </p:nvSpPr>
        <p:spPr>
          <a:xfrm>
            <a:off x="3090672" y="3323844"/>
            <a:ext cx="1097280" cy="219456"/>
          </a:xfrm>
          <a:prstGeom prst="rect">
            <a:avLst/>
          </a:prstGeom>
          <a:noFill/>
          <a:ln/>
        </p:spPr>
        <p:txBody>
          <a:bodyPr wrap="square" lIns="0" tIns="0" rIns="0" bIns="0" rtlCol="0" anchor="ctr"/>
          <a:lstStyle/>
          <a:p>
            <a:pPr marL="0" indent="0" algn="ctr">
              <a:buNone/>
            </a:pPr>
            <a:r>
              <a:rPr lang="en-US" sz="850" b="1" dirty="0">
                <a:solidFill>
                  <a:srgbClr val="15803D"/>
                </a:solidFill>
              </a:rPr>
              <a:t>NO</a:t>
            </a:r>
            <a:endParaRPr lang="en-US" sz="850" dirty="0"/>
          </a:p>
        </p:txBody>
      </p:sp>
      <p:sp>
        <p:nvSpPr>
          <p:cNvPr id="42" name="Text 40"/>
          <p:cNvSpPr/>
          <p:nvPr/>
        </p:nvSpPr>
        <p:spPr>
          <a:xfrm>
            <a:off x="4315968" y="3314700"/>
            <a:ext cx="4526280" cy="237744"/>
          </a:xfrm>
          <a:prstGeom prst="rect">
            <a:avLst/>
          </a:prstGeom>
          <a:noFill/>
          <a:ln/>
        </p:spPr>
        <p:txBody>
          <a:bodyPr wrap="square" lIns="0" tIns="0" rIns="0" bIns="0" rtlCol="0" anchor="ctr"/>
          <a:lstStyle/>
          <a:p>
            <a:pPr marL="0" indent="0">
              <a:buNone/>
            </a:pPr>
            <a:r>
              <a:rPr lang="en-US" sz="780" dirty="0">
                <a:solidFill>
                  <a:srgbClr val="64748B"/>
                </a:solidFill>
              </a:rPr>
              <a:t>Domestic B2B service, German supplier, German customer. § 13b explicitly inapplicable.</a:t>
            </a:r>
            <a:endParaRPr lang="en-US" sz="780" dirty="0"/>
          </a:p>
        </p:txBody>
      </p:sp>
      <p:sp>
        <p:nvSpPr>
          <p:cNvPr id="43" name="Shape 41"/>
          <p:cNvSpPr/>
          <p:nvPr/>
        </p:nvSpPr>
        <p:spPr>
          <a:xfrm>
            <a:off x="320040" y="3538728"/>
            <a:ext cx="8595360" cy="320040"/>
          </a:xfrm>
          <a:prstGeom prst="rect">
            <a:avLst/>
          </a:prstGeom>
          <a:solidFill>
            <a:srgbClr val="F7F9FC"/>
          </a:solidFill>
          <a:ln w="3810">
            <a:solidFill>
              <a:srgbClr val="CBD5E1"/>
            </a:solidFill>
            <a:prstDash val="solid"/>
          </a:ln>
        </p:spPr>
        <p:txBody>
          <a:bodyPr/>
          <a:lstStyle/>
          <a:p>
            <a:endParaRPr lang="en-DE"/>
          </a:p>
        </p:txBody>
      </p:sp>
      <p:sp>
        <p:nvSpPr>
          <p:cNvPr id="44" name="Text 42"/>
          <p:cNvSpPr/>
          <p:nvPr/>
        </p:nvSpPr>
        <p:spPr>
          <a:xfrm>
            <a:off x="411480" y="3584448"/>
            <a:ext cx="2560320" cy="237744"/>
          </a:xfrm>
          <a:prstGeom prst="rect">
            <a:avLst/>
          </a:prstGeom>
          <a:noFill/>
          <a:ln/>
        </p:spPr>
        <p:txBody>
          <a:bodyPr wrap="square" lIns="0" tIns="0" rIns="0" bIns="0" rtlCol="0" anchor="ctr"/>
          <a:lstStyle/>
          <a:p>
            <a:pPr marL="0" indent="0">
              <a:buNone/>
            </a:pPr>
            <a:r>
              <a:rPr lang="en-US" sz="800" dirty="0">
                <a:solidFill>
                  <a:srgbClr val="1B2E4B"/>
                </a:solidFill>
              </a:rPr>
              <a:t>Future: Foreign Services Acquired</a:t>
            </a:r>
            <a:endParaRPr lang="en-US" sz="800" dirty="0"/>
          </a:p>
        </p:txBody>
      </p:sp>
      <p:sp>
        <p:nvSpPr>
          <p:cNvPr id="45" name="Text 43"/>
          <p:cNvSpPr/>
          <p:nvPr/>
        </p:nvSpPr>
        <p:spPr>
          <a:xfrm>
            <a:off x="3090672" y="3593592"/>
            <a:ext cx="1097280" cy="219456"/>
          </a:xfrm>
          <a:prstGeom prst="rect">
            <a:avLst/>
          </a:prstGeom>
          <a:noFill/>
          <a:ln/>
        </p:spPr>
        <p:txBody>
          <a:bodyPr wrap="square" lIns="0" tIns="0" rIns="0" bIns="0" rtlCol="0" anchor="ctr"/>
          <a:lstStyle/>
          <a:p>
            <a:pPr marL="0" indent="0" algn="ctr">
              <a:buNone/>
            </a:pPr>
            <a:r>
              <a:rPr lang="en-US" sz="850" b="1" dirty="0">
                <a:solidFill>
                  <a:srgbClr val="D97706"/>
                </a:solidFill>
              </a:rPr>
              <a:t>POTENTIAL</a:t>
            </a:r>
            <a:endParaRPr lang="en-US" sz="850" dirty="0"/>
          </a:p>
        </p:txBody>
      </p:sp>
      <p:sp>
        <p:nvSpPr>
          <p:cNvPr id="46" name="Text 44"/>
          <p:cNvSpPr/>
          <p:nvPr/>
        </p:nvSpPr>
        <p:spPr>
          <a:xfrm>
            <a:off x="4315968" y="3584448"/>
            <a:ext cx="4526280" cy="237744"/>
          </a:xfrm>
          <a:prstGeom prst="rect">
            <a:avLst/>
          </a:prstGeom>
          <a:noFill/>
          <a:ln/>
        </p:spPr>
        <p:txBody>
          <a:bodyPr wrap="square" lIns="0" tIns="0" rIns="0" bIns="0" rtlCol="0" anchor="ctr"/>
          <a:lstStyle/>
          <a:p>
            <a:pPr marL="0" indent="0">
              <a:buNone/>
            </a:pPr>
            <a:r>
              <a:rPr lang="en-US" sz="780" dirty="0">
                <a:solidFill>
                  <a:srgbClr val="64748B"/>
                </a:solidFill>
              </a:rPr>
              <a:t>If Strabam AG acquires services from a non-established foreign supplier (§ 13b Abs. 1 UStG), the Reverse-Charge Procedure would apply - Strabam AG becomes the tax debtor.</a:t>
            </a:r>
            <a:endParaRPr lang="en-US" sz="780" dirty="0"/>
          </a:p>
        </p:txBody>
      </p:sp>
      <p:sp>
        <p:nvSpPr>
          <p:cNvPr id="47" name="Shape 45"/>
          <p:cNvSpPr/>
          <p:nvPr/>
        </p:nvSpPr>
        <p:spPr>
          <a:xfrm>
            <a:off x="320040" y="3869436"/>
            <a:ext cx="8595360" cy="320040"/>
          </a:xfrm>
          <a:prstGeom prst="rect">
            <a:avLst/>
          </a:prstGeom>
          <a:solidFill>
            <a:srgbClr val="FFFFFF"/>
          </a:solidFill>
          <a:ln w="3810">
            <a:solidFill>
              <a:srgbClr val="CBD5E1"/>
            </a:solidFill>
            <a:prstDash val="solid"/>
          </a:ln>
        </p:spPr>
        <p:txBody>
          <a:bodyPr/>
          <a:lstStyle/>
          <a:p>
            <a:endParaRPr lang="en-DE"/>
          </a:p>
        </p:txBody>
      </p:sp>
      <p:sp>
        <p:nvSpPr>
          <p:cNvPr id="48" name="Text 46"/>
          <p:cNvSpPr/>
          <p:nvPr/>
        </p:nvSpPr>
        <p:spPr>
          <a:xfrm>
            <a:off x="411480" y="3922776"/>
            <a:ext cx="2560320" cy="237744"/>
          </a:xfrm>
          <a:prstGeom prst="rect">
            <a:avLst/>
          </a:prstGeom>
          <a:noFill/>
          <a:ln/>
        </p:spPr>
        <p:txBody>
          <a:bodyPr wrap="square" lIns="0" tIns="0" rIns="0" bIns="0" rtlCol="0" anchor="ctr"/>
          <a:lstStyle/>
          <a:p>
            <a:pPr marL="0" indent="0">
              <a:buNone/>
            </a:pPr>
            <a:r>
              <a:rPr lang="en-US" sz="800" dirty="0">
                <a:solidFill>
                  <a:srgbClr val="1B2E4B"/>
                </a:solidFill>
              </a:rPr>
              <a:t>Construction Services Received</a:t>
            </a:r>
            <a:endParaRPr lang="en-US" sz="800" dirty="0"/>
          </a:p>
        </p:txBody>
      </p:sp>
      <p:sp>
        <p:nvSpPr>
          <p:cNvPr id="49" name="Text 47"/>
          <p:cNvSpPr/>
          <p:nvPr/>
        </p:nvSpPr>
        <p:spPr>
          <a:xfrm>
            <a:off x="3090672" y="3931920"/>
            <a:ext cx="1097280" cy="219456"/>
          </a:xfrm>
          <a:prstGeom prst="rect">
            <a:avLst/>
          </a:prstGeom>
          <a:noFill/>
          <a:ln/>
        </p:spPr>
        <p:txBody>
          <a:bodyPr wrap="square" lIns="0" tIns="0" rIns="0" bIns="0" rtlCol="0" anchor="ctr"/>
          <a:lstStyle/>
          <a:p>
            <a:pPr marL="0" indent="0" algn="ctr">
              <a:buNone/>
            </a:pPr>
            <a:r>
              <a:rPr lang="en-US" sz="850" b="1" dirty="0">
                <a:solidFill>
                  <a:srgbClr val="C0392B"/>
                </a:solidFill>
              </a:rPr>
              <a:t>YES (IF)</a:t>
            </a:r>
            <a:endParaRPr lang="en-US" sz="850" dirty="0"/>
          </a:p>
        </p:txBody>
      </p:sp>
      <p:sp>
        <p:nvSpPr>
          <p:cNvPr id="50" name="Text 48"/>
          <p:cNvSpPr/>
          <p:nvPr/>
        </p:nvSpPr>
        <p:spPr>
          <a:xfrm>
            <a:off x="4315968" y="3922776"/>
            <a:ext cx="4526280" cy="237744"/>
          </a:xfrm>
          <a:prstGeom prst="rect">
            <a:avLst/>
          </a:prstGeom>
          <a:noFill/>
          <a:ln/>
        </p:spPr>
        <p:txBody>
          <a:bodyPr wrap="square" lIns="0" tIns="0" rIns="0" bIns="0" rtlCol="0" anchor="ctr"/>
          <a:lstStyle/>
          <a:p>
            <a:pPr marL="0" indent="0">
              <a:buNone/>
            </a:pPr>
            <a:r>
              <a:rPr lang="en-US" sz="780" dirty="0">
                <a:solidFill>
                  <a:srgbClr val="64748B"/>
                </a:solidFill>
              </a:rPr>
              <a:t>§ 13b Abs. 2 Nr. 4 </a:t>
            </a:r>
            <a:r>
              <a:rPr lang="en-US" sz="780" dirty="0" err="1">
                <a:solidFill>
                  <a:srgbClr val="64748B"/>
                </a:solidFill>
              </a:rPr>
              <a:t>UStG</a:t>
            </a:r>
            <a:r>
              <a:rPr lang="en-US" sz="780" dirty="0">
                <a:solidFill>
                  <a:srgbClr val="64748B"/>
                </a:solidFill>
              </a:rPr>
              <a:t> - if Strabam AG receives construction or installation services from other companies, it may be liable as recipient (Leistungsempfänger). Relevant for machine installation subcontractors.</a:t>
            </a:r>
            <a:endParaRPr lang="en-US" sz="780" dirty="0"/>
          </a:p>
        </p:txBody>
      </p:sp>
      <p:sp>
        <p:nvSpPr>
          <p:cNvPr id="51" name="Shape 49"/>
          <p:cNvSpPr/>
          <p:nvPr/>
        </p:nvSpPr>
        <p:spPr>
          <a:xfrm>
            <a:off x="320040" y="4251008"/>
            <a:ext cx="8595360" cy="474344"/>
          </a:xfrm>
          <a:prstGeom prst="rect">
            <a:avLst/>
          </a:prstGeom>
          <a:solidFill>
            <a:srgbClr val="E8F4F4"/>
          </a:solidFill>
          <a:ln w="6350">
            <a:solidFill>
              <a:srgbClr val="006B6B"/>
            </a:solidFill>
            <a:prstDash val="solid"/>
          </a:ln>
        </p:spPr>
        <p:txBody>
          <a:bodyPr/>
          <a:lstStyle/>
          <a:p>
            <a:endParaRPr lang="en-DE"/>
          </a:p>
        </p:txBody>
      </p:sp>
      <p:sp>
        <p:nvSpPr>
          <p:cNvPr id="52" name="Shape 50"/>
          <p:cNvSpPr/>
          <p:nvPr/>
        </p:nvSpPr>
        <p:spPr>
          <a:xfrm>
            <a:off x="320040" y="4272569"/>
            <a:ext cx="36576" cy="431222"/>
          </a:xfrm>
          <a:prstGeom prst="rect">
            <a:avLst/>
          </a:prstGeom>
          <a:solidFill>
            <a:srgbClr val="006B6B"/>
          </a:solidFill>
          <a:ln w="12700">
            <a:solidFill>
              <a:srgbClr val="006B6B"/>
            </a:solidFill>
            <a:prstDash val="solid"/>
          </a:ln>
        </p:spPr>
        <p:txBody>
          <a:bodyPr/>
          <a:lstStyle/>
          <a:p>
            <a:endParaRPr lang="en-DE"/>
          </a:p>
        </p:txBody>
      </p:sp>
      <p:sp>
        <p:nvSpPr>
          <p:cNvPr id="53" name="Text 51"/>
          <p:cNvSpPr/>
          <p:nvPr/>
        </p:nvSpPr>
        <p:spPr>
          <a:xfrm>
            <a:off x="420624" y="4381079"/>
            <a:ext cx="8412480" cy="214203"/>
          </a:xfrm>
          <a:prstGeom prst="rect">
            <a:avLst/>
          </a:prstGeom>
          <a:noFill/>
          <a:ln/>
        </p:spPr>
        <p:txBody>
          <a:bodyPr wrap="square" lIns="0" tIns="0" rIns="0" bIns="0" rtlCol="0" anchor="ctr"/>
          <a:lstStyle/>
          <a:p>
            <a:pPr marL="0" indent="0">
              <a:buNone/>
            </a:pPr>
            <a:r>
              <a:rPr lang="en-US" sz="1000" b="1" kern="0" spc="50" dirty="0">
                <a:solidFill>
                  <a:srgbClr val="006B6B"/>
                </a:solidFill>
              </a:rPr>
              <a:t>MANAGEMENT ACTION</a:t>
            </a:r>
            <a:endParaRPr lang="en-US" sz="800" b="1" kern="0" spc="50" dirty="0">
              <a:solidFill>
                <a:srgbClr val="006B6B"/>
              </a:solidFill>
            </a:endParaRPr>
          </a:p>
          <a:p>
            <a:pPr marL="0" indent="0">
              <a:buNone/>
            </a:pPr>
            <a:r>
              <a:rPr lang="en-US" sz="1000" dirty="0">
                <a:solidFill>
                  <a:srgbClr val="1B2E4B"/>
                </a:solidFill>
              </a:rPr>
              <a:t>Monitor all procurement for services from non-German suppliers - activate § 13b </a:t>
            </a:r>
            <a:r>
              <a:rPr lang="en-US" sz="1000" dirty="0" err="1">
                <a:solidFill>
                  <a:srgbClr val="1B2E4B"/>
                </a:solidFill>
              </a:rPr>
              <a:t>UStG</a:t>
            </a:r>
            <a:r>
              <a:rPr lang="en-US" sz="1000" dirty="0">
                <a:solidFill>
                  <a:srgbClr val="1B2E4B"/>
                </a:solidFill>
              </a:rPr>
              <a:t> Reverse-Charge self-assessment in ERP automatically when supplier is non-established. Brief Tax Department on construction/installation subcontractor trigger.</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C0392B"/>
          </a:solidFill>
          <a:ln w="12700">
            <a:solidFill>
              <a:srgbClr val="C0392B"/>
            </a:solidFill>
            <a:prstDash val="solid"/>
          </a:ln>
        </p:spPr>
        <p:txBody>
          <a:bodyPr/>
          <a:lstStyle/>
          <a:p>
            <a:endParaRPr lang="en-DE"/>
          </a:p>
        </p:txBody>
      </p:sp>
      <p:sp>
        <p:nvSpPr>
          <p:cNvPr id="3" name="Shape 1"/>
          <p:cNvSpPr/>
          <p:nvPr/>
        </p:nvSpPr>
        <p:spPr>
          <a:xfrm>
            <a:off x="6400800" y="100584"/>
            <a:ext cx="1280160" cy="292608"/>
          </a:xfrm>
          <a:prstGeom prst="rect">
            <a:avLst/>
          </a:prstGeom>
          <a:solidFill>
            <a:srgbClr val="C0392B"/>
          </a:solidFill>
          <a:ln w="12700">
            <a:solidFill>
              <a:srgbClr val="C0392B"/>
            </a:solidFill>
            <a:prstDash val="solid"/>
          </a:ln>
        </p:spPr>
        <p:txBody>
          <a:bodyPr/>
          <a:lstStyle/>
          <a:p>
            <a:endParaRPr lang="en-DE"/>
          </a:p>
        </p:txBody>
      </p:sp>
      <p:sp>
        <p:nvSpPr>
          <p:cNvPr id="4" name="Text 2"/>
          <p:cNvSpPr/>
          <p:nvPr/>
        </p:nvSpPr>
        <p:spPr>
          <a:xfrm>
            <a:off x="6400800" y="100584"/>
            <a:ext cx="1280160" cy="292608"/>
          </a:xfrm>
          <a:prstGeom prst="rect">
            <a:avLst/>
          </a:prstGeom>
          <a:noFill/>
          <a:ln/>
        </p:spPr>
        <p:txBody>
          <a:bodyPr wrap="square" lIns="0" tIns="0" rIns="0" bIns="0" rtlCol="0" anchor="ctr"/>
          <a:lstStyle/>
          <a:p>
            <a:pPr marL="0" indent="0" algn="ctr">
              <a:buNone/>
            </a:pPr>
            <a:r>
              <a:rPr lang="en-US" sz="750" b="1" dirty="0">
                <a:solidFill>
                  <a:srgbClr val="FFFFFF"/>
                </a:solidFill>
              </a:rPr>
              <a:t>RISK: HIGH</a:t>
            </a:r>
            <a:endParaRPr lang="en-US" sz="750" dirty="0"/>
          </a:p>
        </p:txBody>
      </p:sp>
      <p:sp>
        <p:nvSpPr>
          <p:cNvPr id="5" name="Shape 3"/>
          <p:cNvSpPr/>
          <p:nvPr/>
        </p:nvSpPr>
        <p:spPr>
          <a:xfrm>
            <a:off x="7772400" y="100584"/>
            <a:ext cx="1234440" cy="292608"/>
          </a:xfrm>
          <a:prstGeom prst="rect">
            <a:avLst/>
          </a:prstGeom>
          <a:solidFill>
            <a:srgbClr val="C0392B"/>
          </a:solidFill>
          <a:ln w="12700">
            <a:solidFill>
              <a:srgbClr val="C0392B"/>
            </a:solidFill>
            <a:prstDash val="solid"/>
          </a:ln>
        </p:spPr>
        <p:txBody>
          <a:bodyPr/>
          <a:lstStyle/>
          <a:p>
            <a:endParaRPr lang="en-DE"/>
          </a:p>
        </p:txBody>
      </p:sp>
      <p:sp>
        <p:nvSpPr>
          <p:cNvPr id="6" name="Text 4"/>
          <p:cNvSpPr/>
          <p:nvPr/>
        </p:nvSpPr>
        <p:spPr>
          <a:xfrm>
            <a:off x="7772400" y="100584"/>
            <a:ext cx="1234440" cy="292608"/>
          </a:xfrm>
          <a:prstGeom prst="rect">
            <a:avLst/>
          </a:prstGeom>
          <a:noFill/>
          <a:ln/>
        </p:spPr>
        <p:txBody>
          <a:bodyPr wrap="square" lIns="0" tIns="0" rIns="0" bIns="0" rtlCol="0" anchor="ctr"/>
          <a:lstStyle/>
          <a:p>
            <a:pPr marL="0" indent="0" algn="ctr">
              <a:buNone/>
            </a:pPr>
            <a:r>
              <a:rPr lang="en-US" sz="750" b="1" dirty="0">
                <a:solidFill>
                  <a:srgbClr val="FFFFFF"/>
                </a:solidFill>
              </a:rPr>
              <a:t>PRIORITY: HIGH</a:t>
            </a:r>
            <a:endParaRPr lang="en-US" sz="750" dirty="0"/>
          </a:p>
        </p:txBody>
      </p:sp>
      <p:sp>
        <p:nvSpPr>
          <p:cNvPr id="7" name="Shape 5"/>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8" name="Text 6"/>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9" name="Text 7"/>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COMPLIANCE</a:t>
            </a:r>
            <a:endParaRPr lang="en-US" sz="700" dirty="0"/>
          </a:p>
        </p:txBody>
      </p:sp>
      <p:sp>
        <p:nvSpPr>
          <p:cNvPr id="10" name="Text 8"/>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15 / 23</a:t>
            </a:r>
            <a:endParaRPr lang="en-US" sz="700" dirty="0"/>
          </a:p>
        </p:txBody>
      </p:sp>
      <p:sp>
        <p:nvSpPr>
          <p:cNvPr id="11" name="Text 9"/>
          <p:cNvSpPr/>
          <p:nvPr/>
        </p:nvSpPr>
        <p:spPr>
          <a:xfrm>
            <a:off x="411480" y="137160"/>
            <a:ext cx="6400800" cy="201168"/>
          </a:xfrm>
          <a:prstGeom prst="rect">
            <a:avLst/>
          </a:prstGeom>
          <a:noFill/>
          <a:ln/>
        </p:spPr>
        <p:txBody>
          <a:bodyPr wrap="square" lIns="0" tIns="0" rIns="0" bIns="0" rtlCol="0" anchor="ctr"/>
          <a:lstStyle/>
          <a:p>
            <a:pPr marL="0" indent="0">
              <a:buNone/>
            </a:pPr>
            <a:r>
              <a:rPr lang="en-US" sz="800" b="1" kern="0" spc="200" dirty="0">
                <a:solidFill>
                  <a:srgbClr val="C0392B"/>
                </a:solidFill>
              </a:rPr>
              <a:t>04 | Compliance Issues</a:t>
            </a:r>
            <a:endParaRPr lang="en-US" sz="800" dirty="0"/>
          </a:p>
        </p:txBody>
      </p:sp>
      <p:sp>
        <p:nvSpPr>
          <p:cNvPr id="12" name="Text 10"/>
          <p:cNvSpPr/>
          <p:nvPr/>
        </p:nvSpPr>
        <p:spPr>
          <a:xfrm>
            <a:off x="411480" y="338328"/>
            <a:ext cx="8046720" cy="502920"/>
          </a:xfrm>
          <a:prstGeom prst="rect">
            <a:avLst/>
          </a:prstGeom>
          <a:noFill/>
          <a:ln/>
        </p:spPr>
        <p:txBody>
          <a:bodyPr wrap="square" lIns="0" tIns="0" rIns="0" bIns="0" rtlCol="0" anchor="ctr"/>
          <a:lstStyle/>
          <a:p>
            <a:pPr marL="0" indent="0">
              <a:buNone/>
            </a:pPr>
            <a:r>
              <a:rPr lang="en-US" sz="2100" b="1" dirty="0">
                <a:solidFill>
                  <a:srgbClr val="0A1628"/>
                </a:solidFill>
              </a:rPr>
              <a:t>Late Filing - 2024 Annual VAT Return</a:t>
            </a:r>
            <a:endParaRPr lang="en-US" sz="2100" dirty="0"/>
          </a:p>
        </p:txBody>
      </p:sp>
      <p:sp>
        <p:nvSpPr>
          <p:cNvPr id="13" name="Text 11"/>
          <p:cNvSpPr/>
          <p:nvPr/>
        </p:nvSpPr>
        <p:spPr>
          <a:xfrm>
            <a:off x="411480" y="859536"/>
            <a:ext cx="8503920" cy="219456"/>
          </a:xfrm>
          <a:prstGeom prst="rect">
            <a:avLst/>
          </a:prstGeom>
          <a:noFill/>
          <a:ln/>
        </p:spPr>
        <p:txBody>
          <a:bodyPr wrap="square" lIns="0" tIns="0" rIns="0" bIns="0" rtlCol="0" anchor="ctr"/>
          <a:lstStyle/>
          <a:p>
            <a:pPr marL="0" indent="0">
              <a:buNone/>
            </a:pPr>
            <a:r>
              <a:rPr lang="en-US" sz="900" i="1" dirty="0">
                <a:solidFill>
                  <a:srgbClr val="C0392B"/>
                </a:solidFill>
              </a:rPr>
              <a:t>Filed: Last week April 2026  |  Deadline: 31 July 2025  |  Delay: 9 months  |  Internal Tax Department - no external advisor</a:t>
            </a:r>
            <a:endParaRPr lang="en-US" sz="900" dirty="0"/>
          </a:p>
        </p:txBody>
      </p:sp>
      <p:sp>
        <p:nvSpPr>
          <p:cNvPr id="14" name="Shape 12"/>
          <p:cNvSpPr/>
          <p:nvPr/>
        </p:nvSpPr>
        <p:spPr>
          <a:xfrm>
            <a:off x="411480" y="1115568"/>
            <a:ext cx="8503920" cy="0"/>
          </a:xfrm>
          <a:prstGeom prst="line">
            <a:avLst/>
          </a:prstGeom>
          <a:noFill/>
          <a:ln w="6350">
            <a:solidFill>
              <a:srgbClr val="CBD5E1"/>
            </a:solidFill>
            <a:prstDash val="solid"/>
          </a:ln>
        </p:spPr>
        <p:txBody>
          <a:bodyPr/>
          <a:lstStyle/>
          <a:p>
            <a:endParaRPr lang="en-DE"/>
          </a:p>
        </p:txBody>
      </p:sp>
      <p:sp>
        <p:nvSpPr>
          <p:cNvPr id="15" name="Shape 13"/>
          <p:cNvSpPr/>
          <p:nvPr/>
        </p:nvSpPr>
        <p:spPr>
          <a:xfrm>
            <a:off x="411480" y="1234440"/>
            <a:ext cx="4114800" cy="1234440"/>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16" name="Shape 14"/>
          <p:cNvSpPr/>
          <p:nvPr/>
        </p:nvSpPr>
        <p:spPr>
          <a:xfrm>
            <a:off x="411480" y="1234440"/>
            <a:ext cx="36576" cy="1234440"/>
          </a:xfrm>
          <a:prstGeom prst="rect">
            <a:avLst/>
          </a:prstGeom>
          <a:solidFill>
            <a:srgbClr val="C0392B"/>
          </a:solidFill>
          <a:ln w="12700">
            <a:solidFill>
              <a:srgbClr val="C0392B"/>
            </a:solidFill>
            <a:prstDash val="solid"/>
          </a:ln>
        </p:spPr>
        <p:txBody>
          <a:bodyPr/>
          <a:lstStyle/>
          <a:p>
            <a:endParaRPr lang="en-DE"/>
          </a:p>
        </p:txBody>
      </p:sp>
      <p:sp>
        <p:nvSpPr>
          <p:cNvPr id="17" name="Text 15"/>
          <p:cNvSpPr/>
          <p:nvPr/>
        </p:nvSpPr>
        <p:spPr>
          <a:xfrm>
            <a:off x="502920" y="1298448"/>
            <a:ext cx="3950208" cy="201168"/>
          </a:xfrm>
          <a:prstGeom prst="rect">
            <a:avLst/>
          </a:prstGeom>
          <a:noFill/>
          <a:ln/>
        </p:spPr>
        <p:txBody>
          <a:bodyPr wrap="square" lIns="0" tIns="0" rIns="0" bIns="0" rtlCol="0" anchor="ctr"/>
          <a:lstStyle/>
          <a:p>
            <a:pPr marL="0" indent="0">
              <a:buNone/>
            </a:pPr>
            <a:r>
              <a:rPr lang="en-US" sz="850" b="1" dirty="0">
                <a:solidFill>
                  <a:srgbClr val="C0392B"/>
                </a:solidFill>
              </a:rPr>
              <a:t>§ 149 Abs. 2 AO - Filing Deadline</a:t>
            </a:r>
            <a:endParaRPr lang="en-US" sz="850" dirty="0"/>
          </a:p>
        </p:txBody>
      </p:sp>
      <p:sp>
        <p:nvSpPr>
          <p:cNvPr id="18" name="Text 16"/>
          <p:cNvSpPr/>
          <p:nvPr/>
        </p:nvSpPr>
        <p:spPr>
          <a:xfrm>
            <a:off x="502920" y="1527048"/>
            <a:ext cx="3950208" cy="914400"/>
          </a:xfrm>
          <a:prstGeom prst="rect">
            <a:avLst/>
          </a:prstGeom>
          <a:noFill/>
          <a:ln/>
        </p:spPr>
        <p:txBody>
          <a:bodyPr wrap="square" lIns="0" tIns="0" rIns="0" bIns="0" rtlCol="0" anchor="ctr"/>
          <a:lstStyle/>
          <a:p>
            <a:pPr marL="342900" indent="-342900">
              <a:spcAft>
                <a:spcPts val="200"/>
              </a:spcAft>
              <a:buSzPct val="100000"/>
              <a:buChar char="•"/>
            </a:pPr>
            <a:r>
              <a:rPr lang="en-US" sz="780" dirty="0">
                <a:solidFill>
                  <a:srgbClr val="1B2E4B"/>
                </a:solidFill>
              </a:rPr>
              <a:t>Strabam AG has its own internal Tax Department (Steuerabteilung) → no external tax advisor (Steuerberater) appointed for this filing.</a:t>
            </a:r>
            <a:endParaRPr lang="en-US" sz="780" dirty="0"/>
          </a:p>
          <a:p>
            <a:pPr marL="342900" indent="-342900">
              <a:spcAft>
                <a:spcPts val="200"/>
              </a:spcAft>
              <a:buSzPct val="100000"/>
              <a:buChar char="•"/>
            </a:pPr>
            <a:r>
              <a:rPr lang="en-US" sz="780" dirty="0">
                <a:solidFill>
                  <a:srgbClr val="1B2E4B"/>
                </a:solidFill>
              </a:rPr>
              <a:t>§ 149 Abs. 3 Abgabenordnung (AO) - extended deadline to last day of February of the second following year - applies ONLY if a Steuerberater is mandated.</a:t>
            </a:r>
            <a:endParaRPr lang="en-US" sz="780" dirty="0"/>
          </a:p>
          <a:p>
            <a:pPr marL="342900" indent="-342900">
              <a:spcAft>
                <a:spcPts val="200"/>
              </a:spcAft>
              <a:buSzPct val="100000"/>
              <a:buChar char="•"/>
            </a:pPr>
            <a:r>
              <a:rPr lang="en-US" sz="780" dirty="0">
                <a:solidFill>
                  <a:srgbClr val="1B2E4B"/>
                </a:solidFill>
              </a:rPr>
              <a:t>§ 149 Abs. 2 S. 1 AO - standard deadline: 7 months after end of calendar year = 31 July 2025. Strabam AG missed this deadline by 9 months.</a:t>
            </a:r>
            <a:endParaRPr lang="en-US" sz="780" dirty="0"/>
          </a:p>
        </p:txBody>
      </p:sp>
      <p:sp>
        <p:nvSpPr>
          <p:cNvPr id="19" name="Shape 17"/>
          <p:cNvSpPr/>
          <p:nvPr/>
        </p:nvSpPr>
        <p:spPr>
          <a:xfrm>
            <a:off x="4754880" y="1234440"/>
            <a:ext cx="4114800" cy="1234440"/>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0" name="Shape 18"/>
          <p:cNvSpPr/>
          <p:nvPr/>
        </p:nvSpPr>
        <p:spPr>
          <a:xfrm>
            <a:off x="4754880" y="1234440"/>
            <a:ext cx="36576" cy="1234440"/>
          </a:xfrm>
          <a:prstGeom prst="rect">
            <a:avLst/>
          </a:prstGeom>
          <a:solidFill>
            <a:srgbClr val="C0392B"/>
          </a:solidFill>
          <a:ln w="12700">
            <a:solidFill>
              <a:srgbClr val="C0392B"/>
            </a:solidFill>
            <a:prstDash val="solid"/>
          </a:ln>
        </p:spPr>
        <p:txBody>
          <a:bodyPr/>
          <a:lstStyle/>
          <a:p>
            <a:endParaRPr lang="en-DE"/>
          </a:p>
        </p:txBody>
      </p:sp>
      <p:sp>
        <p:nvSpPr>
          <p:cNvPr id="21" name="Text 19"/>
          <p:cNvSpPr/>
          <p:nvPr/>
        </p:nvSpPr>
        <p:spPr>
          <a:xfrm>
            <a:off x="4846320" y="1298448"/>
            <a:ext cx="3950208" cy="201168"/>
          </a:xfrm>
          <a:prstGeom prst="rect">
            <a:avLst/>
          </a:prstGeom>
          <a:noFill/>
          <a:ln/>
        </p:spPr>
        <p:txBody>
          <a:bodyPr wrap="square" lIns="0" tIns="0" rIns="0" bIns="0" rtlCol="0" anchor="ctr"/>
          <a:lstStyle/>
          <a:p>
            <a:pPr marL="0" indent="0">
              <a:buNone/>
            </a:pPr>
            <a:r>
              <a:rPr lang="en-US" sz="850" b="1" dirty="0">
                <a:solidFill>
                  <a:srgbClr val="C0392B"/>
                </a:solidFill>
              </a:rPr>
              <a:t>§ 152 Abs. 2 AO - Mandatory Penalty</a:t>
            </a:r>
            <a:endParaRPr lang="en-US" sz="850" dirty="0"/>
          </a:p>
        </p:txBody>
      </p:sp>
      <p:sp>
        <p:nvSpPr>
          <p:cNvPr id="22" name="Text 20"/>
          <p:cNvSpPr/>
          <p:nvPr/>
        </p:nvSpPr>
        <p:spPr>
          <a:xfrm>
            <a:off x="4846320" y="1527048"/>
            <a:ext cx="3950208" cy="914400"/>
          </a:xfrm>
          <a:prstGeom prst="rect">
            <a:avLst/>
          </a:prstGeom>
          <a:noFill/>
          <a:ln/>
        </p:spPr>
        <p:txBody>
          <a:bodyPr wrap="square" lIns="0" tIns="0" rIns="0" bIns="0" rtlCol="0" anchor="ctr"/>
          <a:lstStyle/>
          <a:p>
            <a:pPr marL="342900" indent="-342900">
              <a:spcAft>
                <a:spcPts val="200"/>
              </a:spcAft>
              <a:buSzPct val="100000"/>
              <a:buChar char="•"/>
            </a:pPr>
            <a:r>
              <a:rPr lang="en-US" sz="780" dirty="0">
                <a:solidFill>
                  <a:srgbClr val="1B2E4B"/>
                </a:solidFill>
              </a:rPr>
              <a:t>§ 152 Abs. 2 Abgabenordnung takes precedence over § 152 Abs. 1 AO (discretionary). Penalty assessment is mandatory (Muss-Vorschrift), not discretionary.</a:t>
            </a:r>
            <a:endParaRPr lang="en-US" sz="780" dirty="0"/>
          </a:p>
          <a:p>
            <a:pPr marL="342900" indent="-342900">
              <a:spcAft>
                <a:spcPts val="200"/>
              </a:spcAft>
              <a:buSzPct val="100000"/>
              <a:buChar char="•"/>
            </a:pPr>
            <a:r>
              <a:rPr lang="en-US" sz="780" dirty="0">
                <a:solidFill>
                  <a:srgbClr val="1B2E4B"/>
                </a:solidFill>
              </a:rPr>
              <a:t>§ 152 Abs. 3 AO exception (no penalty if tax is zero or negative) - assumed not to apply here.</a:t>
            </a:r>
            <a:endParaRPr lang="en-US" sz="780" dirty="0"/>
          </a:p>
          <a:p>
            <a:pPr marL="342900" indent="-342900">
              <a:spcAft>
                <a:spcPts val="200"/>
              </a:spcAft>
              <a:buSzPct val="100000"/>
              <a:buChar char="•"/>
            </a:pPr>
            <a:r>
              <a:rPr lang="en-US" sz="780" dirty="0">
                <a:solidFill>
                  <a:srgbClr val="1B2E4B"/>
                </a:solidFill>
              </a:rPr>
              <a:t>The Finanzamt (German Tax Authority) must impose the Verspätungszuschlag (late-filing surcharge).</a:t>
            </a:r>
            <a:endParaRPr lang="en-US" sz="780" dirty="0"/>
          </a:p>
        </p:txBody>
      </p:sp>
      <p:sp>
        <p:nvSpPr>
          <p:cNvPr id="23" name="Shape 21"/>
          <p:cNvSpPr/>
          <p:nvPr/>
        </p:nvSpPr>
        <p:spPr>
          <a:xfrm>
            <a:off x="411480" y="2560320"/>
            <a:ext cx="4114800" cy="1234440"/>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4" name="Shape 22"/>
          <p:cNvSpPr/>
          <p:nvPr/>
        </p:nvSpPr>
        <p:spPr>
          <a:xfrm>
            <a:off x="411480" y="2560320"/>
            <a:ext cx="36576" cy="1234440"/>
          </a:xfrm>
          <a:prstGeom prst="rect">
            <a:avLst/>
          </a:prstGeom>
          <a:solidFill>
            <a:srgbClr val="006B6B"/>
          </a:solidFill>
          <a:ln w="12700">
            <a:solidFill>
              <a:srgbClr val="006B6B"/>
            </a:solidFill>
            <a:prstDash val="solid"/>
          </a:ln>
        </p:spPr>
        <p:txBody>
          <a:bodyPr/>
          <a:lstStyle/>
          <a:p>
            <a:endParaRPr lang="en-DE"/>
          </a:p>
        </p:txBody>
      </p:sp>
      <p:sp>
        <p:nvSpPr>
          <p:cNvPr id="25" name="Text 23"/>
          <p:cNvSpPr/>
          <p:nvPr/>
        </p:nvSpPr>
        <p:spPr>
          <a:xfrm>
            <a:off x="502920" y="2624328"/>
            <a:ext cx="3950208" cy="201168"/>
          </a:xfrm>
          <a:prstGeom prst="rect">
            <a:avLst/>
          </a:prstGeom>
          <a:noFill/>
          <a:ln/>
        </p:spPr>
        <p:txBody>
          <a:bodyPr wrap="square" lIns="0" tIns="0" rIns="0" bIns="0" rtlCol="0" anchor="ctr"/>
          <a:lstStyle/>
          <a:p>
            <a:pPr marL="0" indent="0">
              <a:buNone/>
            </a:pPr>
            <a:r>
              <a:rPr lang="en-US" sz="850" b="1" dirty="0">
                <a:solidFill>
                  <a:srgbClr val="006B6B"/>
                </a:solidFill>
              </a:rPr>
              <a:t>§ 152 Abs. 5 S. 2 AO - Calculation</a:t>
            </a:r>
            <a:endParaRPr lang="en-US" sz="850" dirty="0"/>
          </a:p>
        </p:txBody>
      </p:sp>
      <p:sp>
        <p:nvSpPr>
          <p:cNvPr id="26" name="Text 24"/>
          <p:cNvSpPr/>
          <p:nvPr/>
        </p:nvSpPr>
        <p:spPr>
          <a:xfrm>
            <a:off x="502920" y="2852928"/>
            <a:ext cx="3950208" cy="914400"/>
          </a:xfrm>
          <a:prstGeom prst="rect">
            <a:avLst/>
          </a:prstGeom>
          <a:noFill/>
          <a:ln/>
        </p:spPr>
        <p:txBody>
          <a:bodyPr wrap="square" lIns="0" tIns="0" rIns="0" bIns="0" rtlCol="0" anchor="ctr"/>
          <a:lstStyle/>
          <a:p>
            <a:pPr marL="342900" indent="-342900">
              <a:spcAft>
                <a:spcPts val="200"/>
              </a:spcAft>
              <a:buSzPct val="100000"/>
              <a:buChar char="•"/>
            </a:pPr>
            <a:r>
              <a:rPr lang="en-US" sz="780" dirty="0">
                <a:solidFill>
                  <a:srgbClr val="1B2E4B"/>
                </a:solidFill>
              </a:rPr>
              <a:t>Penalty = 0.25% of assessed tax (festgesetzte Steuer) less advance payments (Vorauszahlungen) and creditable amounts, per month or part thereof.</a:t>
            </a:r>
            <a:endParaRPr lang="en-US" sz="780" dirty="0"/>
          </a:p>
          <a:p>
            <a:pPr marL="342900" indent="-342900">
              <a:spcAft>
                <a:spcPts val="200"/>
              </a:spcAft>
              <a:buSzPct val="100000"/>
              <a:buChar char="•"/>
            </a:pPr>
            <a:r>
              <a:rPr lang="en-US" sz="780" dirty="0">
                <a:solidFill>
                  <a:srgbClr val="1B2E4B"/>
                </a:solidFill>
              </a:rPr>
              <a:t>Minimum: €25 per month or fraction thereof (Mindestbetrag).</a:t>
            </a:r>
            <a:endParaRPr lang="en-US" sz="780" dirty="0"/>
          </a:p>
          <a:p>
            <a:pPr marL="342900" indent="-342900">
              <a:spcAft>
                <a:spcPts val="200"/>
              </a:spcAft>
              <a:buSzPct val="100000"/>
              <a:buChar char="•"/>
            </a:pPr>
            <a:r>
              <a:rPr lang="en-US" sz="780" dirty="0">
                <a:solidFill>
                  <a:srgbClr val="1B2E4B"/>
                </a:solidFill>
              </a:rPr>
              <a:t>Delay: August 2025 → April 2026 = 9 months → Minimum penalty: €25 × 9 = €225.</a:t>
            </a:r>
            <a:endParaRPr lang="en-US" sz="780" dirty="0"/>
          </a:p>
          <a:p>
            <a:pPr marL="342900" indent="-342900">
              <a:spcAft>
                <a:spcPts val="200"/>
              </a:spcAft>
              <a:buSzPct val="100000"/>
              <a:buChar char="•"/>
            </a:pPr>
            <a:r>
              <a:rPr lang="en-US" sz="780" dirty="0">
                <a:solidFill>
                  <a:srgbClr val="1B2E4B"/>
                </a:solidFill>
              </a:rPr>
              <a:t>If assessed tax is substantial, 0.25% × assessed tax × 9 may significantly exceed the minimum.</a:t>
            </a:r>
            <a:endParaRPr lang="en-US" sz="780" dirty="0"/>
          </a:p>
        </p:txBody>
      </p:sp>
      <p:sp>
        <p:nvSpPr>
          <p:cNvPr id="27" name="Shape 25"/>
          <p:cNvSpPr/>
          <p:nvPr/>
        </p:nvSpPr>
        <p:spPr>
          <a:xfrm>
            <a:off x="4754880" y="2560320"/>
            <a:ext cx="4114800" cy="1234440"/>
          </a:xfrm>
          <a:prstGeom prst="rect">
            <a:avLst/>
          </a:prstGeom>
          <a:solidFill>
            <a:srgbClr val="FFFFFF"/>
          </a:solidFill>
          <a:ln w="5080">
            <a:solidFill>
              <a:srgbClr val="CBD5E1"/>
            </a:solidFill>
            <a:prstDash val="solid"/>
          </a:ln>
          <a:effectLst>
            <a:outerShdw blurRad="38100" dist="12700" dir="8100000" algn="bl" rotWithShape="0">
              <a:srgbClr val="000000">
                <a:alpha val="6000"/>
              </a:srgbClr>
            </a:outerShdw>
          </a:effectLst>
        </p:spPr>
        <p:txBody>
          <a:bodyPr/>
          <a:lstStyle/>
          <a:p>
            <a:endParaRPr lang="en-DE"/>
          </a:p>
        </p:txBody>
      </p:sp>
      <p:sp>
        <p:nvSpPr>
          <p:cNvPr id="28" name="Shape 26"/>
          <p:cNvSpPr/>
          <p:nvPr/>
        </p:nvSpPr>
        <p:spPr>
          <a:xfrm>
            <a:off x="4754880" y="2560320"/>
            <a:ext cx="36576" cy="1234440"/>
          </a:xfrm>
          <a:prstGeom prst="rect">
            <a:avLst/>
          </a:prstGeom>
          <a:solidFill>
            <a:srgbClr val="006B6B"/>
          </a:solidFill>
          <a:ln w="12700">
            <a:solidFill>
              <a:srgbClr val="006B6B"/>
            </a:solidFill>
            <a:prstDash val="solid"/>
          </a:ln>
        </p:spPr>
        <p:txBody>
          <a:bodyPr/>
          <a:lstStyle/>
          <a:p>
            <a:endParaRPr lang="en-DE"/>
          </a:p>
        </p:txBody>
      </p:sp>
      <p:sp>
        <p:nvSpPr>
          <p:cNvPr id="29" name="Text 27"/>
          <p:cNvSpPr/>
          <p:nvPr/>
        </p:nvSpPr>
        <p:spPr>
          <a:xfrm>
            <a:off x="4846320" y="2624328"/>
            <a:ext cx="3950208" cy="201168"/>
          </a:xfrm>
          <a:prstGeom prst="rect">
            <a:avLst/>
          </a:prstGeom>
          <a:noFill/>
          <a:ln/>
        </p:spPr>
        <p:txBody>
          <a:bodyPr wrap="square" lIns="0" tIns="0" rIns="0" bIns="0" rtlCol="0" anchor="ctr"/>
          <a:lstStyle/>
          <a:p>
            <a:pPr marL="0" indent="0">
              <a:buNone/>
            </a:pPr>
            <a:r>
              <a:rPr lang="en-US" sz="850" b="1" dirty="0">
                <a:solidFill>
                  <a:srgbClr val="006B6B"/>
                </a:solidFill>
              </a:rPr>
              <a:t>Future Prevention</a:t>
            </a:r>
            <a:endParaRPr lang="en-US" sz="850" dirty="0"/>
          </a:p>
        </p:txBody>
      </p:sp>
      <p:sp>
        <p:nvSpPr>
          <p:cNvPr id="30" name="Text 28"/>
          <p:cNvSpPr/>
          <p:nvPr/>
        </p:nvSpPr>
        <p:spPr>
          <a:xfrm>
            <a:off x="4846320" y="2852928"/>
            <a:ext cx="3950208" cy="914400"/>
          </a:xfrm>
          <a:prstGeom prst="rect">
            <a:avLst/>
          </a:prstGeom>
          <a:noFill/>
          <a:ln/>
        </p:spPr>
        <p:txBody>
          <a:bodyPr wrap="square" lIns="0" tIns="0" rIns="0" bIns="0" rtlCol="0" anchor="ctr"/>
          <a:lstStyle/>
          <a:p>
            <a:pPr marL="342900" indent="-342900">
              <a:spcAft>
                <a:spcPts val="200"/>
              </a:spcAft>
              <a:buSzPct val="100000"/>
              <a:buChar char="•"/>
            </a:pPr>
            <a:r>
              <a:rPr lang="en-US" sz="780" dirty="0">
                <a:solidFill>
                  <a:srgbClr val="1B2E4B"/>
                </a:solidFill>
              </a:rPr>
              <a:t>Implement a formal VAT Compliance Calendar (Steuerkalender) in ERP with automated deadline alerts.</a:t>
            </a:r>
            <a:endParaRPr lang="en-US" sz="780" dirty="0"/>
          </a:p>
          <a:p>
            <a:pPr marL="342900" indent="-342900">
              <a:spcAft>
                <a:spcPts val="200"/>
              </a:spcAft>
              <a:buSzPct val="100000"/>
              <a:buChar char="•"/>
            </a:pPr>
            <a:r>
              <a:rPr lang="en-US" sz="780" dirty="0">
                <a:solidFill>
                  <a:srgbClr val="1B2E4B"/>
                </a:solidFill>
              </a:rPr>
              <a:t>Assign a named Responsible Person (Verantwortlicher) in the Tax Department for each annual filing.</a:t>
            </a:r>
            <a:endParaRPr lang="en-US" sz="780" dirty="0"/>
          </a:p>
          <a:p>
            <a:pPr marL="342900" indent="-342900">
              <a:spcAft>
                <a:spcPts val="200"/>
              </a:spcAft>
              <a:buSzPct val="100000"/>
              <a:buChar char="•"/>
            </a:pPr>
            <a:r>
              <a:rPr lang="en-US" sz="780" dirty="0">
                <a:solidFill>
                  <a:srgbClr val="1B2E4B"/>
                </a:solidFill>
              </a:rPr>
              <a:t>Conduct quarterly internal compliance status reviews against all AO deadlines.</a:t>
            </a:r>
            <a:endParaRPr lang="en-US" sz="780" dirty="0"/>
          </a:p>
          <a:p>
            <a:pPr marL="342900" indent="-342900">
              <a:spcAft>
                <a:spcPts val="200"/>
              </a:spcAft>
              <a:buSzPct val="100000"/>
              <a:buChar char="•"/>
            </a:pPr>
            <a:r>
              <a:rPr lang="en-US" sz="780" dirty="0">
                <a:solidFill>
                  <a:srgbClr val="1B2E4B"/>
                </a:solidFill>
              </a:rPr>
              <a:t>Consider whether mandating a Steuerberater for annual returns is cost-effective vs. penalty risk.</a:t>
            </a:r>
            <a:endParaRPr lang="en-US" sz="7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6400800" y="100584"/>
            <a:ext cx="1280160" cy="292608"/>
          </a:xfrm>
          <a:prstGeom prst="rect">
            <a:avLst/>
          </a:prstGeom>
          <a:solidFill>
            <a:srgbClr val="C0392B"/>
          </a:solidFill>
          <a:ln w="12700">
            <a:solidFill>
              <a:srgbClr val="C0392B"/>
            </a:solidFill>
            <a:prstDash val="solid"/>
          </a:ln>
        </p:spPr>
        <p:txBody>
          <a:bodyPr/>
          <a:lstStyle/>
          <a:p>
            <a:endParaRPr lang="en-DE"/>
          </a:p>
        </p:txBody>
      </p:sp>
      <p:sp>
        <p:nvSpPr>
          <p:cNvPr id="4" name="Text 2"/>
          <p:cNvSpPr/>
          <p:nvPr/>
        </p:nvSpPr>
        <p:spPr>
          <a:xfrm>
            <a:off x="6400800" y="100584"/>
            <a:ext cx="1280160" cy="292608"/>
          </a:xfrm>
          <a:prstGeom prst="rect">
            <a:avLst/>
          </a:prstGeom>
          <a:noFill/>
          <a:ln/>
        </p:spPr>
        <p:txBody>
          <a:bodyPr wrap="square" lIns="0" tIns="0" rIns="0" bIns="0" rtlCol="0" anchor="ctr"/>
          <a:lstStyle/>
          <a:p>
            <a:pPr marL="0" indent="0" algn="ctr">
              <a:buNone/>
            </a:pPr>
            <a:r>
              <a:rPr lang="en-US" sz="750" b="1" dirty="0">
                <a:solidFill>
                  <a:srgbClr val="FFFFFF"/>
                </a:solidFill>
              </a:rPr>
              <a:t>RISK: HIGH</a:t>
            </a:r>
            <a:endParaRPr lang="en-US" sz="750" dirty="0"/>
          </a:p>
        </p:txBody>
      </p:sp>
      <p:sp>
        <p:nvSpPr>
          <p:cNvPr id="5" name="Shape 3"/>
          <p:cNvSpPr/>
          <p:nvPr/>
        </p:nvSpPr>
        <p:spPr>
          <a:xfrm>
            <a:off x="7772400" y="100584"/>
            <a:ext cx="1234440" cy="292608"/>
          </a:xfrm>
          <a:prstGeom prst="rect">
            <a:avLst/>
          </a:prstGeom>
          <a:solidFill>
            <a:srgbClr val="C0392B"/>
          </a:solidFill>
          <a:ln w="12700">
            <a:solidFill>
              <a:srgbClr val="C0392B"/>
            </a:solidFill>
            <a:prstDash val="solid"/>
          </a:ln>
        </p:spPr>
        <p:txBody>
          <a:bodyPr/>
          <a:lstStyle/>
          <a:p>
            <a:endParaRPr lang="en-DE"/>
          </a:p>
        </p:txBody>
      </p:sp>
      <p:sp>
        <p:nvSpPr>
          <p:cNvPr id="6" name="Text 4"/>
          <p:cNvSpPr/>
          <p:nvPr/>
        </p:nvSpPr>
        <p:spPr>
          <a:xfrm>
            <a:off x="7772400" y="100584"/>
            <a:ext cx="1234440" cy="292608"/>
          </a:xfrm>
          <a:prstGeom prst="rect">
            <a:avLst/>
          </a:prstGeom>
          <a:noFill/>
          <a:ln/>
        </p:spPr>
        <p:txBody>
          <a:bodyPr wrap="square" lIns="0" tIns="0" rIns="0" bIns="0" rtlCol="0" anchor="ctr"/>
          <a:lstStyle/>
          <a:p>
            <a:pPr marL="0" indent="0" algn="ctr">
              <a:buNone/>
            </a:pPr>
            <a:r>
              <a:rPr lang="en-US" sz="750" b="1" dirty="0">
                <a:solidFill>
                  <a:srgbClr val="FFFFFF"/>
                </a:solidFill>
              </a:rPr>
              <a:t>PRIORITY: HIGH</a:t>
            </a:r>
            <a:endParaRPr lang="en-US" sz="750" dirty="0"/>
          </a:p>
        </p:txBody>
      </p:sp>
      <p:sp>
        <p:nvSpPr>
          <p:cNvPr id="7" name="Shape 5"/>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8" name="Text 6"/>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9" name="Text 7"/>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COMPLIANCE</a:t>
            </a:r>
            <a:endParaRPr lang="en-US" sz="700" dirty="0"/>
          </a:p>
        </p:txBody>
      </p:sp>
      <p:sp>
        <p:nvSpPr>
          <p:cNvPr id="10" name="Text 8"/>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16 / 23</a:t>
            </a:r>
            <a:endParaRPr lang="en-US" sz="700" dirty="0"/>
          </a:p>
        </p:txBody>
      </p:sp>
      <p:sp>
        <p:nvSpPr>
          <p:cNvPr id="11" name="Text 9"/>
          <p:cNvSpPr/>
          <p:nvPr/>
        </p:nvSpPr>
        <p:spPr>
          <a:xfrm>
            <a:off x="411480" y="137160"/>
            <a:ext cx="6400800" cy="201168"/>
          </a:xfrm>
          <a:prstGeom prst="rect">
            <a:avLst/>
          </a:prstGeom>
          <a:noFill/>
          <a:ln/>
        </p:spPr>
        <p:txBody>
          <a:bodyPr wrap="square" lIns="0" tIns="0" rIns="0" bIns="0" rtlCol="0" anchor="ctr"/>
          <a:lstStyle/>
          <a:p>
            <a:r>
              <a:rPr lang="en-US" sz="800" b="1" kern="0" spc="200" dirty="0">
                <a:solidFill>
                  <a:srgbClr val="006B6B"/>
                </a:solidFill>
              </a:rPr>
              <a:t>04 | Compliance Issues</a:t>
            </a:r>
            <a:endParaRPr lang="en-US" sz="800" dirty="0"/>
          </a:p>
        </p:txBody>
      </p:sp>
      <p:sp>
        <p:nvSpPr>
          <p:cNvPr id="12" name="Text 10"/>
          <p:cNvSpPr/>
          <p:nvPr/>
        </p:nvSpPr>
        <p:spPr>
          <a:xfrm>
            <a:off x="411480" y="338328"/>
            <a:ext cx="8046720" cy="502920"/>
          </a:xfrm>
          <a:prstGeom prst="rect">
            <a:avLst/>
          </a:prstGeom>
          <a:noFill/>
          <a:ln/>
        </p:spPr>
        <p:txBody>
          <a:bodyPr wrap="square" lIns="0" tIns="0" rIns="0" bIns="0" rtlCol="0" anchor="ctr"/>
          <a:lstStyle/>
          <a:p>
            <a:pPr marL="0" indent="0">
              <a:buNone/>
            </a:pPr>
            <a:r>
              <a:rPr lang="en-US" sz="2100" b="1" dirty="0">
                <a:solidFill>
                  <a:srgbClr val="0A1628"/>
                </a:solidFill>
              </a:rPr>
              <a:t>E-Invoicing Obligations - Strabam AG</a:t>
            </a:r>
            <a:endParaRPr lang="en-US" sz="2100" dirty="0"/>
          </a:p>
        </p:txBody>
      </p:sp>
      <p:sp>
        <p:nvSpPr>
          <p:cNvPr id="13" name="Text 11"/>
          <p:cNvSpPr/>
          <p:nvPr/>
        </p:nvSpPr>
        <p:spPr>
          <a:xfrm>
            <a:off x="411480" y="868680"/>
            <a:ext cx="8503920" cy="219456"/>
          </a:xfrm>
          <a:prstGeom prst="rect">
            <a:avLst/>
          </a:prstGeom>
          <a:noFill/>
          <a:ln/>
        </p:spPr>
        <p:txBody>
          <a:bodyPr wrap="square" lIns="0" tIns="0" rIns="0" bIns="0" rtlCol="0" anchor="ctr"/>
          <a:lstStyle/>
          <a:p>
            <a:pPr marL="0" indent="0">
              <a:buNone/>
            </a:pPr>
            <a:r>
              <a:rPr lang="en-US" sz="900" i="1" dirty="0">
                <a:solidFill>
                  <a:srgbClr val="64748B"/>
                </a:solidFill>
              </a:rPr>
              <a:t>§ 14 Abs. 2 UStG  |  § 27 Abs. 38 UStG  |  Transitional provisions  |  European Standard EN 16931</a:t>
            </a:r>
            <a:endParaRPr lang="en-US" sz="900" dirty="0"/>
          </a:p>
        </p:txBody>
      </p:sp>
      <p:sp>
        <p:nvSpPr>
          <p:cNvPr id="14" name="Shape 12"/>
          <p:cNvSpPr/>
          <p:nvPr/>
        </p:nvSpPr>
        <p:spPr>
          <a:xfrm>
            <a:off x="411480" y="1115568"/>
            <a:ext cx="8503920" cy="0"/>
          </a:xfrm>
          <a:prstGeom prst="line">
            <a:avLst/>
          </a:prstGeom>
          <a:noFill/>
          <a:ln w="6350">
            <a:solidFill>
              <a:srgbClr val="CBD5E1"/>
            </a:solidFill>
            <a:prstDash val="solid"/>
          </a:ln>
        </p:spPr>
        <p:txBody>
          <a:bodyPr/>
          <a:lstStyle/>
          <a:p>
            <a:endParaRPr lang="en-DE"/>
          </a:p>
        </p:txBody>
      </p:sp>
      <p:sp>
        <p:nvSpPr>
          <p:cNvPr id="15" name="Shape 13"/>
          <p:cNvSpPr/>
          <p:nvPr/>
        </p:nvSpPr>
        <p:spPr>
          <a:xfrm>
            <a:off x="640080" y="2084832"/>
            <a:ext cx="8229600" cy="0"/>
          </a:xfrm>
          <a:prstGeom prst="line">
            <a:avLst/>
          </a:prstGeom>
          <a:noFill/>
          <a:ln w="25400">
            <a:solidFill>
              <a:srgbClr val="2C4A6E"/>
            </a:solidFill>
            <a:prstDash val="solid"/>
          </a:ln>
        </p:spPr>
        <p:txBody>
          <a:bodyPr/>
          <a:lstStyle/>
          <a:p>
            <a:endParaRPr lang="en-DE"/>
          </a:p>
        </p:txBody>
      </p:sp>
      <p:sp>
        <p:nvSpPr>
          <p:cNvPr id="16" name="Shape 14"/>
          <p:cNvSpPr/>
          <p:nvPr/>
        </p:nvSpPr>
        <p:spPr>
          <a:xfrm>
            <a:off x="1188720" y="1984248"/>
            <a:ext cx="201168" cy="201168"/>
          </a:xfrm>
          <a:prstGeom prst="ellipse">
            <a:avLst/>
          </a:prstGeom>
          <a:solidFill>
            <a:srgbClr val="C0392B"/>
          </a:solidFill>
          <a:ln w="12700">
            <a:solidFill>
              <a:srgbClr val="C0392B"/>
            </a:solidFill>
            <a:prstDash val="solid"/>
          </a:ln>
        </p:spPr>
        <p:txBody>
          <a:bodyPr/>
          <a:lstStyle/>
          <a:p>
            <a:endParaRPr lang="en-DE"/>
          </a:p>
        </p:txBody>
      </p:sp>
      <p:sp>
        <p:nvSpPr>
          <p:cNvPr id="17" name="Text 15"/>
          <p:cNvSpPr/>
          <p:nvPr/>
        </p:nvSpPr>
        <p:spPr>
          <a:xfrm>
            <a:off x="640080" y="2176272"/>
            <a:ext cx="1371600" cy="182880"/>
          </a:xfrm>
          <a:prstGeom prst="rect">
            <a:avLst/>
          </a:prstGeom>
          <a:noFill/>
          <a:ln/>
        </p:spPr>
        <p:txBody>
          <a:bodyPr wrap="square" lIns="0" tIns="0" rIns="0" bIns="0" rtlCol="0" anchor="ctr"/>
          <a:lstStyle/>
          <a:p>
            <a:pPr marL="0" indent="0" algn="ctr">
              <a:buNone/>
            </a:pPr>
            <a:r>
              <a:rPr lang="en-US" sz="750" b="1" dirty="0">
                <a:solidFill>
                  <a:srgbClr val="C0392B"/>
                </a:solidFill>
              </a:rPr>
              <a:t>01.01.2025</a:t>
            </a:r>
            <a:endParaRPr lang="en-US" sz="750" dirty="0"/>
          </a:p>
        </p:txBody>
      </p:sp>
      <p:sp>
        <p:nvSpPr>
          <p:cNvPr id="18" name="Shape 16"/>
          <p:cNvSpPr/>
          <p:nvPr/>
        </p:nvSpPr>
        <p:spPr>
          <a:xfrm>
            <a:off x="685800" y="1207008"/>
            <a:ext cx="1261872" cy="749808"/>
          </a:xfrm>
          <a:prstGeom prst="rect">
            <a:avLst/>
          </a:prstGeom>
          <a:solidFill>
            <a:srgbClr val="FEF2F2"/>
          </a:solidFill>
          <a:ln w="889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19" name="Shape 17"/>
          <p:cNvSpPr/>
          <p:nvPr/>
        </p:nvSpPr>
        <p:spPr>
          <a:xfrm>
            <a:off x="685800" y="1207008"/>
            <a:ext cx="1261872" cy="45720"/>
          </a:xfrm>
          <a:prstGeom prst="rect">
            <a:avLst/>
          </a:prstGeom>
          <a:solidFill>
            <a:srgbClr val="C0392B"/>
          </a:solidFill>
          <a:ln w="12700">
            <a:solidFill>
              <a:srgbClr val="C0392B"/>
            </a:solidFill>
            <a:prstDash val="solid"/>
          </a:ln>
        </p:spPr>
        <p:txBody>
          <a:bodyPr/>
          <a:lstStyle/>
          <a:p>
            <a:endParaRPr lang="en-DE"/>
          </a:p>
        </p:txBody>
      </p:sp>
      <p:sp>
        <p:nvSpPr>
          <p:cNvPr id="20" name="Text 18"/>
          <p:cNvSpPr/>
          <p:nvPr/>
        </p:nvSpPr>
        <p:spPr>
          <a:xfrm>
            <a:off x="731520" y="1261872"/>
            <a:ext cx="1170432" cy="310896"/>
          </a:xfrm>
          <a:prstGeom prst="rect">
            <a:avLst/>
          </a:prstGeom>
          <a:noFill/>
          <a:ln/>
        </p:spPr>
        <p:txBody>
          <a:bodyPr wrap="square" lIns="0" tIns="0" rIns="0" bIns="0" rtlCol="0" anchor="ctr"/>
          <a:lstStyle/>
          <a:p>
            <a:pPr marL="0" indent="0">
              <a:buNone/>
            </a:pPr>
            <a:r>
              <a:rPr lang="en-US" sz="750" b="1" dirty="0">
                <a:solidFill>
                  <a:srgbClr val="C0392B"/>
                </a:solidFill>
              </a:rPr>
              <a:t>RECEIVE</a:t>
            </a:r>
            <a:endParaRPr lang="en-US" sz="750" dirty="0"/>
          </a:p>
          <a:p>
            <a:pPr marL="0" indent="0">
              <a:buNone/>
            </a:pPr>
            <a:r>
              <a:rPr lang="en-US" sz="750" b="1" dirty="0">
                <a:solidFill>
                  <a:srgbClr val="C0392B"/>
                </a:solidFill>
              </a:rPr>
              <a:t>E-Invoices</a:t>
            </a:r>
            <a:endParaRPr lang="en-US" sz="750" dirty="0"/>
          </a:p>
        </p:txBody>
      </p:sp>
      <p:sp>
        <p:nvSpPr>
          <p:cNvPr id="21" name="Text 19"/>
          <p:cNvSpPr/>
          <p:nvPr/>
        </p:nvSpPr>
        <p:spPr>
          <a:xfrm>
            <a:off x="731520" y="1572768"/>
            <a:ext cx="1170432" cy="365760"/>
          </a:xfrm>
          <a:prstGeom prst="rect">
            <a:avLst/>
          </a:prstGeom>
          <a:noFill/>
          <a:ln/>
        </p:spPr>
        <p:txBody>
          <a:bodyPr wrap="square" lIns="0" tIns="0" rIns="0" bIns="0" rtlCol="0" anchor="ctr"/>
          <a:lstStyle/>
          <a:p>
            <a:pPr marL="0" indent="0">
              <a:buNone/>
            </a:pPr>
            <a:r>
              <a:rPr lang="en-US" sz="700" dirty="0">
                <a:solidFill>
                  <a:srgbClr val="64748B"/>
                </a:solidFill>
              </a:rPr>
              <a:t>Obligation active NOW</a:t>
            </a:r>
            <a:endParaRPr lang="en-US" sz="700" dirty="0"/>
          </a:p>
          <a:p>
            <a:pPr marL="0" indent="0">
              <a:buNone/>
            </a:pPr>
            <a:r>
              <a:rPr lang="en-US" sz="700" dirty="0">
                <a:solidFill>
                  <a:srgbClr val="64748B"/>
                </a:solidFill>
              </a:rPr>
              <a:t>Strabam AG NOT YET</a:t>
            </a:r>
            <a:endParaRPr lang="en-US" sz="700" dirty="0"/>
          </a:p>
          <a:p>
            <a:pPr marL="0" indent="0">
              <a:buNone/>
            </a:pPr>
            <a:r>
              <a:rPr lang="en-US" sz="700" dirty="0">
                <a:solidFill>
                  <a:srgbClr val="64748B"/>
                </a:solidFill>
              </a:rPr>
              <a:t>compliant - URGENT</a:t>
            </a:r>
            <a:endParaRPr lang="en-US" sz="700" dirty="0"/>
          </a:p>
        </p:txBody>
      </p:sp>
      <p:sp>
        <p:nvSpPr>
          <p:cNvPr id="22" name="Shape 20"/>
          <p:cNvSpPr/>
          <p:nvPr/>
        </p:nvSpPr>
        <p:spPr>
          <a:xfrm>
            <a:off x="3154680" y="1984248"/>
            <a:ext cx="201168" cy="201168"/>
          </a:xfrm>
          <a:prstGeom prst="ellipse">
            <a:avLst/>
          </a:prstGeom>
          <a:solidFill>
            <a:srgbClr val="D97706"/>
          </a:solidFill>
          <a:ln w="12700">
            <a:solidFill>
              <a:srgbClr val="D97706"/>
            </a:solidFill>
            <a:prstDash val="solid"/>
          </a:ln>
        </p:spPr>
        <p:txBody>
          <a:bodyPr/>
          <a:lstStyle/>
          <a:p>
            <a:endParaRPr lang="en-DE"/>
          </a:p>
        </p:txBody>
      </p:sp>
      <p:sp>
        <p:nvSpPr>
          <p:cNvPr id="23" name="Text 21"/>
          <p:cNvSpPr/>
          <p:nvPr/>
        </p:nvSpPr>
        <p:spPr>
          <a:xfrm>
            <a:off x="2606040" y="2176272"/>
            <a:ext cx="1371600" cy="182880"/>
          </a:xfrm>
          <a:prstGeom prst="rect">
            <a:avLst/>
          </a:prstGeom>
          <a:noFill/>
          <a:ln/>
        </p:spPr>
        <p:txBody>
          <a:bodyPr wrap="square" lIns="0" tIns="0" rIns="0" bIns="0" rtlCol="0" anchor="ctr"/>
          <a:lstStyle/>
          <a:p>
            <a:pPr marL="0" indent="0" algn="ctr">
              <a:buNone/>
            </a:pPr>
            <a:r>
              <a:rPr lang="en-US" sz="750" b="1" dirty="0">
                <a:solidFill>
                  <a:srgbClr val="D97706"/>
                </a:solidFill>
              </a:rPr>
              <a:t>31.12.2026</a:t>
            </a:r>
            <a:endParaRPr lang="en-US" sz="750" dirty="0"/>
          </a:p>
        </p:txBody>
      </p:sp>
      <p:sp>
        <p:nvSpPr>
          <p:cNvPr id="24" name="Shape 22"/>
          <p:cNvSpPr/>
          <p:nvPr/>
        </p:nvSpPr>
        <p:spPr>
          <a:xfrm>
            <a:off x="2651760" y="1207008"/>
            <a:ext cx="1261872" cy="749808"/>
          </a:xfrm>
          <a:prstGeom prst="rect">
            <a:avLst/>
          </a:prstGeom>
          <a:solidFill>
            <a:srgbClr val="FFFFFF"/>
          </a:solidFill>
          <a:ln w="8890">
            <a:solidFill>
              <a:srgbClr val="D97706"/>
            </a:solidFill>
            <a:prstDash val="solid"/>
          </a:ln>
          <a:effectLst>
            <a:outerShdw blurRad="38100" dist="12700" dir="8100000" algn="bl" rotWithShape="0">
              <a:srgbClr val="000000">
                <a:alpha val="6000"/>
              </a:srgbClr>
            </a:outerShdw>
          </a:effectLst>
        </p:spPr>
        <p:txBody>
          <a:bodyPr/>
          <a:lstStyle/>
          <a:p>
            <a:endParaRPr lang="en-DE"/>
          </a:p>
        </p:txBody>
      </p:sp>
      <p:sp>
        <p:nvSpPr>
          <p:cNvPr id="25" name="Shape 23"/>
          <p:cNvSpPr/>
          <p:nvPr/>
        </p:nvSpPr>
        <p:spPr>
          <a:xfrm>
            <a:off x="2651760" y="1207008"/>
            <a:ext cx="1261872" cy="45720"/>
          </a:xfrm>
          <a:prstGeom prst="rect">
            <a:avLst/>
          </a:prstGeom>
          <a:solidFill>
            <a:srgbClr val="D97706"/>
          </a:solidFill>
          <a:ln w="12700">
            <a:solidFill>
              <a:srgbClr val="D97706"/>
            </a:solidFill>
            <a:prstDash val="solid"/>
          </a:ln>
        </p:spPr>
        <p:txBody>
          <a:bodyPr/>
          <a:lstStyle/>
          <a:p>
            <a:endParaRPr lang="en-DE"/>
          </a:p>
        </p:txBody>
      </p:sp>
      <p:sp>
        <p:nvSpPr>
          <p:cNvPr id="26" name="Text 24"/>
          <p:cNvSpPr/>
          <p:nvPr/>
        </p:nvSpPr>
        <p:spPr>
          <a:xfrm>
            <a:off x="2697480" y="1261872"/>
            <a:ext cx="1170432" cy="310896"/>
          </a:xfrm>
          <a:prstGeom prst="rect">
            <a:avLst/>
          </a:prstGeom>
          <a:noFill/>
          <a:ln/>
        </p:spPr>
        <p:txBody>
          <a:bodyPr wrap="square" lIns="0" tIns="0" rIns="0" bIns="0" rtlCol="0" anchor="ctr"/>
          <a:lstStyle/>
          <a:p>
            <a:pPr marL="0" indent="0">
              <a:buNone/>
            </a:pPr>
            <a:r>
              <a:rPr lang="en-US" sz="750" b="1" dirty="0">
                <a:solidFill>
                  <a:srgbClr val="D97706"/>
                </a:solidFill>
              </a:rPr>
              <a:t>Issue: Paper</a:t>
            </a:r>
            <a:endParaRPr lang="en-US" sz="750" dirty="0"/>
          </a:p>
          <a:p>
            <a:pPr marL="0" indent="0">
              <a:buNone/>
            </a:pPr>
            <a:r>
              <a:rPr lang="en-US" sz="750" b="1" dirty="0">
                <a:solidFill>
                  <a:srgbClr val="D97706"/>
                </a:solidFill>
              </a:rPr>
              <a:t>Still Permitted</a:t>
            </a:r>
            <a:endParaRPr lang="en-US" sz="750" dirty="0"/>
          </a:p>
        </p:txBody>
      </p:sp>
      <p:sp>
        <p:nvSpPr>
          <p:cNvPr id="27" name="Text 25"/>
          <p:cNvSpPr/>
          <p:nvPr/>
        </p:nvSpPr>
        <p:spPr>
          <a:xfrm>
            <a:off x="2697480" y="1572768"/>
            <a:ext cx="1170432" cy="365760"/>
          </a:xfrm>
          <a:prstGeom prst="rect">
            <a:avLst/>
          </a:prstGeom>
          <a:noFill/>
          <a:ln/>
        </p:spPr>
        <p:txBody>
          <a:bodyPr wrap="square" lIns="0" tIns="0" rIns="0" bIns="0" rtlCol="0" anchor="ctr"/>
          <a:lstStyle/>
          <a:p>
            <a:pPr marL="0" indent="0">
              <a:buNone/>
            </a:pPr>
            <a:r>
              <a:rPr lang="en-US" sz="700" dirty="0">
                <a:solidFill>
                  <a:srgbClr val="64748B"/>
                </a:solidFill>
              </a:rPr>
              <a:t>Transitional rule</a:t>
            </a:r>
            <a:endParaRPr lang="en-US" sz="700" dirty="0"/>
          </a:p>
          <a:p>
            <a:pPr marL="0" indent="0">
              <a:buNone/>
            </a:pPr>
            <a:r>
              <a:rPr lang="en-US" sz="700" dirty="0">
                <a:solidFill>
                  <a:srgbClr val="64748B"/>
                </a:solidFill>
              </a:rPr>
              <a:t>§ 27 Abs. 38 Nr. 1</a:t>
            </a:r>
            <a:endParaRPr lang="en-US" sz="700" dirty="0"/>
          </a:p>
          <a:p>
            <a:pPr marL="0" indent="0">
              <a:buNone/>
            </a:pPr>
            <a:r>
              <a:rPr lang="en-US" sz="700" dirty="0">
                <a:solidFill>
                  <a:srgbClr val="64748B"/>
                </a:solidFill>
              </a:rPr>
              <a:t>Paper OK until end 2026</a:t>
            </a:r>
            <a:endParaRPr lang="en-US" sz="700" dirty="0"/>
          </a:p>
        </p:txBody>
      </p:sp>
      <p:sp>
        <p:nvSpPr>
          <p:cNvPr id="28" name="Shape 26"/>
          <p:cNvSpPr/>
          <p:nvPr/>
        </p:nvSpPr>
        <p:spPr>
          <a:xfrm>
            <a:off x="5577840" y="1984248"/>
            <a:ext cx="201168" cy="201168"/>
          </a:xfrm>
          <a:prstGeom prst="ellipse">
            <a:avLst/>
          </a:prstGeom>
          <a:solidFill>
            <a:srgbClr val="C0392B"/>
          </a:solidFill>
          <a:ln w="12700">
            <a:solidFill>
              <a:srgbClr val="C0392B"/>
            </a:solidFill>
            <a:prstDash val="solid"/>
          </a:ln>
        </p:spPr>
        <p:txBody>
          <a:bodyPr/>
          <a:lstStyle/>
          <a:p>
            <a:endParaRPr lang="en-DE"/>
          </a:p>
        </p:txBody>
      </p:sp>
      <p:sp>
        <p:nvSpPr>
          <p:cNvPr id="29" name="Text 27"/>
          <p:cNvSpPr/>
          <p:nvPr/>
        </p:nvSpPr>
        <p:spPr>
          <a:xfrm>
            <a:off x="5029200" y="2176272"/>
            <a:ext cx="1371600" cy="182880"/>
          </a:xfrm>
          <a:prstGeom prst="rect">
            <a:avLst/>
          </a:prstGeom>
          <a:noFill/>
          <a:ln/>
        </p:spPr>
        <p:txBody>
          <a:bodyPr wrap="square" lIns="0" tIns="0" rIns="0" bIns="0" rtlCol="0" anchor="ctr"/>
          <a:lstStyle/>
          <a:p>
            <a:pPr marL="0" indent="0" algn="ctr">
              <a:buNone/>
            </a:pPr>
            <a:r>
              <a:rPr lang="en-US" sz="750" b="1" dirty="0">
                <a:solidFill>
                  <a:srgbClr val="C0392B"/>
                </a:solidFill>
              </a:rPr>
              <a:t>01.01.2027</a:t>
            </a:r>
            <a:endParaRPr lang="en-US" sz="750" dirty="0"/>
          </a:p>
        </p:txBody>
      </p:sp>
      <p:sp>
        <p:nvSpPr>
          <p:cNvPr id="30" name="Shape 28"/>
          <p:cNvSpPr/>
          <p:nvPr/>
        </p:nvSpPr>
        <p:spPr>
          <a:xfrm>
            <a:off x="5074920" y="1207008"/>
            <a:ext cx="1261872" cy="749808"/>
          </a:xfrm>
          <a:prstGeom prst="rect">
            <a:avLst/>
          </a:prstGeom>
          <a:solidFill>
            <a:srgbClr val="FEF2F2"/>
          </a:solidFill>
          <a:ln w="889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31" name="Shape 29"/>
          <p:cNvSpPr/>
          <p:nvPr/>
        </p:nvSpPr>
        <p:spPr>
          <a:xfrm>
            <a:off x="5074920" y="1207008"/>
            <a:ext cx="1261872" cy="45720"/>
          </a:xfrm>
          <a:prstGeom prst="rect">
            <a:avLst/>
          </a:prstGeom>
          <a:solidFill>
            <a:srgbClr val="C0392B"/>
          </a:solidFill>
          <a:ln w="12700">
            <a:solidFill>
              <a:srgbClr val="C0392B"/>
            </a:solidFill>
            <a:prstDash val="solid"/>
          </a:ln>
        </p:spPr>
        <p:txBody>
          <a:bodyPr/>
          <a:lstStyle/>
          <a:p>
            <a:endParaRPr lang="en-DE"/>
          </a:p>
        </p:txBody>
      </p:sp>
      <p:sp>
        <p:nvSpPr>
          <p:cNvPr id="32" name="Text 30"/>
          <p:cNvSpPr/>
          <p:nvPr/>
        </p:nvSpPr>
        <p:spPr>
          <a:xfrm>
            <a:off x="5120640" y="1261872"/>
            <a:ext cx="1170432" cy="310896"/>
          </a:xfrm>
          <a:prstGeom prst="rect">
            <a:avLst/>
          </a:prstGeom>
          <a:noFill/>
          <a:ln/>
        </p:spPr>
        <p:txBody>
          <a:bodyPr wrap="square" lIns="0" tIns="0" rIns="0" bIns="0" rtlCol="0" anchor="ctr"/>
          <a:lstStyle/>
          <a:p>
            <a:pPr marL="0" indent="0">
              <a:buNone/>
            </a:pPr>
            <a:r>
              <a:rPr lang="en-US" sz="750" b="1" dirty="0">
                <a:solidFill>
                  <a:srgbClr val="C0392B"/>
                </a:solidFill>
              </a:rPr>
              <a:t>ISSUE</a:t>
            </a:r>
            <a:endParaRPr lang="en-US" sz="750" dirty="0"/>
          </a:p>
          <a:p>
            <a:pPr marL="0" indent="0">
              <a:buNone/>
            </a:pPr>
            <a:r>
              <a:rPr lang="en-US" sz="750" b="1" dirty="0">
                <a:solidFill>
                  <a:srgbClr val="C0392B"/>
                </a:solidFill>
              </a:rPr>
              <a:t>E-Invoices</a:t>
            </a:r>
            <a:endParaRPr lang="en-US" sz="750" dirty="0"/>
          </a:p>
        </p:txBody>
      </p:sp>
      <p:sp>
        <p:nvSpPr>
          <p:cNvPr id="33" name="Text 31"/>
          <p:cNvSpPr/>
          <p:nvPr/>
        </p:nvSpPr>
        <p:spPr>
          <a:xfrm>
            <a:off x="5120640" y="1572768"/>
            <a:ext cx="1170432" cy="365760"/>
          </a:xfrm>
          <a:prstGeom prst="rect">
            <a:avLst/>
          </a:prstGeom>
          <a:noFill/>
          <a:ln/>
        </p:spPr>
        <p:txBody>
          <a:bodyPr wrap="square" lIns="0" tIns="0" rIns="0" bIns="0" rtlCol="0" anchor="ctr"/>
          <a:lstStyle/>
          <a:p>
            <a:pPr marL="0" indent="0">
              <a:buNone/>
            </a:pPr>
            <a:r>
              <a:rPr lang="en-US" sz="700" dirty="0">
                <a:solidFill>
                  <a:srgbClr val="64748B"/>
                </a:solidFill>
              </a:rPr>
              <a:t>Turnover &gt;€800K</a:t>
            </a:r>
            <a:endParaRPr lang="en-US" sz="700" dirty="0"/>
          </a:p>
          <a:p>
            <a:pPr marL="0" indent="0">
              <a:buNone/>
            </a:pPr>
            <a:r>
              <a:rPr lang="en-US" sz="700" dirty="0">
                <a:solidFill>
                  <a:srgbClr val="64748B"/>
                </a:solidFill>
              </a:rPr>
              <a:t>Strabam AG (€5M)</a:t>
            </a:r>
            <a:endParaRPr lang="en-US" sz="700" dirty="0"/>
          </a:p>
          <a:p>
            <a:pPr marL="0" indent="0">
              <a:buNone/>
            </a:pPr>
            <a:r>
              <a:rPr lang="en-US" sz="700" dirty="0">
                <a:solidFill>
                  <a:srgbClr val="64748B"/>
                </a:solidFill>
              </a:rPr>
              <a:t>MUST issue e-invoices</a:t>
            </a:r>
            <a:endParaRPr lang="en-US" sz="700" dirty="0"/>
          </a:p>
        </p:txBody>
      </p:sp>
      <p:sp>
        <p:nvSpPr>
          <p:cNvPr id="34" name="Shape 32"/>
          <p:cNvSpPr/>
          <p:nvPr/>
        </p:nvSpPr>
        <p:spPr>
          <a:xfrm>
            <a:off x="7543800" y="1984248"/>
            <a:ext cx="201168" cy="201168"/>
          </a:xfrm>
          <a:prstGeom prst="ellipse">
            <a:avLst/>
          </a:prstGeom>
          <a:solidFill>
            <a:srgbClr val="0A1628"/>
          </a:solidFill>
          <a:ln w="12700">
            <a:solidFill>
              <a:srgbClr val="0A1628"/>
            </a:solidFill>
            <a:prstDash val="solid"/>
          </a:ln>
        </p:spPr>
        <p:txBody>
          <a:bodyPr/>
          <a:lstStyle/>
          <a:p>
            <a:endParaRPr lang="en-DE"/>
          </a:p>
        </p:txBody>
      </p:sp>
      <p:sp>
        <p:nvSpPr>
          <p:cNvPr id="35" name="Text 33"/>
          <p:cNvSpPr/>
          <p:nvPr/>
        </p:nvSpPr>
        <p:spPr>
          <a:xfrm>
            <a:off x="6995160" y="2176272"/>
            <a:ext cx="1371600" cy="182880"/>
          </a:xfrm>
          <a:prstGeom prst="rect">
            <a:avLst/>
          </a:prstGeom>
          <a:noFill/>
          <a:ln/>
        </p:spPr>
        <p:txBody>
          <a:bodyPr wrap="square" lIns="0" tIns="0" rIns="0" bIns="0" rtlCol="0" anchor="ctr"/>
          <a:lstStyle/>
          <a:p>
            <a:pPr marL="0" indent="0" algn="ctr">
              <a:buNone/>
            </a:pPr>
            <a:r>
              <a:rPr lang="en-US" sz="750" b="1" dirty="0">
                <a:solidFill>
                  <a:srgbClr val="0A1628"/>
                </a:solidFill>
              </a:rPr>
              <a:t>01.01.2028</a:t>
            </a:r>
            <a:endParaRPr lang="en-US" sz="750" dirty="0"/>
          </a:p>
        </p:txBody>
      </p:sp>
      <p:sp>
        <p:nvSpPr>
          <p:cNvPr id="36" name="Shape 34"/>
          <p:cNvSpPr/>
          <p:nvPr/>
        </p:nvSpPr>
        <p:spPr>
          <a:xfrm>
            <a:off x="7040880" y="1207008"/>
            <a:ext cx="1261872" cy="749808"/>
          </a:xfrm>
          <a:prstGeom prst="rect">
            <a:avLst/>
          </a:prstGeom>
          <a:solidFill>
            <a:srgbClr val="FFFFFF"/>
          </a:solidFill>
          <a:ln w="8890">
            <a:solidFill>
              <a:srgbClr val="0A1628"/>
            </a:solidFill>
            <a:prstDash val="solid"/>
          </a:ln>
          <a:effectLst>
            <a:outerShdw blurRad="38100" dist="12700" dir="8100000" algn="bl" rotWithShape="0">
              <a:srgbClr val="000000">
                <a:alpha val="6000"/>
              </a:srgbClr>
            </a:outerShdw>
          </a:effectLst>
        </p:spPr>
        <p:txBody>
          <a:bodyPr/>
          <a:lstStyle/>
          <a:p>
            <a:endParaRPr lang="en-DE"/>
          </a:p>
        </p:txBody>
      </p:sp>
      <p:sp>
        <p:nvSpPr>
          <p:cNvPr id="37" name="Shape 35"/>
          <p:cNvSpPr/>
          <p:nvPr/>
        </p:nvSpPr>
        <p:spPr>
          <a:xfrm>
            <a:off x="7040880" y="1207008"/>
            <a:ext cx="1261872" cy="45720"/>
          </a:xfrm>
          <a:prstGeom prst="rect">
            <a:avLst/>
          </a:prstGeom>
          <a:solidFill>
            <a:srgbClr val="0A1628"/>
          </a:solidFill>
          <a:ln w="12700">
            <a:solidFill>
              <a:srgbClr val="0A1628"/>
            </a:solidFill>
            <a:prstDash val="solid"/>
          </a:ln>
        </p:spPr>
        <p:txBody>
          <a:bodyPr/>
          <a:lstStyle/>
          <a:p>
            <a:endParaRPr lang="en-DE"/>
          </a:p>
        </p:txBody>
      </p:sp>
      <p:sp>
        <p:nvSpPr>
          <p:cNvPr id="38" name="Text 36"/>
          <p:cNvSpPr/>
          <p:nvPr/>
        </p:nvSpPr>
        <p:spPr>
          <a:xfrm>
            <a:off x="7086600" y="1261872"/>
            <a:ext cx="1170432" cy="310896"/>
          </a:xfrm>
          <a:prstGeom prst="rect">
            <a:avLst/>
          </a:prstGeom>
          <a:noFill/>
          <a:ln/>
        </p:spPr>
        <p:txBody>
          <a:bodyPr wrap="square" lIns="0" tIns="0" rIns="0" bIns="0" rtlCol="0" anchor="ctr"/>
          <a:lstStyle/>
          <a:p>
            <a:pPr marL="0" indent="0">
              <a:buNone/>
            </a:pPr>
            <a:r>
              <a:rPr lang="en-US" sz="750" b="1" dirty="0">
                <a:solidFill>
                  <a:srgbClr val="0A1628"/>
                </a:solidFill>
              </a:rPr>
              <a:t>All B2B</a:t>
            </a:r>
            <a:endParaRPr lang="en-US" sz="750" dirty="0"/>
          </a:p>
          <a:p>
            <a:pPr marL="0" indent="0">
              <a:buNone/>
            </a:pPr>
            <a:r>
              <a:rPr lang="en-US" sz="750" b="1" dirty="0">
                <a:solidFill>
                  <a:srgbClr val="0A1628"/>
                </a:solidFill>
              </a:rPr>
              <a:t>E-Invoices</a:t>
            </a:r>
            <a:endParaRPr lang="en-US" sz="750" dirty="0"/>
          </a:p>
        </p:txBody>
      </p:sp>
      <p:sp>
        <p:nvSpPr>
          <p:cNvPr id="39" name="Text 37"/>
          <p:cNvSpPr/>
          <p:nvPr/>
        </p:nvSpPr>
        <p:spPr>
          <a:xfrm>
            <a:off x="7086600" y="1572768"/>
            <a:ext cx="1170432" cy="365760"/>
          </a:xfrm>
          <a:prstGeom prst="rect">
            <a:avLst/>
          </a:prstGeom>
          <a:noFill/>
          <a:ln/>
        </p:spPr>
        <p:txBody>
          <a:bodyPr wrap="square" lIns="0" tIns="0" rIns="0" bIns="0" rtlCol="0" anchor="ctr"/>
          <a:lstStyle/>
          <a:p>
            <a:pPr marL="0" indent="0">
              <a:buNone/>
            </a:pPr>
            <a:r>
              <a:rPr lang="en-US" sz="700" dirty="0">
                <a:solidFill>
                  <a:srgbClr val="64748B"/>
                </a:solidFill>
              </a:rPr>
              <a:t>All companies</a:t>
            </a:r>
            <a:endParaRPr lang="en-US" sz="700" dirty="0"/>
          </a:p>
          <a:p>
            <a:pPr marL="0" indent="0">
              <a:buNone/>
            </a:pPr>
            <a:r>
              <a:rPr lang="en-US" sz="700" dirty="0">
                <a:solidFill>
                  <a:srgbClr val="64748B"/>
                </a:solidFill>
              </a:rPr>
              <a:t>regardless of</a:t>
            </a:r>
            <a:endParaRPr lang="en-US" sz="700" dirty="0"/>
          </a:p>
          <a:p>
            <a:pPr marL="0" indent="0">
              <a:buNone/>
            </a:pPr>
            <a:r>
              <a:rPr lang="en-US" sz="700" dirty="0">
                <a:solidFill>
                  <a:srgbClr val="64748B"/>
                </a:solidFill>
              </a:rPr>
              <a:t>turnover threshold</a:t>
            </a:r>
            <a:endParaRPr lang="en-US" sz="700" dirty="0"/>
          </a:p>
        </p:txBody>
      </p:sp>
      <p:sp>
        <p:nvSpPr>
          <p:cNvPr id="40" name="Text 38"/>
          <p:cNvSpPr/>
          <p:nvPr/>
        </p:nvSpPr>
        <p:spPr>
          <a:xfrm>
            <a:off x="411480" y="2432304"/>
            <a:ext cx="6400800" cy="182880"/>
          </a:xfrm>
          <a:prstGeom prst="rect">
            <a:avLst/>
          </a:prstGeom>
          <a:noFill/>
          <a:ln/>
        </p:spPr>
        <p:txBody>
          <a:bodyPr wrap="square" lIns="0" tIns="0" rIns="0" bIns="0" rtlCol="0" anchor="ctr"/>
          <a:lstStyle/>
          <a:p>
            <a:pPr marL="0" indent="0">
              <a:buNone/>
            </a:pPr>
            <a:r>
              <a:rPr lang="en-US" sz="750" b="1" kern="0" spc="100" dirty="0">
                <a:solidFill>
                  <a:srgbClr val="006B6B"/>
                </a:solidFill>
              </a:rPr>
              <a:t>ACCEPTED E-INVOICE FORMATS (compliant with European Standard EN 16931)</a:t>
            </a:r>
            <a:endParaRPr lang="en-US" sz="750" dirty="0"/>
          </a:p>
        </p:txBody>
      </p:sp>
      <p:sp>
        <p:nvSpPr>
          <p:cNvPr id="41" name="Shape 39"/>
          <p:cNvSpPr/>
          <p:nvPr/>
        </p:nvSpPr>
        <p:spPr>
          <a:xfrm>
            <a:off x="411480" y="2651760"/>
            <a:ext cx="2697480" cy="1371600"/>
          </a:xfrm>
          <a:prstGeom prst="rect">
            <a:avLst/>
          </a:prstGeom>
          <a:solidFill>
            <a:srgbClr val="EFF8F8"/>
          </a:solidFill>
          <a:ln w="6350">
            <a:solidFill>
              <a:srgbClr val="006B6B"/>
            </a:solidFill>
            <a:prstDash val="solid"/>
          </a:ln>
          <a:effectLst>
            <a:outerShdw blurRad="38100" dist="12700" dir="8100000" algn="bl" rotWithShape="0">
              <a:srgbClr val="000000">
                <a:alpha val="6000"/>
              </a:srgbClr>
            </a:outerShdw>
          </a:effectLst>
        </p:spPr>
        <p:txBody>
          <a:bodyPr/>
          <a:lstStyle/>
          <a:p>
            <a:endParaRPr lang="en-DE"/>
          </a:p>
        </p:txBody>
      </p:sp>
      <p:sp>
        <p:nvSpPr>
          <p:cNvPr id="42" name="Shape 40"/>
          <p:cNvSpPr/>
          <p:nvPr/>
        </p:nvSpPr>
        <p:spPr>
          <a:xfrm>
            <a:off x="411480" y="2651760"/>
            <a:ext cx="36576" cy="1371600"/>
          </a:xfrm>
          <a:prstGeom prst="rect">
            <a:avLst/>
          </a:prstGeom>
          <a:solidFill>
            <a:srgbClr val="006B6B"/>
          </a:solidFill>
          <a:ln w="12700">
            <a:solidFill>
              <a:srgbClr val="006B6B"/>
            </a:solidFill>
            <a:prstDash val="solid"/>
          </a:ln>
        </p:spPr>
        <p:txBody>
          <a:bodyPr/>
          <a:lstStyle/>
          <a:p>
            <a:endParaRPr lang="en-DE"/>
          </a:p>
        </p:txBody>
      </p:sp>
      <p:sp>
        <p:nvSpPr>
          <p:cNvPr id="43" name="Text 41"/>
          <p:cNvSpPr/>
          <p:nvPr/>
        </p:nvSpPr>
        <p:spPr>
          <a:xfrm>
            <a:off x="502920" y="2715768"/>
            <a:ext cx="2542032" cy="347472"/>
          </a:xfrm>
          <a:prstGeom prst="rect">
            <a:avLst/>
          </a:prstGeom>
          <a:noFill/>
          <a:ln/>
        </p:spPr>
        <p:txBody>
          <a:bodyPr wrap="square" lIns="0" tIns="0" rIns="0" bIns="0" rtlCol="0" anchor="ctr"/>
          <a:lstStyle/>
          <a:p>
            <a:pPr marL="0" indent="0">
              <a:buNone/>
            </a:pPr>
            <a:r>
              <a:rPr lang="en-US" sz="850" b="1" dirty="0">
                <a:solidFill>
                  <a:srgbClr val="006B6B"/>
                </a:solidFill>
              </a:rPr>
              <a:t>XRechnung (XML)</a:t>
            </a:r>
            <a:endParaRPr lang="en-US" sz="850" dirty="0"/>
          </a:p>
        </p:txBody>
      </p:sp>
      <p:sp>
        <p:nvSpPr>
          <p:cNvPr id="44" name="Text 42"/>
          <p:cNvSpPr/>
          <p:nvPr/>
        </p:nvSpPr>
        <p:spPr>
          <a:xfrm>
            <a:off x="502920" y="3090672"/>
            <a:ext cx="2542032" cy="877824"/>
          </a:xfrm>
          <a:prstGeom prst="rect">
            <a:avLst/>
          </a:prstGeom>
          <a:noFill/>
          <a:ln/>
        </p:spPr>
        <p:txBody>
          <a:bodyPr wrap="square" lIns="0" tIns="0" rIns="0" bIns="0" rtlCol="0" anchor="ctr"/>
          <a:lstStyle/>
          <a:p>
            <a:pPr marL="0" indent="0">
              <a:buNone/>
            </a:pPr>
            <a:r>
              <a:rPr lang="en-US" sz="780" dirty="0">
                <a:solidFill>
                  <a:srgbClr val="1B2E4B"/>
                </a:solidFill>
              </a:rPr>
              <a:t>Fully structured machine-readable XML format. Mandatory for Business-to-Government (B2G). Preferred for Business-to-Business (B2B). No human-readable component.</a:t>
            </a:r>
            <a:endParaRPr lang="en-US" sz="780" dirty="0"/>
          </a:p>
        </p:txBody>
      </p:sp>
      <p:sp>
        <p:nvSpPr>
          <p:cNvPr id="45" name="Shape 43"/>
          <p:cNvSpPr/>
          <p:nvPr/>
        </p:nvSpPr>
        <p:spPr>
          <a:xfrm>
            <a:off x="3246120" y="2651760"/>
            <a:ext cx="2697480" cy="1371600"/>
          </a:xfrm>
          <a:prstGeom prst="rect">
            <a:avLst/>
          </a:prstGeom>
          <a:solidFill>
            <a:srgbClr val="EFF8F8"/>
          </a:solidFill>
          <a:ln w="6350">
            <a:solidFill>
              <a:srgbClr val="00857A"/>
            </a:solidFill>
            <a:prstDash val="solid"/>
          </a:ln>
          <a:effectLst>
            <a:outerShdw blurRad="38100" dist="12700" dir="8100000" algn="bl" rotWithShape="0">
              <a:srgbClr val="000000">
                <a:alpha val="6000"/>
              </a:srgbClr>
            </a:outerShdw>
          </a:effectLst>
        </p:spPr>
        <p:txBody>
          <a:bodyPr/>
          <a:lstStyle/>
          <a:p>
            <a:endParaRPr lang="en-DE"/>
          </a:p>
        </p:txBody>
      </p:sp>
      <p:sp>
        <p:nvSpPr>
          <p:cNvPr id="46" name="Shape 44"/>
          <p:cNvSpPr/>
          <p:nvPr/>
        </p:nvSpPr>
        <p:spPr>
          <a:xfrm>
            <a:off x="3246120" y="2651760"/>
            <a:ext cx="36576" cy="1371600"/>
          </a:xfrm>
          <a:prstGeom prst="rect">
            <a:avLst/>
          </a:prstGeom>
          <a:solidFill>
            <a:srgbClr val="00857A"/>
          </a:solidFill>
          <a:ln w="12700">
            <a:solidFill>
              <a:srgbClr val="00857A"/>
            </a:solidFill>
            <a:prstDash val="solid"/>
          </a:ln>
        </p:spPr>
        <p:txBody>
          <a:bodyPr/>
          <a:lstStyle/>
          <a:p>
            <a:endParaRPr lang="en-DE"/>
          </a:p>
        </p:txBody>
      </p:sp>
      <p:sp>
        <p:nvSpPr>
          <p:cNvPr id="47" name="Text 45"/>
          <p:cNvSpPr/>
          <p:nvPr/>
        </p:nvSpPr>
        <p:spPr>
          <a:xfrm>
            <a:off x="3337560" y="2715768"/>
            <a:ext cx="2542032" cy="347472"/>
          </a:xfrm>
          <a:prstGeom prst="rect">
            <a:avLst/>
          </a:prstGeom>
          <a:noFill/>
          <a:ln/>
        </p:spPr>
        <p:txBody>
          <a:bodyPr wrap="square" lIns="0" tIns="0" rIns="0" bIns="0" rtlCol="0" anchor="ctr"/>
          <a:lstStyle/>
          <a:p>
            <a:pPr marL="0" indent="0">
              <a:buNone/>
            </a:pPr>
            <a:r>
              <a:rPr lang="en-US" sz="850" b="1" dirty="0">
                <a:solidFill>
                  <a:srgbClr val="00857A"/>
                </a:solidFill>
              </a:rPr>
              <a:t>ZUGFeRD</a:t>
            </a:r>
            <a:endParaRPr lang="en-US" sz="850" dirty="0"/>
          </a:p>
          <a:p>
            <a:pPr marL="0" indent="0">
              <a:buNone/>
            </a:pPr>
            <a:r>
              <a:rPr lang="en-US" sz="850" b="1" dirty="0">
                <a:solidFill>
                  <a:srgbClr val="00857A"/>
                </a:solidFill>
              </a:rPr>
              <a:t>(Zentraler User Guide des Forums elektronische Rechnung Deutschland)</a:t>
            </a:r>
            <a:endParaRPr lang="en-US" sz="850" dirty="0"/>
          </a:p>
        </p:txBody>
      </p:sp>
      <p:sp>
        <p:nvSpPr>
          <p:cNvPr id="48" name="Text 46"/>
          <p:cNvSpPr/>
          <p:nvPr/>
        </p:nvSpPr>
        <p:spPr>
          <a:xfrm>
            <a:off x="3337560" y="3090672"/>
            <a:ext cx="2542032" cy="877824"/>
          </a:xfrm>
          <a:prstGeom prst="rect">
            <a:avLst/>
          </a:prstGeom>
          <a:noFill/>
          <a:ln/>
        </p:spPr>
        <p:txBody>
          <a:bodyPr wrap="square" lIns="0" tIns="0" rIns="0" bIns="0" rtlCol="0" anchor="ctr"/>
          <a:lstStyle/>
          <a:p>
            <a:pPr marL="0" indent="0">
              <a:buNone/>
            </a:pPr>
            <a:r>
              <a:rPr lang="en-US" sz="780" dirty="0">
                <a:solidFill>
                  <a:srgbClr val="1B2E4B"/>
                </a:solidFill>
              </a:rPr>
              <a:t>Hybrid format: PDF with embedded XML data. Both human-readable and machine-processable. Multiple profiles (Minimum, Basic, EN 16931, Extended). Complies with EN 16931.</a:t>
            </a:r>
            <a:endParaRPr lang="en-US" sz="780" dirty="0"/>
          </a:p>
        </p:txBody>
      </p:sp>
      <p:sp>
        <p:nvSpPr>
          <p:cNvPr id="49" name="Shape 47"/>
          <p:cNvSpPr/>
          <p:nvPr/>
        </p:nvSpPr>
        <p:spPr>
          <a:xfrm>
            <a:off x="6080760" y="2651760"/>
            <a:ext cx="2697480" cy="1371600"/>
          </a:xfrm>
          <a:prstGeom prst="rect">
            <a:avLst/>
          </a:prstGeom>
          <a:solidFill>
            <a:srgbClr val="FEF2F2"/>
          </a:solidFill>
          <a:ln w="635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50" name="Shape 48"/>
          <p:cNvSpPr/>
          <p:nvPr/>
        </p:nvSpPr>
        <p:spPr>
          <a:xfrm>
            <a:off x="6080760" y="2651760"/>
            <a:ext cx="36576" cy="1371600"/>
          </a:xfrm>
          <a:prstGeom prst="rect">
            <a:avLst/>
          </a:prstGeom>
          <a:solidFill>
            <a:srgbClr val="C0392B"/>
          </a:solidFill>
          <a:ln w="12700">
            <a:solidFill>
              <a:srgbClr val="C0392B"/>
            </a:solidFill>
            <a:prstDash val="solid"/>
          </a:ln>
        </p:spPr>
        <p:txBody>
          <a:bodyPr/>
          <a:lstStyle/>
          <a:p>
            <a:endParaRPr lang="en-DE"/>
          </a:p>
        </p:txBody>
      </p:sp>
      <p:sp>
        <p:nvSpPr>
          <p:cNvPr id="51" name="Text 49"/>
          <p:cNvSpPr/>
          <p:nvPr/>
        </p:nvSpPr>
        <p:spPr>
          <a:xfrm>
            <a:off x="6172200" y="2715768"/>
            <a:ext cx="2542032" cy="347472"/>
          </a:xfrm>
          <a:prstGeom prst="rect">
            <a:avLst/>
          </a:prstGeom>
          <a:noFill/>
          <a:ln/>
        </p:spPr>
        <p:txBody>
          <a:bodyPr wrap="square" lIns="0" tIns="0" rIns="0" bIns="0" rtlCol="0" anchor="ctr"/>
          <a:lstStyle/>
          <a:p>
            <a:pPr marL="0" indent="0">
              <a:buNone/>
            </a:pPr>
            <a:r>
              <a:rPr lang="en-US" sz="850" b="1" dirty="0">
                <a:solidFill>
                  <a:srgbClr val="C0392B"/>
                </a:solidFill>
              </a:rPr>
              <a:t>NOT compliant</a:t>
            </a:r>
            <a:endParaRPr lang="en-US" sz="850" dirty="0"/>
          </a:p>
          <a:p>
            <a:pPr marL="0" indent="0">
              <a:buNone/>
            </a:pPr>
            <a:r>
              <a:rPr lang="en-US" sz="850" b="1" dirty="0">
                <a:solidFill>
                  <a:srgbClr val="C0392B"/>
                </a:solidFill>
              </a:rPr>
              <a:t>- plain PDF / Word</a:t>
            </a:r>
            <a:endParaRPr lang="en-US" sz="850" dirty="0"/>
          </a:p>
        </p:txBody>
      </p:sp>
      <p:sp>
        <p:nvSpPr>
          <p:cNvPr id="52" name="Text 50"/>
          <p:cNvSpPr/>
          <p:nvPr/>
        </p:nvSpPr>
        <p:spPr>
          <a:xfrm>
            <a:off x="6172200" y="3090672"/>
            <a:ext cx="2542032" cy="877824"/>
          </a:xfrm>
          <a:prstGeom prst="rect">
            <a:avLst/>
          </a:prstGeom>
          <a:noFill/>
          <a:ln/>
        </p:spPr>
        <p:txBody>
          <a:bodyPr wrap="square" lIns="0" tIns="0" rIns="0" bIns="0" rtlCol="0" anchor="ctr"/>
          <a:lstStyle/>
          <a:p>
            <a:pPr marL="0" indent="0">
              <a:buNone/>
            </a:pPr>
            <a:r>
              <a:rPr lang="en-US" sz="780" dirty="0">
                <a:solidFill>
                  <a:srgbClr val="1B2E4B"/>
                </a:solidFill>
              </a:rPr>
              <a:t>Unstructured formats (plain PDF, scanned images, Word documents) do NOT qualify as e-invoices under § 14 UStG even if sent electronically.</a:t>
            </a:r>
            <a:endParaRPr lang="en-US" sz="780" dirty="0"/>
          </a:p>
        </p:txBody>
      </p:sp>
      <p:sp>
        <p:nvSpPr>
          <p:cNvPr id="53" name="Shape 51"/>
          <p:cNvSpPr/>
          <p:nvPr/>
        </p:nvSpPr>
        <p:spPr>
          <a:xfrm>
            <a:off x="411480" y="4087368"/>
            <a:ext cx="8503920" cy="502920"/>
          </a:xfrm>
          <a:prstGeom prst="rect">
            <a:avLst/>
          </a:prstGeom>
          <a:solidFill>
            <a:srgbClr val="FFFBEB"/>
          </a:solidFill>
          <a:ln w="6350">
            <a:solidFill>
              <a:srgbClr val="D97706"/>
            </a:solidFill>
            <a:prstDash val="solid"/>
          </a:ln>
        </p:spPr>
        <p:txBody>
          <a:bodyPr/>
          <a:lstStyle/>
          <a:p>
            <a:endParaRPr lang="en-DE"/>
          </a:p>
        </p:txBody>
      </p:sp>
      <p:sp>
        <p:nvSpPr>
          <p:cNvPr id="54" name="Shape 52"/>
          <p:cNvSpPr/>
          <p:nvPr/>
        </p:nvSpPr>
        <p:spPr>
          <a:xfrm>
            <a:off x="411480" y="4087368"/>
            <a:ext cx="36576" cy="502920"/>
          </a:xfrm>
          <a:prstGeom prst="rect">
            <a:avLst/>
          </a:prstGeom>
          <a:solidFill>
            <a:srgbClr val="D97706"/>
          </a:solidFill>
          <a:ln w="12700">
            <a:solidFill>
              <a:srgbClr val="D97706"/>
            </a:solidFill>
            <a:prstDash val="solid"/>
          </a:ln>
        </p:spPr>
        <p:txBody>
          <a:bodyPr/>
          <a:lstStyle/>
          <a:p>
            <a:endParaRPr lang="en-DE"/>
          </a:p>
        </p:txBody>
      </p:sp>
      <p:sp>
        <p:nvSpPr>
          <p:cNvPr id="55" name="Text 53"/>
          <p:cNvSpPr/>
          <p:nvPr/>
        </p:nvSpPr>
        <p:spPr>
          <a:xfrm>
            <a:off x="512064" y="4133088"/>
            <a:ext cx="2743200" cy="164592"/>
          </a:xfrm>
          <a:prstGeom prst="rect">
            <a:avLst/>
          </a:prstGeom>
          <a:noFill/>
          <a:ln/>
        </p:spPr>
        <p:txBody>
          <a:bodyPr wrap="square" lIns="0" tIns="0" rIns="0" bIns="0" rtlCol="0" anchor="ctr"/>
          <a:lstStyle/>
          <a:p>
            <a:pPr marL="0" indent="0">
              <a:buNone/>
            </a:pPr>
            <a:r>
              <a:rPr lang="en-US" sz="750" b="1" dirty="0">
                <a:solidFill>
                  <a:srgbClr val="D97706"/>
                </a:solidFill>
              </a:rPr>
              <a:t>EXCEPTIONS (not relevant to Strabam AG):</a:t>
            </a:r>
            <a:endParaRPr lang="en-US" sz="750" dirty="0"/>
          </a:p>
        </p:txBody>
      </p:sp>
      <p:sp>
        <p:nvSpPr>
          <p:cNvPr id="56" name="Text 54"/>
          <p:cNvSpPr/>
          <p:nvPr/>
        </p:nvSpPr>
        <p:spPr>
          <a:xfrm>
            <a:off x="512064" y="4315968"/>
            <a:ext cx="8321040" cy="237744"/>
          </a:xfrm>
          <a:prstGeom prst="rect">
            <a:avLst/>
          </a:prstGeom>
          <a:noFill/>
          <a:ln/>
        </p:spPr>
        <p:txBody>
          <a:bodyPr wrap="square" lIns="0" tIns="0" rIns="0" bIns="0" rtlCol="0" anchor="ctr"/>
          <a:lstStyle/>
          <a:p>
            <a:pPr marL="0" indent="0">
              <a:buNone/>
            </a:pPr>
            <a:r>
              <a:rPr lang="en-US" sz="780" dirty="0">
                <a:solidFill>
                  <a:srgbClr val="1B2E4B"/>
                </a:solidFill>
              </a:rPr>
              <a:t>Small-amount invoices (Kleinbetragsrechnungen) ≤€250 exempt (§ 33 S. 4 UmsatzsteuerDurchführungsVerordnung / UStDV). Ticket-invoices exempt (§ 34 S. 2 UStDV). Small business exemption (§ 19 UStG Kleinunternehmerregelung) - inapplicable, Strabam AG is not a Kleinunternehmer. E-invoicing rules apply only to domestic (national) B2B transactions.</a:t>
            </a:r>
            <a:endParaRPr lang="en-US" sz="7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2C4A6E"/>
          </a:solidFill>
          <a:ln w="12700">
            <a:solidFill>
              <a:srgbClr val="2C4A6E"/>
            </a:solidFill>
            <a:prstDash val="solid"/>
          </a:ln>
        </p:spPr>
        <p:txBody>
          <a:bodyPr/>
          <a:lstStyle/>
          <a:p>
            <a:endParaRPr lang="en-DE"/>
          </a:p>
        </p:txBody>
      </p:sp>
      <p:sp>
        <p:nvSpPr>
          <p:cNvPr id="3" name="Shape 1"/>
          <p:cNvSpPr/>
          <p:nvPr/>
        </p:nvSpPr>
        <p:spPr>
          <a:xfrm>
            <a:off x="6400800" y="100584"/>
            <a:ext cx="1280160" cy="292608"/>
          </a:xfrm>
          <a:prstGeom prst="rect">
            <a:avLst/>
          </a:prstGeom>
          <a:solidFill>
            <a:srgbClr val="D97706"/>
          </a:solidFill>
          <a:ln w="12700">
            <a:solidFill>
              <a:srgbClr val="D97706"/>
            </a:solidFill>
            <a:prstDash val="solid"/>
          </a:ln>
        </p:spPr>
        <p:txBody>
          <a:bodyPr/>
          <a:lstStyle/>
          <a:p>
            <a:endParaRPr lang="en-DE"/>
          </a:p>
        </p:txBody>
      </p:sp>
      <p:sp>
        <p:nvSpPr>
          <p:cNvPr id="4" name="Text 2"/>
          <p:cNvSpPr/>
          <p:nvPr/>
        </p:nvSpPr>
        <p:spPr>
          <a:xfrm>
            <a:off x="6400800" y="100584"/>
            <a:ext cx="1280160" cy="292608"/>
          </a:xfrm>
          <a:prstGeom prst="rect">
            <a:avLst/>
          </a:prstGeom>
          <a:noFill/>
          <a:ln/>
        </p:spPr>
        <p:txBody>
          <a:bodyPr wrap="square" lIns="0" tIns="0" rIns="0" bIns="0" rtlCol="0" anchor="ctr"/>
          <a:lstStyle/>
          <a:p>
            <a:pPr marL="0" indent="0" algn="ctr">
              <a:buNone/>
            </a:pPr>
            <a:r>
              <a:rPr lang="en-US" sz="750" b="1" dirty="0">
                <a:solidFill>
                  <a:srgbClr val="FFFFFF"/>
                </a:solidFill>
              </a:rPr>
              <a:t>RISK: MEDIUM</a:t>
            </a:r>
            <a:endParaRPr lang="en-US" sz="750" dirty="0"/>
          </a:p>
        </p:txBody>
      </p:sp>
      <p:sp>
        <p:nvSpPr>
          <p:cNvPr id="5" name="Shape 3"/>
          <p:cNvSpPr/>
          <p:nvPr/>
        </p:nvSpPr>
        <p:spPr>
          <a:xfrm>
            <a:off x="7772400" y="100584"/>
            <a:ext cx="1234440" cy="292608"/>
          </a:xfrm>
          <a:prstGeom prst="rect">
            <a:avLst/>
          </a:prstGeom>
          <a:solidFill>
            <a:srgbClr val="D97706"/>
          </a:solidFill>
          <a:ln w="12700">
            <a:solidFill>
              <a:srgbClr val="D97706"/>
            </a:solidFill>
            <a:prstDash val="solid"/>
          </a:ln>
        </p:spPr>
        <p:txBody>
          <a:bodyPr/>
          <a:lstStyle/>
          <a:p>
            <a:endParaRPr lang="en-DE"/>
          </a:p>
        </p:txBody>
      </p:sp>
      <p:sp>
        <p:nvSpPr>
          <p:cNvPr id="6" name="Text 4"/>
          <p:cNvSpPr/>
          <p:nvPr/>
        </p:nvSpPr>
        <p:spPr>
          <a:xfrm>
            <a:off x="7772400" y="100584"/>
            <a:ext cx="1234440" cy="292608"/>
          </a:xfrm>
          <a:prstGeom prst="rect">
            <a:avLst/>
          </a:prstGeom>
          <a:noFill/>
          <a:ln/>
        </p:spPr>
        <p:txBody>
          <a:bodyPr wrap="square" lIns="0" tIns="0" rIns="0" bIns="0" rtlCol="0" anchor="ctr"/>
          <a:lstStyle/>
          <a:p>
            <a:pPr marL="0" indent="0" algn="ctr">
              <a:buNone/>
            </a:pPr>
            <a:r>
              <a:rPr lang="en-US" sz="750" b="1" dirty="0">
                <a:solidFill>
                  <a:srgbClr val="FFFFFF"/>
                </a:solidFill>
              </a:rPr>
              <a:t>PRIORITY: MEDIUM</a:t>
            </a:r>
            <a:endParaRPr lang="en-US" sz="750" dirty="0"/>
          </a:p>
        </p:txBody>
      </p:sp>
      <p:sp>
        <p:nvSpPr>
          <p:cNvPr id="7" name="Shape 5"/>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8" name="Text 6"/>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9" name="Text 7"/>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ADVISORY</a:t>
            </a:r>
            <a:endParaRPr lang="en-US" sz="700" dirty="0"/>
          </a:p>
        </p:txBody>
      </p:sp>
      <p:sp>
        <p:nvSpPr>
          <p:cNvPr id="10" name="Text 8"/>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17 / 23</a:t>
            </a:r>
            <a:endParaRPr lang="en-US" sz="700" dirty="0"/>
          </a:p>
        </p:txBody>
      </p:sp>
      <p:sp>
        <p:nvSpPr>
          <p:cNvPr id="11" name="Text 9"/>
          <p:cNvSpPr/>
          <p:nvPr/>
        </p:nvSpPr>
        <p:spPr>
          <a:xfrm>
            <a:off x="411480" y="137160"/>
            <a:ext cx="6400800" cy="201168"/>
          </a:xfrm>
          <a:prstGeom prst="rect">
            <a:avLst/>
          </a:prstGeom>
          <a:noFill/>
          <a:ln/>
        </p:spPr>
        <p:txBody>
          <a:bodyPr wrap="square" lIns="0" tIns="0" rIns="0" bIns="0" rtlCol="0" anchor="ctr"/>
          <a:lstStyle/>
          <a:p>
            <a:pPr marL="0" indent="0">
              <a:buNone/>
            </a:pPr>
            <a:r>
              <a:rPr lang="en-US" sz="800" b="1" kern="0" spc="200" dirty="0">
                <a:solidFill>
                  <a:srgbClr val="2C4A6E"/>
                </a:solidFill>
              </a:rPr>
              <a:t>05 | Advisory</a:t>
            </a:r>
            <a:endParaRPr lang="en-US" sz="800" dirty="0"/>
          </a:p>
        </p:txBody>
      </p:sp>
      <p:sp>
        <p:nvSpPr>
          <p:cNvPr id="12" name="Text 10"/>
          <p:cNvSpPr/>
          <p:nvPr/>
        </p:nvSpPr>
        <p:spPr>
          <a:xfrm>
            <a:off x="411480" y="338328"/>
            <a:ext cx="8503920" cy="502920"/>
          </a:xfrm>
          <a:prstGeom prst="rect">
            <a:avLst/>
          </a:prstGeom>
          <a:noFill/>
          <a:ln/>
        </p:spPr>
        <p:txBody>
          <a:bodyPr wrap="square" lIns="0" tIns="0" rIns="0" bIns="0" rtlCol="0" anchor="ctr"/>
          <a:lstStyle/>
          <a:p>
            <a:pPr marL="0" indent="0">
              <a:buNone/>
            </a:pPr>
            <a:r>
              <a:rPr lang="en-US" sz="2100" b="1" dirty="0">
                <a:solidFill>
                  <a:srgbClr val="0A1628"/>
                </a:solidFill>
              </a:rPr>
              <a:t>Advisory: Advance Payments on Large Machinery Sales</a:t>
            </a:r>
            <a:endParaRPr lang="en-US" sz="2100" dirty="0"/>
          </a:p>
        </p:txBody>
      </p:sp>
      <p:sp>
        <p:nvSpPr>
          <p:cNvPr id="13" name="Text 11"/>
          <p:cNvSpPr/>
          <p:nvPr/>
        </p:nvSpPr>
        <p:spPr>
          <a:xfrm>
            <a:off x="411480" y="868680"/>
            <a:ext cx="8503920" cy="219456"/>
          </a:xfrm>
          <a:prstGeom prst="rect">
            <a:avLst/>
          </a:prstGeom>
          <a:noFill/>
          <a:ln/>
        </p:spPr>
        <p:txBody>
          <a:bodyPr wrap="square" lIns="0" tIns="0" rIns="0" bIns="0" rtlCol="0" anchor="ctr"/>
          <a:lstStyle/>
          <a:p>
            <a:pPr marL="0" indent="0">
              <a:buNone/>
            </a:pPr>
            <a:r>
              <a:rPr lang="en-US" sz="900" i="1" dirty="0">
                <a:solidFill>
                  <a:srgbClr val="64748B"/>
                </a:solidFill>
              </a:rPr>
              <a:t>Current practice: no advance payments received  |  Advisory: VAT implications if Anzahlungen (advance payments) are introduced for large machines from €0.5M</a:t>
            </a:r>
            <a:endParaRPr lang="en-US" sz="900" dirty="0"/>
          </a:p>
        </p:txBody>
      </p:sp>
      <p:sp>
        <p:nvSpPr>
          <p:cNvPr id="14" name="Shape 12"/>
          <p:cNvSpPr/>
          <p:nvPr/>
        </p:nvSpPr>
        <p:spPr>
          <a:xfrm>
            <a:off x="411480" y="1115568"/>
            <a:ext cx="8503920" cy="0"/>
          </a:xfrm>
          <a:prstGeom prst="line">
            <a:avLst/>
          </a:prstGeom>
          <a:noFill/>
          <a:ln w="6350">
            <a:solidFill>
              <a:srgbClr val="CBD5E1"/>
            </a:solidFill>
            <a:prstDash val="solid"/>
          </a:ln>
        </p:spPr>
        <p:txBody>
          <a:bodyPr/>
          <a:lstStyle/>
          <a:p>
            <a:endParaRPr lang="en-DE"/>
          </a:p>
        </p:txBody>
      </p:sp>
      <p:sp>
        <p:nvSpPr>
          <p:cNvPr id="15" name="Shape 13"/>
          <p:cNvSpPr/>
          <p:nvPr/>
        </p:nvSpPr>
        <p:spPr>
          <a:xfrm>
            <a:off x="411480" y="1234440"/>
            <a:ext cx="4114800" cy="1874518"/>
          </a:xfrm>
          <a:prstGeom prst="rect">
            <a:avLst/>
          </a:prstGeom>
          <a:solidFill>
            <a:srgbClr val="FFFFFF"/>
          </a:solidFill>
          <a:ln w="5080">
            <a:solidFill>
              <a:srgbClr val="CBD5E1"/>
            </a:solidFill>
            <a:prstDash val="solid"/>
          </a:ln>
          <a:effectLst>
            <a:outerShdw blurRad="50800" dist="25400" dir="8100000" algn="bl" rotWithShape="0">
              <a:srgbClr val="000000">
                <a:alpha val="8000"/>
              </a:srgbClr>
            </a:outerShdw>
          </a:effectLst>
        </p:spPr>
        <p:txBody>
          <a:bodyPr/>
          <a:lstStyle/>
          <a:p>
            <a:endParaRPr lang="en-DE"/>
          </a:p>
        </p:txBody>
      </p:sp>
      <p:sp>
        <p:nvSpPr>
          <p:cNvPr id="16" name="Shape 14"/>
          <p:cNvSpPr/>
          <p:nvPr/>
        </p:nvSpPr>
        <p:spPr>
          <a:xfrm>
            <a:off x="411480" y="1234440"/>
            <a:ext cx="4114800" cy="292608"/>
          </a:xfrm>
          <a:prstGeom prst="rect">
            <a:avLst/>
          </a:prstGeom>
          <a:solidFill>
            <a:srgbClr val="64748B"/>
          </a:solidFill>
          <a:ln w="12700">
            <a:solidFill>
              <a:srgbClr val="64748B"/>
            </a:solidFill>
            <a:prstDash val="solid"/>
          </a:ln>
        </p:spPr>
        <p:txBody>
          <a:bodyPr/>
          <a:lstStyle/>
          <a:p>
            <a:endParaRPr lang="en-DE"/>
          </a:p>
        </p:txBody>
      </p:sp>
      <p:sp>
        <p:nvSpPr>
          <p:cNvPr id="17" name="Text 15"/>
          <p:cNvSpPr/>
          <p:nvPr/>
        </p:nvSpPr>
        <p:spPr>
          <a:xfrm>
            <a:off x="502920" y="1280160"/>
            <a:ext cx="3931920" cy="219456"/>
          </a:xfrm>
          <a:prstGeom prst="rect">
            <a:avLst/>
          </a:prstGeom>
          <a:noFill/>
          <a:ln/>
        </p:spPr>
        <p:txBody>
          <a:bodyPr wrap="square" lIns="0" tIns="0" rIns="0" bIns="0" rtlCol="0" anchor="ctr"/>
          <a:lstStyle/>
          <a:p>
            <a:pPr marL="0" indent="0">
              <a:buNone/>
            </a:pPr>
            <a:r>
              <a:rPr lang="en-US" sz="850" b="1" dirty="0">
                <a:solidFill>
                  <a:srgbClr val="FFFFFF"/>
                </a:solidFill>
              </a:rPr>
              <a:t>CURRENT PRACTICE</a:t>
            </a:r>
            <a:endParaRPr lang="en-US" sz="850" dirty="0"/>
          </a:p>
        </p:txBody>
      </p:sp>
      <p:sp>
        <p:nvSpPr>
          <p:cNvPr id="18" name="Text 16"/>
          <p:cNvSpPr/>
          <p:nvPr/>
        </p:nvSpPr>
        <p:spPr>
          <a:xfrm>
            <a:off x="502920" y="1481328"/>
            <a:ext cx="3931920" cy="1691640"/>
          </a:xfrm>
          <a:prstGeom prst="rect">
            <a:avLst/>
          </a:prstGeom>
          <a:noFill/>
          <a:ln/>
        </p:spPr>
        <p:txBody>
          <a:bodyPr wrap="square" lIns="0" tIns="0" rIns="0" bIns="0" rtlCol="0" anchor="ctr"/>
          <a:lstStyle/>
          <a:p>
            <a:pPr marL="342900" indent="-342900">
              <a:spcAft>
                <a:spcPts val="400"/>
              </a:spcAft>
              <a:buSzPct val="100000"/>
              <a:buChar char="•"/>
            </a:pPr>
            <a:r>
              <a:rPr lang="en-US" sz="820" dirty="0">
                <a:solidFill>
                  <a:srgbClr val="1B2E4B"/>
                </a:solidFill>
              </a:rPr>
              <a:t>No advance payments (Anzahlungen) on large machinery - invoice issued only after technician confirms installation (Abnahmeprotokoll).</a:t>
            </a:r>
            <a:endParaRPr lang="en-US" sz="780" dirty="0"/>
          </a:p>
          <a:p>
            <a:pPr marL="342900" indent="-342900">
              <a:spcAft>
                <a:spcPts val="400"/>
              </a:spcAft>
              <a:buSzPct val="100000"/>
              <a:buChar char="•"/>
            </a:pPr>
            <a:r>
              <a:rPr lang="en-US" sz="820" dirty="0">
                <a:solidFill>
                  <a:srgbClr val="1B2E4B"/>
                </a:solidFill>
              </a:rPr>
              <a:t>Single VAT point per transaction - simplifies reporting and cash flow.</a:t>
            </a:r>
            <a:endParaRPr lang="en-US" sz="780" dirty="0"/>
          </a:p>
          <a:p>
            <a:pPr marL="342900" indent="-342900">
              <a:spcAft>
                <a:spcPts val="400"/>
              </a:spcAft>
              <a:buSzPct val="100000"/>
              <a:buChar char="•"/>
            </a:pPr>
            <a:r>
              <a:rPr lang="en-US" sz="820" dirty="0">
                <a:solidFill>
                  <a:srgbClr val="1B2E4B"/>
                </a:solidFill>
              </a:rPr>
              <a:t>Credit risk: Strabam AG bears full financial exposure on machines worth €0.5M and above throughout the production and installation period.</a:t>
            </a:r>
            <a:endParaRPr lang="en-US" sz="780" dirty="0"/>
          </a:p>
          <a:p>
            <a:pPr marL="342900" indent="-342900">
              <a:spcAft>
                <a:spcPts val="400"/>
              </a:spcAft>
              <a:buSzPct val="100000"/>
              <a:buChar char="•"/>
            </a:pPr>
            <a:r>
              <a:rPr lang="en-US" sz="820" dirty="0">
                <a:solidFill>
                  <a:srgbClr val="1B2E4B"/>
                </a:solidFill>
              </a:rPr>
              <a:t>No advance invoices (Anzahlungsrechnungen) currently issued.</a:t>
            </a:r>
            <a:endParaRPr lang="en-US" sz="780" dirty="0"/>
          </a:p>
        </p:txBody>
      </p:sp>
      <p:sp>
        <p:nvSpPr>
          <p:cNvPr id="19" name="Shape 17"/>
          <p:cNvSpPr/>
          <p:nvPr/>
        </p:nvSpPr>
        <p:spPr>
          <a:xfrm>
            <a:off x="4754880" y="1234440"/>
            <a:ext cx="4114800" cy="1874518"/>
          </a:xfrm>
          <a:prstGeom prst="rect">
            <a:avLst/>
          </a:prstGeom>
          <a:solidFill>
            <a:srgbClr val="FFFFFF"/>
          </a:solidFill>
          <a:ln w="5080">
            <a:solidFill>
              <a:srgbClr val="CBD5E1"/>
            </a:solidFill>
            <a:prstDash val="solid"/>
          </a:ln>
          <a:effectLst>
            <a:outerShdw blurRad="50800" dist="25400" dir="8100000" algn="bl" rotWithShape="0">
              <a:srgbClr val="000000">
                <a:alpha val="8000"/>
              </a:srgbClr>
            </a:outerShdw>
          </a:effectLst>
        </p:spPr>
        <p:txBody>
          <a:bodyPr/>
          <a:lstStyle/>
          <a:p>
            <a:endParaRPr lang="en-DE"/>
          </a:p>
        </p:txBody>
      </p:sp>
      <p:sp>
        <p:nvSpPr>
          <p:cNvPr id="20" name="Shape 18"/>
          <p:cNvSpPr/>
          <p:nvPr/>
        </p:nvSpPr>
        <p:spPr>
          <a:xfrm>
            <a:off x="4754880" y="1234440"/>
            <a:ext cx="4114800" cy="292608"/>
          </a:xfrm>
          <a:prstGeom prst="rect">
            <a:avLst/>
          </a:prstGeom>
          <a:solidFill>
            <a:srgbClr val="2C4A6E"/>
          </a:solidFill>
          <a:ln w="12700">
            <a:solidFill>
              <a:srgbClr val="2C4A6E"/>
            </a:solidFill>
            <a:prstDash val="solid"/>
          </a:ln>
        </p:spPr>
        <p:txBody>
          <a:bodyPr/>
          <a:lstStyle/>
          <a:p>
            <a:endParaRPr lang="en-DE"/>
          </a:p>
        </p:txBody>
      </p:sp>
      <p:sp>
        <p:nvSpPr>
          <p:cNvPr id="21" name="Text 19"/>
          <p:cNvSpPr/>
          <p:nvPr/>
        </p:nvSpPr>
        <p:spPr>
          <a:xfrm>
            <a:off x="4846320" y="1280160"/>
            <a:ext cx="3931920" cy="219456"/>
          </a:xfrm>
          <a:prstGeom prst="rect">
            <a:avLst/>
          </a:prstGeom>
          <a:noFill/>
          <a:ln/>
        </p:spPr>
        <p:txBody>
          <a:bodyPr wrap="square" lIns="0" tIns="0" rIns="0" bIns="0" rtlCol="0" anchor="ctr"/>
          <a:lstStyle/>
          <a:p>
            <a:pPr marL="0" indent="0">
              <a:buNone/>
            </a:pPr>
            <a:r>
              <a:rPr lang="en-US" sz="850" b="1" dirty="0">
                <a:solidFill>
                  <a:srgbClr val="FFFFFF"/>
                </a:solidFill>
              </a:rPr>
              <a:t>IF ADVANCE PAYMENTS INTRODUCED</a:t>
            </a:r>
            <a:endParaRPr lang="en-US" sz="850" dirty="0"/>
          </a:p>
        </p:txBody>
      </p:sp>
      <p:sp>
        <p:nvSpPr>
          <p:cNvPr id="22" name="Text 20"/>
          <p:cNvSpPr/>
          <p:nvPr/>
        </p:nvSpPr>
        <p:spPr>
          <a:xfrm>
            <a:off x="4846320" y="1481328"/>
            <a:ext cx="3931920" cy="1691640"/>
          </a:xfrm>
          <a:prstGeom prst="rect">
            <a:avLst/>
          </a:prstGeom>
          <a:noFill/>
          <a:ln/>
        </p:spPr>
        <p:txBody>
          <a:bodyPr wrap="square" lIns="0" tIns="0" rIns="0" bIns="0" rtlCol="0" anchor="ctr"/>
          <a:lstStyle/>
          <a:p>
            <a:pPr marL="342900" indent="-342900">
              <a:spcAft>
                <a:spcPts val="400"/>
              </a:spcAft>
              <a:buSzPct val="100000"/>
              <a:buChar char="•"/>
            </a:pPr>
            <a:r>
              <a:rPr lang="en-US" sz="820" dirty="0">
                <a:solidFill>
                  <a:srgbClr val="1B2E4B"/>
                </a:solidFill>
              </a:rPr>
              <a:t>§ 13 Abs. 1 Nr. 1a S. 4 UStG: VAT arises upon RECEIPT of advance payment - earlier than the actual installation date.</a:t>
            </a:r>
            <a:endParaRPr lang="en-US" sz="780" dirty="0"/>
          </a:p>
          <a:p>
            <a:pPr marL="342900" indent="-342900">
              <a:spcAft>
                <a:spcPts val="400"/>
              </a:spcAft>
              <a:buSzPct val="100000"/>
              <a:buChar char="•"/>
            </a:pPr>
            <a:r>
              <a:rPr lang="en-US" sz="820" dirty="0">
                <a:solidFill>
                  <a:srgbClr val="1B2E4B"/>
                </a:solidFill>
              </a:rPr>
              <a:t>§ 14 Abs. 2 Nr. 1 UStG: advance invoice (Anzahlungsrechnung) must be issued within 6 months of receiving the advance.</a:t>
            </a:r>
            <a:endParaRPr lang="en-US" sz="780" dirty="0"/>
          </a:p>
          <a:p>
            <a:pPr marL="342900" indent="-342900">
              <a:spcAft>
                <a:spcPts val="400"/>
              </a:spcAft>
              <a:buSzPct val="100000"/>
              <a:buChar char="•"/>
            </a:pPr>
            <a:r>
              <a:rPr lang="en-US" sz="820" dirty="0">
                <a:solidFill>
                  <a:srgbClr val="1B2E4B"/>
                </a:solidFill>
              </a:rPr>
              <a:t>Final invoice (Schlussrechnung) on installation</a:t>
            </a:r>
            <a:r>
              <a:rPr lang="en-DE" sz="820" dirty="0">
                <a:solidFill>
                  <a:srgbClr val="1B2E4B"/>
                </a:solidFill>
              </a:rPr>
              <a:t>:</a:t>
            </a:r>
            <a:r>
              <a:rPr lang="en-US" sz="820" dirty="0">
                <a:solidFill>
                  <a:srgbClr val="1B2E4B"/>
                </a:solidFill>
              </a:rPr>
              <a:t> reflects remaining balance, references the advance invoice, deducts already-taxed advance amount.</a:t>
            </a:r>
            <a:endParaRPr lang="en-US" sz="780" dirty="0"/>
          </a:p>
          <a:p>
            <a:pPr marL="342900" indent="-342900">
              <a:spcAft>
                <a:spcPts val="400"/>
              </a:spcAft>
              <a:buSzPct val="100000"/>
              <a:buChar char="•"/>
            </a:pPr>
            <a:r>
              <a:rPr lang="en-US" sz="820" dirty="0">
                <a:solidFill>
                  <a:srgbClr val="1B2E4B"/>
                </a:solidFill>
              </a:rPr>
              <a:t>Customer may deduct Vorsteuer on the advance invoice immediately upon receipt, improving their cash flow.</a:t>
            </a:r>
            <a:endParaRPr lang="en-US" sz="780" dirty="0"/>
          </a:p>
        </p:txBody>
      </p:sp>
      <p:sp>
        <p:nvSpPr>
          <p:cNvPr id="23" name="Text 21"/>
          <p:cNvSpPr/>
          <p:nvPr/>
        </p:nvSpPr>
        <p:spPr>
          <a:xfrm>
            <a:off x="411480" y="3268980"/>
            <a:ext cx="6400800" cy="182880"/>
          </a:xfrm>
          <a:prstGeom prst="rect">
            <a:avLst/>
          </a:prstGeom>
          <a:noFill/>
          <a:ln/>
        </p:spPr>
        <p:txBody>
          <a:bodyPr wrap="square" lIns="0" tIns="0" rIns="0" bIns="0" rtlCol="0" anchor="ctr"/>
          <a:lstStyle/>
          <a:p>
            <a:pPr marL="0" indent="0">
              <a:buNone/>
            </a:pPr>
            <a:r>
              <a:rPr lang="en-US" sz="750" b="1" kern="0" spc="100" dirty="0">
                <a:solidFill>
                  <a:srgbClr val="2C4A6E"/>
                </a:solidFill>
              </a:rPr>
              <a:t>VAT PROCESS FLOW WITH ADVANCE PAYMENTS (ANZAHLUNGEN)</a:t>
            </a:r>
            <a:endParaRPr lang="en-US" sz="750" dirty="0"/>
          </a:p>
        </p:txBody>
      </p:sp>
      <p:sp>
        <p:nvSpPr>
          <p:cNvPr id="24" name="Shape 22"/>
          <p:cNvSpPr/>
          <p:nvPr/>
        </p:nvSpPr>
        <p:spPr>
          <a:xfrm>
            <a:off x="411480" y="3497580"/>
            <a:ext cx="1572768" cy="713232"/>
          </a:xfrm>
          <a:prstGeom prst="rect">
            <a:avLst/>
          </a:prstGeom>
          <a:solidFill>
            <a:srgbClr val="2C4A6E"/>
          </a:solidFill>
          <a:ln w="12700">
            <a:solidFill>
              <a:srgbClr val="2C4A6E"/>
            </a:solidFill>
            <a:prstDash val="solid"/>
          </a:ln>
        </p:spPr>
        <p:txBody>
          <a:bodyPr/>
          <a:lstStyle/>
          <a:p>
            <a:endParaRPr lang="en-DE"/>
          </a:p>
        </p:txBody>
      </p:sp>
      <p:sp>
        <p:nvSpPr>
          <p:cNvPr id="25" name="Text 23"/>
          <p:cNvSpPr/>
          <p:nvPr/>
        </p:nvSpPr>
        <p:spPr>
          <a:xfrm>
            <a:off x="411480" y="3497580"/>
            <a:ext cx="1572768" cy="713232"/>
          </a:xfrm>
          <a:prstGeom prst="rect">
            <a:avLst/>
          </a:prstGeom>
          <a:noFill/>
          <a:ln/>
        </p:spPr>
        <p:txBody>
          <a:bodyPr wrap="square" lIns="0" tIns="0" rIns="0" bIns="0" rtlCol="0" anchor="ctr"/>
          <a:lstStyle/>
          <a:p>
            <a:pPr marL="0" indent="0" algn="ctr">
              <a:buNone/>
            </a:pPr>
            <a:r>
              <a:rPr lang="en-US" sz="780" b="1" dirty="0">
                <a:solidFill>
                  <a:srgbClr val="FFFFFF"/>
                </a:solidFill>
              </a:rPr>
              <a:t>Customer pays</a:t>
            </a:r>
            <a:endParaRPr lang="en-US" sz="780" dirty="0"/>
          </a:p>
          <a:p>
            <a:pPr marL="0" indent="0" algn="ctr">
              <a:buNone/>
            </a:pPr>
            <a:r>
              <a:rPr lang="en-US" sz="780" b="1" dirty="0">
                <a:solidFill>
                  <a:srgbClr val="FFFFFF"/>
                </a:solidFill>
              </a:rPr>
              <a:t>Anzahlung (e.g. 30%)</a:t>
            </a:r>
            <a:endParaRPr lang="en-US" sz="780" dirty="0"/>
          </a:p>
        </p:txBody>
      </p:sp>
      <p:sp>
        <p:nvSpPr>
          <p:cNvPr id="26" name="Shape 24"/>
          <p:cNvSpPr/>
          <p:nvPr/>
        </p:nvSpPr>
        <p:spPr>
          <a:xfrm>
            <a:off x="1984248" y="3968496"/>
            <a:ext cx="109728" cy="0"/>
          </a:xfrm>
          <a:prstGeom prst="line">
            <a:avLst/>
          </a:prstGeom>
          <a:noFill/>
          <a:ln w="19050">
            <a:solidFill>
              <a:srgbClr val="006B6B"/>
            </a:solidFill>
            <a:prstDash val="solid"/>
          </a:ln>
        </p:spPr>
        <p:txBody>
          <a:bodyPr/>
          <a:lstStyle/>
          <a:p>
            <a:endParaRPr lang="en-DE"/>
          </a:p>
        </p:txBody>
      </p:sp>
      <p:sp>
        <p:nvSpPr>
          <p:cNvPr id="27" name="Shape 25"/>
          <p:cNvSpPr/>
          <p:nvPr/>
        </p:nvSpPr>
        <p:spPr>
          <a:xfrm>
            <a:off x="2093976" y="3497580"/>
            <a:ext cx="1572768" cy="713232"/>
          </a:xfrm>
          <a:prstGeom prst="rect">
            <a:avLst/>
          </a:prstGeom>
          <a:solidFill>
            <a:srgbClr val="006B6B"/>
          </a:solidFill>
          <a:ln w="12700">
            <a:solidFill>
              <a:srgbClr val="006B6B"/>
            </a:solidFill>
            <a:prstDash val="solid"/>
          </a:ln>
        </p:spPr>
        <p:txBody>
          <a:bodyPr/>
          <a:lstStyle/>
          <a:p>
            <a:endParaRPr lang="en-DE"/>
          </a:p>
        </p:txBody>
      </p:sp>
      <p:sp>
        <p:nvSpPr>
          <p:cNvPr id="28" name="Text 26"/>
          <p:cNvSpPr/>
          <p:nvPr/>
        </p:nvSpPr>
        <p:spPr>
          <a:xfrm>
            <a:off x="2093976" y="3482340"/>
            <a:ext cx="1572768" cy="713232"/>
          </a:xfrm>
          <a:prstGeom prst="rect">
            <a:avLst/>
          </a:prstGeom>
          <a:noFill/>
          <a:ln/>
        </p:spPr>
        <p:txBody>
          <a:bodyPr wrap="square" lIns="0" tIns="0" rIns="0" bIns="0" rtlCol="0" anchor="ctr"/>
          <a:lstStyle/>
          <a:p>
            <a:pPr marL="0" indent="0" algn="ctr">
              <a:buNone/>
            </a:pPr>
            <a:r>
              <a:rPr lang="en-US" sz="780" b="1" dirty="0">
                <a:solidFill>
                  <a:srgbClr val="FFFFFF"/>
                </a:solidFill>
              </a:rPr>
              <a:t>Strabam issues</a:t>
            </a:r>
            <a:endParaRPr lang="en-US" sz="780" dirty="0"/>
          </a:p>
          <a:p>
            <a:pPr marL="0" indent="0" algn="ctr">
              <a:buNone/>
            </a:pPr>
            <a:r>
              <a:rPr lang="en-US" sz="780" b="1" dirty="0">
                <a:solidFill>
                  <a:srgbClr val="FFFFFF"/>
                </a:solidFill>
              </a:rPr>
              <a:t>Anzahlungsrechnung</a:t>
            </a:r>
            <a:endParaRPr lang="en-US" sz="780" dirty="0"/>
          </a:p>
          <a:p>
            <a:pPr marL="0" indent="0" algn="ctr">
              <a:buNone/>
            </a:pPr>
            <a:r>
              <a:rPr lang="en-US" sz="780" b="1" dirty="0">
                <a:solidFill>
                  <a:srgbClr val="FFFFFF"/>
                </a:solidFill>
              </a:rPr>
              <a:t>+ 19% Umsatzsteuer</a:t>
            </a:r>
            <a:endParaRPr lang="en-US" sz="780" dirty="0"/>
          </a:p>
        </p:txBody>
      </p:sp>
      <p:sp>
        <p:nvSpPr>
          <p:cNvPr id="29" name="Shape 27"/>
          <p:cNvSpPr/>
          <p:nvPr/>
        </p:nvSpPr>
        <p:spPr>
          <a:xfrm>
            <a:off x="3666744" y="3968496"/>
            <a:ext cx="109728" cy="0"/>
          </a:xfrm>
          <a:prstGeom prst="line">
            <a:avLst/>
          </a:prstGeom>
          <a:noFill/>
          <a:ln w="19050">
            <a:solidFill>
              <a:srgbClr val="006B6B"/>
            </a:solidFill>
            <a:prstDash val="solid"/>
          </a:ln>
        </p:spPr>
        <p:txBody>
          <a:bodyPr/>
          <a:lstStyle/>
          <a:p>
            <a:endParaRPr lang="en-DE"/>
          </a:p>
        </p:txBody>
      </p:sp>
      <p:sp>
        <p:nvSpPr>
          <p:cNvPr id="30" name="Shape 28"/>
          <p:cNvSpPr/>
          <p:nvPr/>
        </p:nvSpPr>
        <p:spPr>
          <a:xfrm>
            <a:off x="3776472" y="3497580"/>
            <a:ext cx="1572768" cy="713232"/>
          </a:xfrm>
          <a:prstGeom prst="rect">
            <a:avLst/>
          </a:prstGeom>
          <a:solidFill>
            <a:srgbClr val="2C4A6E"/>
          </a:solidFill>
          <a:ln w="12700">
            <a:solidFill>
              <a:srgbClr val="2C4A6E"/>
            </a:solidFill>
            <a:prstDash val="solid"/>
          </a:ln>
        </p:spPr>
        <p:txBody>
          <a:bodyPr/>
          <a:lstStyle/>
          <a:p>
            <a:endParaRPr lang="en-DE"/>
          </a:p>
        </p:txBody>
      </p:sp>
      <p:sp>
        <p:nvSpPr>
          <p:cNvPr id="31" name="Text 29"/>
          <p:cNvSpPr/>
          <p:nvPr/>
        </p:nvSpPr>
        <p:spPr>
          <a:xfrm>
            <a:off x="3776472" y="3497580"/>
            <a:ext cx="1572768" cy="713232"/>
          </a:xfrm>
          <a:prstGeom prst="rect">
            <a:avLst/>
          </a:prstGeom>
          <a:noFill/>
          <a:ln/>
        </p:spPr>
        <p:txBody>
          <a:bodyPr wrap="square" lIns="0" tIns="0" rIns="0" bIns="0" rtlCol="0" anchor="ctr"/>
          <a:lstStyle/>
          <a:p>
            <a:pPr marL="0" indent="0" algn="ctr">
              <a:buNone/>
            </a:pPr>
            <a:r>
              <a:rPr lang="en-US" sz="780" b="1" dirty="0">
                <a:solidFill>
                  <a:srgbClr val="FFFFFF"/>
                </a:solidFill>
              </a:rPr>
              <a:t>Production &amp;</a:t>
            </a:r>
            <a:endParaRPr lang="en-US" sz="780" dirty="0"/>
          </a:p>
          <a:p>
            <a:pPr marL="0" indent="0" algn="ctr">
              <a:buNone/>
            </a:pPr>
            <a:r>
              <a:rPr lang="en-US" sz="780" b="1" dirty="0">
                <a:solidFill>
                  <a:srgbClr val="FFFFFF"/>
                </a:solidFill>
              </a:rPr>
              <a:t>Installation complete</a:t>
            </a:r>
            <a:endParaRPr lang="en-US" sz="780" dirty="0"/>
          </a:p>
          <a:p>
            <a:pPr marL="0" indent="0" algn="ctr">
              <a:buNone/>
            </a:pPr>
            <a:r>
              <a:rPr lang="en-US" sz="780" b="1" dirty="0">
                <a:solidFill>
                  <a:srgbClr val="FFFFFF"/>
                </a:solidFill>
              </a:rPr>
              <a:t>(Abnahme)</a:t>
            </a:r>
            <a:endParaRPr lang="en-US" sz="780" dirty="0"/>
          </a:p>
        </p:txBody>
      </p:sp>
      <p:sp>
        <p:nvSpPr>
          <p:cNvPr id="32" name="Shape 30"/>
          <p:cNvSpPr/>
          <p:nvPr/>
        </p:nvSpPr>
        <p:spPr>
          <a:xfrm>
            <a:off x="5349240" y="3968496"/>
            <a:ext cx="109728" cy="0"/>
          </a:xfrm>
          <a:prstGeom prst="line">
            <a:avLst/>
          </a:prstGeom>
          <a:noFill/>
          <a:ln w="19050">
            <a:solidFill>
              <a:srgbClr val="006B6B"/>
            </a:solidFill>
            <a:prstDash val="solid"/>
          </a:ln>
        </p:spPr>
        <p:txBody>
          <a:bodyPr/>
          <a:lstStyle/>
          <a:p>
            <a:endParaRPr lang="en-DE"/>
          </a:p>
        </p:txBody>
      </p:sp>
      <p:sp>
        <p:nvSpPr>
          <p:cNvPr id="33" name="Shape 31"/>
          <p:cNvSpPr/>
          <p:nvPr/>
        </p:nvSpPr>
        <p:spPr>
          <a:xfrm>
            <a:off x="5458968" y="3497580"/>
            <a:ext cx="1572768" cy="713232"/>
          </a:xfrm>
          <a:prstGeom prst="rect">
            <a:avLst/>
          </a:prstGeom>
          <a:solidFill>
            <a:srgbClr val="006B6B"/>
          </a:solidFill>
          <a:ln w="12700">
            <a:solidFill>
              <a:srgbClr val="006B6B"/>
            </a:solidFill>
            <a:prstDash val="solid"/>
          </a:ln>
        </p:spPr>
        <p:txBody>
          <a:bodyPr/>
          <a:lstStyle/>
          <a:p>
            <a:endParaRPr lang="en-DE"/>
          </a:p>
        </p:txBody>
      </p:sp>
      <p:sp>
        <p:nvSpPr>
          <p:cNvPr id="34" name="Text 32"/>
          <p:cNvSpPr/>
          <p:nvPr/>
        </p:nvSpPr>
        <p:spPr>
          <a:xfrm>
            <a:off x="5458968" y="3482340"/>
            <a:ext cx="1572768" cy="713232"/>
          </a:xfrm>
          <a:prstGeom prst="rect">
            <a:avLst/>
          </a:prstGeom>
          <a:noFill/>
          <a:ln/>
        </p:spPr>
        <p:txBody>
          <a:bodyPr wrap="square" lIns="0" tIns="0" rIns="0" bIns="0" rtlCol="0" anchor="ctr"/>
          <a:lstStyle/>
          <a:p>
            <a:pPr marL="0" indent="0" algn="ctr">
              <a:buNone/>
            </a:pPr>
            <a:r>
              <a:rPr lang="en-US" sz="780" b="1" dirty="0">
                <a:solidFill>
                  <a:srgbClr val="FFFFFF"/>
                </a:solidFill>
              </a:rPr>
              <a:t>Schlussrechnung:</a:t>
            </a:r>
            <a:endParaRPr lang="en-US" sz="780" dirty="0"/>
          </a:p>
          <a:p>
            <a:pPr marL="0" indent="0" algn="ctr">
              <a:buNone/>
            </a:pPr>
            <a:r>
              <a:rPr lang="en-US" sz="780" b="1" dirty="0">
                <a:solidFill>
                  <a:srgbClr val="FFFFFF"/>
                </a:solidFill>
              </a:rPr>
              <a:t>70% balance</a:t>
            </a:r>
            <a:endParaRPr lang="en-US" sz="780" dirty="0"/>
          </a:p>
          <a:p>
            <a:pPr marL="0" indent="0" algn="ctr">
              <a:buNone/>
            </a:pPr>
            <a:r>
              <a:rPr lang="en-US" sz="780" b="1" dirty="0">
                <a:solidFill>
                  <a:srgbClr val="FFFFFF"/>
                </a:solidFill>
              </a:rPr>
              <a:t>+ 19% USt (net)</a:t>
            </a:r>
            <a:endParaRPr lang="en-US" sz="780" dirty="0"/>
          </a:p>
        </p:txBody>
      </p:sp>
      <p:sp>
        <p:nvSpPr>
          <p:cNvPr id="35" name="Shape 33"/>
          <p:cNvSpPr/>
          <p:nvPr/>
        </p:nvSpPr>
        <p:spPr>
          <a:xfrm>
            <a:off x="7031736" y="3968496"/>
            <a:ext cx="109728" cy="0"/>
          </a:xfrm>
          <a:prstGeom prst="line">
            <a:avLst/>
          </a:prstGeom>
          <a:noFill/>
          <a:ln w="19050">
            <a:solidFill>
              <a:srgbClr val="006B6B"/>
            </a:solidFill>
            <a:prstDash val="solid"/>
          </a:ln>
        </p:spPr>
        <p:txBody>
          <a:bodyPr/>
          <a:lstStyle/>
          <a:p>
            <a:endParaRPr lang="en-DE"/>
          </a:p>
        </p:txBody>
      </p:sp>
      <p:sp>
        <p:nvSpPr>
          <p:cNvPr id="36" name="Shape 34"/>
          <p:cNvSpPr/>
          <p:nvPr/>
        </p:nvSpPr>
        <p:spPr>
          <a:xfrm>
            <a:off x="7141464" y="3497580"/>
            <a:ext cx="1572768" cy="713232"/>
          </a:xfrm>
          <a:prstGeom prst="rect">
            <a:avLst/>
          </a:prstGeom>
          <a:solidFill>
            <a:srgbClr val="0A1628"/>
          </a:solidFill>
          <a:ln w="12700">
            <a:solidFill>
              <a:srgbClr val="0A1628"/>
            </a:solidFill>
            <a:prstDash val="solid"/>
          </a:ln>
        </p:spPr>
        <p:txBody>
          <a:bodyPr/>
          <a:lstStyle/>
          <a:p>
            <a:endParaRPr lang="en-DE"/>
          </a:p>
        </p:txBody>
      </p:sp>
      <p:sp>
        <p:nvSpPr>
          <p:cNvPr id="37" name="Text 35"/>
          <p:cNvSpPr/>
          <p:nvPr/>
        </p:nvSpPr>
        <p:spPr>
          <a:xfrm>
            <a:off x="7141464" y="3482340"/>
            <a:ext cx="1572768" cy="713232"/>
          </a:xfrm>
          <a:prstGeom prst="rect">
            <a:avLst/>
          </a:prstGeom>
          <a:noFill/>
          <a:ln/>
        </p:spPr>
        <p:txBody>
          <a:bodyPr wrap="square" lIns="0" tIns="0" rIns="0" bIns="0" rtlCol="0" anchor="ctr"/>
          <a:lstStyle/>
          <a:p>
            <a:pPr marL="0" indent="0" algn="ctr">
              <a:buNone/>
            </a:pPr>
            <a:r>
              <a:rPr lang="en-US" sz="780" b="1" dirty="0">
                <a:solidFill>
                  <a:srgbClr val="FFFFFF"/>
                </a:solidFill>
              </a:rPr>
              <a:t>Customer pays</a:t>
            </a:r>
            <a:endParaRPr lang="en-US" sz="780" dirty="0"/>
          </a:p>
          <a:p>
            <a:pPr marL="0" indent="0" algn="ctr">
              <a:buNone/>
            </a:pPr>
            <a:r>
              <a:rPr lang="en-US" sz="780" b="1" dirty="0">
                <a:solidFill>
                  <a:srgbClr val="FFFFFF"/>
                </a:solidFill>
              </a:rPr>
              <a:t>remainder</a:t>
            </a:r>
            <a:endParaRPr lang="en-US" sz="780" dirty="0"/>
          </a:p>
        </p:txBody>
      </p:sp>
      <p:sp>
        <p:nvSpPr>
          <p:cNvPr id="38" name="Shape 36"/>
          <p:cNvSpPr/>
          <p:nvPr/>
        </p:nvSpPr>
        <p:spPr>
          <a:xfrm>
            <a:off x="411480" y="4300728"/>
            <a:ext cx="8421624" cy="484632"/>
          </a:xfrm>
          <a:prstGeom prst="rect">
            <a:avLst/>
          </a:prstGeom>
          <a:solidFill>
            <a:srgbClr val="E8F4F4"/>
          </a:solidFill>
          <a:ln w="6350">
            <a:solidFill>
              <a:srgbClr val="006B6B"/>
            </a:solidFill>
            <a:prstDash val="solid"/>
          </a:ln>
        </p:spPr>
        <p:txBody>
          <a:bodyPr/>
          <a:lstStyle/>
          <a:p>
            <a:endParaRPr lang="en-DE"/>
          </a:p>
        </p:txBody>
      </p:sp>
      <p:sp>
        <p:nvSpPr>
          <p:cNvPr id="39" name="Shape 37"/>
          <p:cNvSpPr/>
          <p:nvPr/>
        </p:nvSpPr>
        <p:spPr>
          <a:xfrm>
            <a:off x="411480" y="4300728"/>
            <a:ext cx="36576" cy="484632"/>
          </a:xfrm>
          <a:prstGeom prst="rect">
            <a:avLst/>
          </a:prstGeom>
          <a:solidFill>
            <a:srgbClr val="006B6B"/>
          </a:solidFill>
          <a:ln w="12700">
            <a:solidFill>
              <a:srgbClr val="006B6B"/>
            </a:solidFill>
            <a:prstDash val="solid"/>
          </a:ln>
        </p:spPr>
        <p:txBody>
          <a:bodyPr/>
          <a:lstStyle/>
          <a:p>
            <a:endParaRPr lang="en-DE"/>
          </a:p>
        </p:txBody>
      </p:sp>
      <p:sp>
        <p:nvSpPr>
          <p:cNvPr id="40" name="Text 38"/>
          <p:cNvSpPr/>
          <p:nvPr/>
        </p:nvSpPr>
        <p:spPr>
          <a:xfrm>
            <a:off x="512064" y="4346448"/>
            <a:ext cx="2011680" cy="164592"/>
          </a:xfrm>
          <a:prstGeom prst="rect">
            <a:avLst/>
          </a:prstGeom>
          <a:noFill/>
          <a:ln/>
        </p:spPr>
        <p:txBody>
          <a:bodyPr wrap="square" lIns="0" tIns="0" rIns="0" bIns="0" rtlCol="0" anchor="ctr"/>
          <a:lstStyle/>
          <a:p>
            <a:pPr marL="0" indent="0">
              <a:buNone/>
            </a:pPr>
            <a:r>
              <a:rPr lang="en-US" sz="700" b="1" kern="0" spc="50" dirty="0">
                <a:solidFill>
                  <a:srgbClr val="006B6B"/>
                </a:solidFill>
              </a:rPr>
              <a:t>MANAGEMENT ACTION</a:t>
            </a:r>
            <a:endParaRPr lang="en-US" sz="700" dirty="0"/>
          </a:p>
        </p:txBody>
      </p:sp>
      <p:sp>
        <p:nvSpPr>
          <p:cNvPr id="41" name="Text 39"/>
          <p:cNvSpPr/>
          <p:nvPr/>
        </p:nvSpPr>
        <p:spPr>
          <a:xfrm>
            <a:off x="512064" y="4520184"/>
            <a:ext cx="8321040" cy="237744"/>
          </a:xfrm>
          <a:prstGeom prst="rect">
            <a:avLst/>
          </a:prstGeom>
          <a:noFill/>
          <a:ln/>
        </p:spPr>
        <p:txBody>
          <a:bodyPr wrap="square" lIns="0" tIns="0" rIns="0" bIns="0" rtlCol="0" anchor="ctr"/>
          <a:lstStyle/>
          <a:p>
            <a:pPr marL="0" indent="0">
              <a:buNone/>
            </a:pPr>
            <a:r>
              <a:rPr lang="en-US" sz="780" dirty="0">
                <a:solidFill>
                  <a:srgbClr val="1B2E4B"/>
                </a:solidFill>
              </a:rPr>
              <a:t>If advance payments are introduced: update ERP to generate VAT postings on payment receipt date, not installation date. Design separate Anzahlungsrechnung and Schlussrechnung invoice templates compliant with § 14 UStG. Brief the Purchasing Department (Ms. Meyer) on cash flow benefits for customers and VAT timing obligations for Strabam AG.</a:t>
            </a:r>
            <a:endParaRPr lang="en-US" sz="7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C0392B"/>
          </a:solidFill>
          <a:ln w="12700">
            <a:solidFill>
              <a:srgbClr val="C0392B"/>
            </a:solidFill>
            <a:prstDash val="solid"/>
          </a:ln>
        </p:spPr>
        <p:txBody>
          <a:bodyPr/>
          <a:lstStyle/>
          <a:p>
            <a:endParaRPr lang="en-DE"/>
          </a:p>
        </p:txBody>
      </p:sp>
      <p:sp>
        <p:nvSpPr>
          <p:cNvPr id="3" name="Shape 1"/>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4" name="Text 2"/>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5" name="Text 3"/>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RISK</a:t>
            </a:r>
            <a:endParaRPr lang="en-US" sz="7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18 / 23</a:t>
            </a:r>
            <a:endParaRPr lang="en-US" sz="700" dirty="0"/>
          </a:p>
        </p:txBody>
      </p:sp>
      <p:sp>
        <p:nvSpPr>
          <p:cNvPr id="7" name="Text 5"/>
          <p:cNvSpPr/>
          <p:nvPr/>
        </p:nvSpPr>
        <p:spPr>
          <a:xfrm>
            <a:off x="411480" y="137160"/>
            <a:ext cx="6400800" cy="201168"/>
          </a:xfrm>
          <a:prstGeom prst="rect">
            <a:avLst/>
          </a:prstGeom>
          <a:noFill/>
          <a:ln/>
        </p:spPr>
        <p:txBody>
          <a:bodyPr wrap="square" lIns="0" tIns="0" rIns="0" bIns="0" rtlCol="0" anchor="ctr"/>
          <a:lstStyle/>
          <a:p>
            <a:pPr marL="0" indent="0">
              <a:buNone/>
            </a:pPr>
            <a:r>
              <a:rPr lang="en-US" sz="800" b="1" kern="0" spc="200" dirty="0">
                <a:solidFill>
                  <a:srgbClr val="C0392B"/>
                </a:solidFill>
              </a:rPr>
              <a:t>06 | Risk Assessment</a:t>
            </a:r>
            <a:endParaRPr lang="en-US" sz="800" dirty="0"/>
          </a:p>
        </p:txBody>
      </p:sp>
      <p:sp>
        <p:nvSpPr>
          <p:cNvPr id="8" name="Text 6"/>
          <p:cNvSpPr/>
          <p:nvPr/>
        </p:nvSpPr>
        <p:spPr>
          <a:xfrm>
            <a:off x="411480" y="338328"/>
            <a:ext cx="8046720" cy="502920"/>
          </a:xfrm>
          <a:prstGeom prst="rect">
            <a:avLst/>
          </a:prstGeom>
          <a:noFill/>
          <a:ln/>
        </p:spPr>
        <p:txBody>
          <a:bodyPr wrap="square" lIns="0" tIns="0" rIns="0" bIns="0" rtlCol="0" anchor="ctr"/>
          <a:lstStyle/>
          <a:p>
            <a:pPr marL="0" indent="0">
              <a:buNone/>
            </a:pPr>
            <a:r>
              <a:rPr lang="en-US" sz="2100" b="1" dirty="0">
                <a:solidFill>
                  <a:srgbClr val="0A1628"/>
                </a:solidFill>
              </a:rPr>
              <a:t>Risk Heatmap - VAT Compliance Portfolio</a:t>
            </a:r>
            <a:endParaRPr lang="en-US" sz="2100" dirty="0"/>
          </a:p>
        </p:txBody>
      </p:sp>
      <p:sp>
        <p:nvSpPr>
          <p:cNvPr id="9" name="Shape 7"/>
          <p:cNvSpPr/>
          <p:nvPr/>
        </p:nvSpPr>
        <p:spPr>
          <a:xfrm>
            <a:off x="411480" y="914400"/>
            <a:ext cx="8503920" cy="0"/>
          </a:xfrm>
          <a:prstGeom prst="line">
            <a:avLst/>
          </a:prstGeom>
          <a:noFill/>
          <a:ln w="6350">
            <a:solidFill>
              <a:srgbClr val="CBD5E1"/>
            </a:solidFill>
            <a:prstDash val="solid"/>
          </a:ln>
        </p:spPr>
        <p:txBody>
          <a:bodyPr/>
          <a:lstStyle/>
          <a:p>
            <a:endParaRPr lang="en-DE"/>
          </a:p>
        </p:txBody>
      </p:sp>
      <p:sp>
        <p:nvSpPr>
          <p:cNvPr id="10" name="Text 8"/>
          <p:cNvSpPr/>
          <p:nvPr/>
        </p:nvSpPr>
        <p:spPr>
          <a:xfrm>
            <a:off x="1051560" y="731520"/>
            <a:ext cx="1481328" cy="237744"/>
          </a:xfrm>
          <a:prstGeom prst="rect">
            <a:avLst/>
          </a:prstGeom>
          <a:noFill/>
          <a:ln/>
        </p:spPr>
        <p:txBody>
          <a:bodyPr wrap="square" lIns="0" tIns="0" rIns="0" bIns="0" rtlCol="0" anchor="ctr"/>
          <a:lstStyle/>
          <a:p>
            <a:pPr marL="0" indent="0" algn="ctr">
              <a:buNone/>
            </a:pPr>
            <a:r>
              <a:rPr lang="en-US" sz="750" b="1" dirty="0">
                <a:solidFill>
                  <a:srgbClr val="64748B"/>
                </a:solidFill>
              </a:rPr>
              <a:t>Low Impact</a:t>
            </a:r>
            <a:endParaRPr lang="en-US" sz="750" dirty="0"/>
          </a:p>
        </p:txBody>
      </p:sp>
      <p:sp>
        <p:nvSpPr>
          <p:cNvPr id="11" name="Text 9"/>
          <p:cNvSpPr/>
          <p:nvPr/>
        </p:nvSpPr>
        <p:spPr>
          <a:xfrm>
            <a:off x="2532888" y="731520"/>
            <a:ext cx="1481328" cy="237744"/>
          </a:xfrm>
          <a:prstGeom prst="rect">
            <a:avLst/>
          </a:prstGeom>
          <a:noFill/>
          <a:ln/>
        </p:spPr>
        <p:txBody>
          <a:bodyPr wrap="square" lIns="0" tIns="0" rIns="0" bIns="0" rtlCol="0" anchor="ctr"/>
          <a:lstStyle/>
          <a:p>
            <a:pPr marL="0" indent="0" algn="ctr">
              <a:buNone/>
            </a:pPr>
            <a:r>
              <a:rPr lang="en-US" sz="750" b="1" dirty="0">
                <a:solidFill>
                  <a:srgbClr val="64748B"/>
                </a:solidFill>
              </a:rPr>
              <a:t>Medium Impact</a:t>
            </a:r>
            <a:endParaRPr lang="en-US" sz="750" dirty="0"/>
          </a:p>
        </p:txBody>
      </p:sp>
      <p:sp>
        <p:nvSpPr>
          <p:cNvPr id="12" name="Text 10"/>
          <p:cNvSpPr/>
          <p:nvPr/>
        </p:nvSpPr>
        <p:spPr>
          <a:xfrm>
            <a:off x="4014216" y="731520"/>
            <a:ext cx="1481328" cy="237744"/>
          </a:xfrm>
          <a:prstGeom prst="rect">
            <a:avLst/>
          </a:prstGeom>
          <a:noFill/>
          <a:ln/>
        </p:spPr>
        <p:txBody>
          <a:bodyPr wrap="square" lIns="0" tIns="0" rIns="0" bIns="0" rtlCol="0" anchor="ctr"/>
          <a:lstStyle/>
          <a:p>
            <a:pPr marL="0" indent="0" algn="ctr">
              <a:buNone/>
            </a:pPr>
            <a:r>
              <a:rPr lang="en-US" sz="750" b="1" dirty="0">
                <a:solidFill>
                  <a:srgbClr val="64748B"/>
                </a:solidFill>
              </a:rPr>
              <a:t>High Impact</a:t>
            </a:r>
            <a:endParaRPr lang="en-US" sz="750" dirty="0"/>
          </a:p>
        </p:txBody>
      </p:sp>
      <p:sp>
        <p:nvSpPr>
          <p:cNvPr id="13" name="Text 11"/>
          <p:cNvSpPr/>
          <p:nvPr/>
        </p:nvSpPr>
        <p:spPr>
          <a:xfrm>
            <a:off x="5495544" y="731520"/>
            <a:ext cx="1481328" cy="237744"/>
          </a:xfrm>
          <a:prstGeom prst="rect">
            <a:avLst/>
          </a:prstGeom>
          <a:noFill/>
          <a:ln/>
        </p:spPr>
        <p:txBody>
          <a:bodyPr wrap="square" lIns="0" tIns="0" rIns="0" bIns="0" rtlCol="0" anchor="ctr"/>
          <a:lstStyle/>
          <a:p>
            <a:pPr marL="0" indent="0" algn="ctr">
              <a:buNone/>
            </a:pPr>
            <a:r>
              <a:rPr lang="en-US" sz="750" b="1" dirty="0">
                <a:solidFill>
                  <a:srgbClr val="64748B"/>
                </a:solidFill>
              </a:rPr>
              <a:t>Critical Impact</a:t>
            </a:r>
            <a:endParaRPr lang="en-US" sz="750" dirty="0"/>
          </a:p>
        </p:txBody>
      </p:sp>
      <p:sp>
        <p:nvSpPr>
          <p:cNvPr id="14" name="Text 12"/>
          <p:cNvSpPr/>
          <p:nvPr/>
        </p:nvSpPr>
        <p:spPr>
          <a:xfrm>
            <a:off x="91440" y="2670048"/>
            <a:ext cx="914400" cy="237744"/>
          </a:xfrm>
          <a:prstGeom prst="rect">
            <a:avLst/>
          </a:prstGeom>
          <a:noFill/>
          <a:ln/>
        </p:spPr>
        <p:txBody>
          <a:bodyPr wrap="square" lIns="0" tIns="0" rIns="0" bIns="0" rtlCol="0" anchor="ctr"/>
          <a:lstStyle/>
          <a:p>
            <a:pPr marL="0" indent="0" algn="r">
              <a:buNone/>
            </a:pPr>
            <a:r>
              <a:rPr lang="en-US" sz="700" dirty="0">
                <a:solidFill>
                  <a:srgbClr val="64748B"/>
                </a:solidFill>
              </a:rPr>
              <a:t>Low Likelihood</a:t>
            </a:r>
            <a:endParaRPr lang="en-US" sz="700" dirty="0"/>
          </a:p>
        </p:txBody>
      </p:sp>
      <p:sp>
        <p:nvSpPr>
          <p:cNvPr id="15" name="Text 13"/>
          <p:cNvSpPr/>
          <p:nvPr/>
        </p:nvSpPr>
        <p:spPr>
          <a:xfrm>
            <a:off x="91440" y="1956816"/>
            <a:ext cx="914400" cy="237744"/>
          </a:xfrm>
          <a:prstGeom prst="rect">
            <a:avLst/>
          </a:prstGeom>
          <a:noFill/>
          <a:ln/>
        </p:spPr>
        <p:txBody>
          <a:bodyPr wrap="square" lIns="0" tIns="0" rIns="0" bIns="0" rtlCol="0" anchor="ctr"/>
          <a:lstStyle/>
          <a:p>
            <a:pPr marL="0" indent="0" algn="r">
              <a:buNone/>
            </a:pPr>
            <a:r>
              <a:rPr lang="en-US" sz="700" dirty="0">
                <a:solidFill>
                  <a:srgbClr val="64748B"/>
                </a:solidFill>
              </a:rPr>
              <a:t>Medium Likelihood</a:t>
            </a:r>
            <a:endParaRPr lang="en-US" sz="700" dirty="0"/>
          </a:p>
        </p:txBody>
      </p:sp>
      <p:sp>
        <p:nvSpPr>
          <p:cNvPr id="16" name="Text 14"/>
          <p:cNvSpPr/>
          <p:nvPr/>
        </p:nvSpPr>
        <p:spPr>
          <a:xfrm>
            <a:off x="91440" y="1243584"/>
            <a:ext cx="914400" cy="237744"/>
          </a:xfrm>
          <a:prstGeom prst="rect">
            <a:avLst/>
          </a:prstGeom>
          <a:noFill/>
          <a:ln/>
        </p:spPr>
        <p:txBody>
          <a:bodyPr wrap="square" lIns="0" tIns="0" rIns="0" bIns="0" rtlCol="0" anchor="ctr"/>
          <a:lstStyle/>
          <a:p>
            <a:pPr marL="0" indent="0" algn="r">
              <a:buNone/>
            </a:pPr>
            <a:r>
              <a:rPr lang="en-US" sz="700" dirty="0">
                <a:solidFill>
                  <a:srgbClr val="64748B"/>
                </a:solidFill>
              </a:rPr>
              <a:t>High Likelihood</a:t>
            </a:r>
            <a:endParaRPr lang="en-US" sz="700" dirty="0"/>
          </a:p>
        </p:txBody>
      </p:sp>
      <p:sp>
        <p:nvSpPr>
          <p:cNvPr id="18" name="Shape 16"/>
          <p:cNvSpPr/>
          <p:nvPr/>
        </p:nvSpPr>
        <p:spPr>
          <a:xfrm>
            <a:off x="1051560" y="2432304"/>
            <a:ext cx="1481328" cy="713232"/>
          </a:xfrm>
          <a:prstGeom prst="rect">
            <a:avLst/>
          </a:prstGeom>
          <a:solidFill>
            <a:srgbClr val="DDEEFF"/>
          </a:solidFill>
          <a:ln w="3810">
            <a:solidFill>
              <a:srgbClr val="BBBBBB"/>
            </a:solidFill>
            <a:prstDash val="solid"/>
          </a:ln>
        </p:spPr>
        <p:txBody>
          <a:bodyPr/>
          <a:lstStyle/>
          <a:p>
            <a:endParaRPr lang="en-DE"/>
          </a:p>
        </p:txBody>
      </p:sp>
      <p:sp>
        <p:nvSpPr>
          <p:cNvPr id="19" name="Shape 17"/>
          <p:cNvSpPr/>
          <p:nvPr/>
        </p:nvSpPr>
        <p:spPr>
          <a:xfrm>
            <a:off x="2532888" y="2432304"/>
            <a:ext cx="1481328" cy="713232"/>
          </a:xfrm>
          <a:prstGeom prst="rect">
            <a:avLst/>
          </a:prstGeom>
          <a:solidFill>
            <a:srgbClr val="CCFFDD"/>
          </a:solidFill>
          <a:ln w="3810">
            <a:solidFill>
              <a:srgbClr val="BBBBBB"/>
            </a:solidFill>
            <a:prstDash val="solid"/>
          </a:ln>
        </p:spPr>
        <p:txBody>
          <a:bodyPr/>
          <a:lstStyle/>
          <a:p>
            <a:endParaRPr lang="en-DE"/>
          </a:p>
        </p:txBody>
      </p:sp>
      <p:sp>
        <p:nvSpPr>
          <p:cNvPr id="20" name="Shape 18"/>
          <p:cNvSpPr/>
          <p:nvPr/>
        </p:nvSpPr>
        <p:spPr>
          <a:xfrm>
            <a:off x="4014216" y="2432304"/>
            <a:ext cx="1481328" cy="713232"/>
          </a:xfrm>
          <a:prstGeom prst="rect">
            <a:avLst/>
          </a:prstGeom>
          <a:solidFill>
            <a:srgbClr val="CCFFDD"/>
          </a:solidFill>
          <a:ln w="3810">
            <a:solidFill>
              <a:srgbClr val="BBBBBB"/>
            </a:solidFill>
            <a:prstDash val="solid"/>
          </a:ln>
        </p:spPr>
        <p:txBody>
          <a:bodyPr/>
          <a:lstStyle/>
          <a:p>
            <a:endParaRPr lang="en-DE"/>
          </a:p>
        </p:txBody>
      </p:sp>
      <p:sp>
        <p:nvSpPr>
          <p:cNvPr id="21" name="Shape 19"/>
          <p:cNvSpPr/>
          <p:nvPr/>
        </p:nvSpPr>
        <p:spPr>
          <a:xfrm>
            <a:off x="5495544" y="2432304"/>
            <a:ext cx="1481328" cy="713232"/>
          </a:xfrm>
          <a:prstGeom prst="rect">
            <a:avLst/>
          </a:prstGeom>
          <a:solidFill>
            <a:srgbClr val="FFEECC"/>
          </a:solidFill>
          <a:ln w="3810">
            <a:solidFill>
              <a:srgbClr val="BBBBBB"/>
            </a:solidFill>
            <a:prstDash val="solid"/>
          </a:ln>
        </p:spPr>
        <p:txBody>
          <a:bodyPr/>
          <a:lstStyle/>
          <a:p>
            <a:endParaRPr lang="en-DE"/>
          </a:p>
        </p:txBody>
      </p:sp>
      <p:sp>
        <p:nvSpPr>
          <p:cNvPr id="22" name="Shape 20"/>
          <p:cNvSpPr/>
          <p:nvPr/>
        </p:nvSpPr>
        <p:spPr>
          <a:xfrm>
            <a:off x="1051560" y="1719072"/>
            <a:ext cx="1481328" cy="713232"/>
          </a:xfrm>
          <a:prstGeom prst="rect">
            <a:avLst/>
          </a:prstGeom>
          <a:solidFill>
            <a:srgbClr val="CCFFDD"/>
          </a:solidFill>
          <a:ln w="3810">
            <a:solidFill>
              <a:srgbClr val="BBBBBB"/>
            </a:solidFill>
            <a:prstDash val="solid"/>
          </a:ln>
        </p:spPr>
        <p:txBody>
          <a:bodyPr/>
          <a:lstStyle/>
          <a:p>
            <a:endParaRPr lang="en-DE"/>
          </a:p>
        </p:txBody>
      </p:sp>
      <p:sp>
        <p:nvSpPr>
          <p:cNvPr id="23" name="Shape 21"/>
          <p:cNvSpPr/>
          <p:nvPr/>
        </p:nvSpPr>
        <p:spPr>
          <a:xfrm>
            <a:off x="2532888" y="1719072"/>
            <a:ext cx="1481328" cy="713232"/>
          </a:xfrm>
          <a:prstGeom prst="rect">
            <a:avLst/>
          </a:prstGeom>
          <a:solidFill>
            <a:srgbClr val="FFEECC"/>
          </a:solidFill>
          <a:ln w="3810">
            <a:solidFill>
              <a:srgbClr val="BBBBBB"/>
            </a:solidFill>
            <a:prstDash val="solid"/>
          </a:ln>
        </p:spPr>
        <p:txBody>
          <a:bodyPr/>
          <a:lstStyle/>
          <a:p>
            <a:endParaRPr lang="en-DE"/>
          </a:p>
        </p:txBody>
      </p:sp>
      <p:sp>
        <p:nvSpPr>
          <p:cNvPr id="24" name="Shape 22"/>
          <p:cNvSpPr/>
          <p:nvPr/>
        </p:nvSpPr>
        <p:spPr>
          <a:xfrm>
            <a:off x="4014216" y="1719072"/>
            <a:ext cx="1481328" cy="713232"/>
          </a:xfrm>
          <a:prstGeom prst="rect">
            <a:avLst/>
          </a:prstGeom>
          <a:solidFill>
            <a:srgbClr val="FFEECC"/>
          </a:solidFill>
          <a:ln w="3810">
            <a:solidFill>
              <a:srgbClr val="BBBBBB"/>
            </a:solidFill>
            <a:prstDash val="solid"/>
          </a:ln>
        </p:spPr>
        <p:txBody>
          <a:bodyPr/>
          <a:lstStyle/>
          <a:p>
            <a:endParaRPr lang="en-DE"/>
          </a:p>
        </p:txBody>
      </p:sp>
      <p:sp>
        <p:nvSpPr>
          <p:cNvPr id="25" name="Shape 23"/>
          <p:cNvSpPr/>
          <p:nvPr/>
        </p:nvSpPr>
        <p:spPr>
          <a:xfrm>
            <a:off x="5495544" y="1719072"/>
            <a:ext cx="1481328" cy="713232"/>
          </a:xfrm>
          <a:prstGeom prst="rect">
            <a:avLst/>
          </a:prstGeom>
          <a:solidFill>
            <a:srgbClr val="FFCCCC"/>
          </a:solidFill>
          <a:ln w="3810">
            <a:solidFill>
              <a:srgbClr val="BBBBBB"/>
            </a:solidFill>
            <a:prstDash val="solid"/>
          </a:ln>
        </p:spPr>
        <p:txBody>
          <a:bodyPr/>
          <a:lstStyle/>
          <a:p>
            <a:endParaRPr lang="en-DE"/>
          </a:p>
        </p:txBody>
      </p:sp>
      <p:sp>
        <p:nvSpPr>
          <p:cNvPr id="26" name="Shape 24"/>
          <p:cNvSpPr/>
          <p:nvPr/>
        </p:nvSpPr>
        <p:spPr>
          <a:xfrm>
            <a:off x="1051560" y="1005840"/>
            <a:ext cx="1481328" cy="713232"/>
          </a:xfrm>
          <a:prstGeom prst="rect">
            <a:avLst/>
          </a:prstGeom>
          <a:solidFill>
            <a:srgbClr val="FFEECC"/>
          </a:solidFill>
          <a:ln w="3810">
            <a:solidFill>
              <a:srgbClr val="BBBBBB"/>
            </a:solidFill>
            <a:prstDash val="solid"/>
          </a:ln>
        </p:spPr>
        <p:txBody>
          <a:bodyPr/>
          <a:lstStyle/>
          <a:p>
            <a:endParaRPr lang="en-DE"/>
          </a:p>
        </p:txBody>
      </p:sp>
      <p:sp>
        <p:nvSpPr>
          <p:cNvPr id="27" name="Shape 25"/>
          <p:cNvSpPr/>
          <p:nvPr/>
        </p:nvSpPr>
        <p:spPr>
          <a:xfrm>
            <a:off x="2532888" y="1005840"/>
            <a:ext cx="1481328" cy="713232"/>
          </a:xfrm>
          <a:prstGeom prst="rect">
            <a:avLst/>
          </a:prstGeom>
          <a:solidFill>
            <a:srgbClr val="FFCCCC"/>
          </a:solidFill>
          <a:ln w="3810">
            <a:solidFill>
              <a:srgbClr val="BBBBBB"/>
            </a:solidFill>
            <a:prstDash val="solid"/>
          </a:ln>
        </p:spPr>
        <p:txBody>
          <a:bodyPr/>
          <a:lstStyle/>
          <a:p>
            <a:endParaRPr lang="en-DE"/>
          </a:p>
        </p:txBody>
      </p:sp>
      <p:sp>
        <p:nvSpPr>
          <p:cNvPr id="28" name="Shape 26"/>
          <p:cNvSpPr/>
          <p:nvPr/>
        </p:nvSpPr>
        <p:spPr>
          <a:xfrm>
            <a:off x="4014216" y="1005840"/>
            <a:ext cx="1481328" cy="713232"/>
          </a:xfrm>
          <a:prstGeom prst="rect">
            <a:avLst/>
          </a:prstGeom>
          <a:solidFill>
            <a:srgbClr val="FFCCCC"/>
          </a:solidFill>
          <a:ln w="3810">
            <a:solidFill>
              <a:srgbClr val="BBBBBB"/>
            </a:solidFill>
            <a:prstDash val="solid"/>
          </a:ln>
        </p:spPr>
        <p:txBody>
          <a:bodyPr/>
          <a:lstStyle/>
          <a:p>
            <a:endParaRPr lang="en-DE"/>
          </a:p>
        </p:txBody>
      </p:sp>
      <p:sp>
        <p:nvSpPr>
          <p:cNvPr id="29" name="Shape 27"/>
          <p:cNvSpPr/>
          <p:nvPr/>
        </p:nvSpPr>
        <p:spPr>
          <a:xfrm>
            <a:off x="5495544" y="1005840"/>
            <a:ext cx="1481328" cy="713232"/>
          </a:xfrm>
          <a:prstGeom prst="rect">
            <a:avLst/>
          </a:prstGeom>
          <a:solidFill>
            <a:srgbClr val="FFAAAA"/>
          </a:solidFill>
          <a:ln w="3810">
            <a:solidFill>
              <a:srgbClr val="BBBBBB"/>
            </a:solidFill>
            <a:prstDash val="solid"/>
          </a:ln>
        </p:spPr>
        <p:txBody>
          <a:bodyPr/>
          <a:lstStyle/>
          <a:p>
            <a:endParaRPr lang="en-DE"/>
          </a:p>
        </p:txBody>
      </p:sp>
      <p:sp>
        <p:nvSpPr>
          <p:cNvPr id="30" name="Shape 28"/>
          <p:cNvSpPr/>
          <p:nvPr/>
        </p:nvSpPr>
        <p:spPr>
          <a:xfrm>
            <a:off x="2587752" y="2487168"/>
            <a:ext cx="694944" cy="274320"/>
          </a:xfrm>
          <a:prstGeom prst="rect">
            <a:avLst/>
          </a:prstGeom>
          <a:solidFill>
            <a:srgbClr val="15803D"/>
          </a:solidFill>
          <a:ln w="12700">
            <a:solidFill>
              <a:srgbClr val="15803D"/>
            </a:solidFill>
            <a:prstDash val="solid"/>
          </a:ln>
          <a:effectLst>
            <a:outerShdw blurRad="38100" dist="12700" dir="8100000" algn="bl" rotWithShape="0">
              <a:srgbClr val="000000">
                <a:alpha val="6000"/>
              </a:srgbClr>
            </a:outerShdw>
          </a:effectLst>
        </p:spPr>
        <p:txBody>
          <a:bodyPr/>
          <a:lstStyle/>
          <a:p>
            <a:endParaRPr lang="en-DE"/>
          </a:p>
        </p:txBody>
      </p:sp>
      <p:sp>
        <p:nvSpPr>
          <p:cNvPr id="31" name="Text 29"/>
          <p:cNvSpPr/>
          <p:nvPr/>
        </p:nvSpPr>
        <p:spPr>
          <a:xfrm>
            <a:off x="2587752" y="2487168"/>
            <a:ext cx="694944" cy="274320"/>
          </a:xfrm>
          <a:prstGeom prst="rect">
            <a:avLst/>
          </a:prstGeom>
          <a:noFill/>
          <a:ln/>
        </p:spPr>
        <p:txBody>
          <a:bodyPr wrap="square" lIns="0" tIns="0" rIns="0" bIns="0" rtlCol="0" anchor="ctr"/>
          <a:lstStyle/>
          <a:p>
            <a:pPr marL="0" indent="0" algn="ctr">
              <a:buNone/>
            </a:pPr>
            <a:r>
              <a:rPr lang="en-US" sz="600" b="1" dirty="0">
                <a:solidFill>
                  <a:srgbClr val="FFFFFF"/>
                </a:solidFill>
              </a:rPr>
              <a:t>T1 Import VAT</a:t>
            </a:r>
            <a:endParaRPr lang="en-US" sz="600" dirty="0"/>
          </a:p>
        </p:txBody>
      </p:sp>
      <p:sp>
        <p:nvSpPr>
          <p:cNvPr id="32" name="Shape 30"/>
          <p:cNvSpPr/>
          <p:nvPr/>
        </p:nvSpPr>
        <p:spPr>
          <a:xfrm>
            <a:off x="1106424" y="2487168"/>
            <a:ext cx="694944" cy="274320"/>
          </a:xfrm>
          <a:prstGeom prst="rect">
            <a:avLst/>
          </a:prstGeom>
          <a:solidFill>
            <a:srgbClr val="15803D"/>
          </a:solidFill>
          <a:ln w="12700">
            <a:solidFill>
              <a:srgbClr val="15803D"/>
            </a:solidFill>
            <a:prstDash val="solid"/>
          </a:ln>
          <a:effectLst>
            <a:outerShdw blurRad="38100" dist="12700" dir="8100000" algn="bl" rotWithShape="0">
              <a:srgbClr val="000000">
                <a:alpha val="6000"/>
              </a:srgbClr>
            </a:outerShdw>
          </a:effectLst>
        </p:spPr>
        <p:txBody>
          <a:bodyPr/>
          <a:lstStyle/>
          <a:p>
            <a:endParaRPr lang="en-DE"/>
          </a:p>
        </p:txBody>
      </p:sp>
      <p:sp>
        <p:nvSpPr>
          <p:cNvPr id="33" name="Text 31"/>
          <p:cNvSpPr/>
          <p:nvPr/>
        </p:nvSpPr>
        <p:spPr>
          <a:xfrm>
            <a:off x="1106424" y="2487168"/>
            <a:ext cx="694944" cy="274320"/>
          </a:xfrm>
          <a:prstGeom prst="rect">
            <a:avLst/>
          </a:prstGeom>
          <a:noFill/>
          <a:ln/>
        </p:spPr>
        <p:txBody>
          <a:bodyPr wrap="square" lIns="0" tIns="0" rIns="0" bIns="0" rtlCol="0" anchor="ctr"/>
          <a:lstStyle/>
          <a:p>
            <a:pPr marL="0" indent="0" algn="ctr">
              <a:buNone/>
            </a:pPr>
            <a:r>
              <a:rPr lang="en-US" sz="600" b="1" dirty="0">
                <a:solidFill>
                  <a:srgbClr val="FFFFFF"/>
                </a:solidFill>
              </a:rPr>
              <a:t>T7 Maintenance</a:t>
            </a:r>
            <a:endParaRPr lang="en-US" sz="600" dirty="0"/>
          </a:p>
        </p:txBody>
      </p:sp>
      <p:sp>
        <p:nvSpPr>
          <p:cNvPr id="34" name="Shape 32"/>
          <p:cNvSpPr/>
          <p:nvPr/>
        </p:nvSpPr>
        <p:spPr>
          <a:xfrm>
            <a:off x="4069080" y="2487168"/>
            <a:ext cx="694944" cy="274320"/>
          </a:xfrm>
          <a:prstGeom prst="rect">
            <a:avLst/>
          </a:prstGeom>
          <a:solidFill>
            <a:srgbClr val="15803D"/>
          </a:solidFill>
          <a:ln w="12700">
            <a:solidFill>
              <a:srgbClr val="15803D"/>
            </a:solidFill>
            <a:prstDash val="solid"/>
          </a:ln>
          <a:effectLst>
            <a:outerShdw blurRad="38100" dist="12700" dir="8100000" algn="bl" rotWithShape="0">
              <a:srgbClr val="000000">
                <a:alpha val="6000"/>
              </a:srgbClr>
            </a:outerShdw>
          </a:effectLst>
        </p:spPr>
        <p:txBody>
          <a:bodyPr/>
          <a:lstStyle/>
          <a:p>
            <a:endParaRPr lang="en-DE"/>
          </a:p>
        </p:txBody>
      </p:sp>
      <p:sp>
        <p:nvSpPr>
          <p:cNvPr id="35" name="Text 33"/>
          <p:cNvSpPr/>
          <p:nvPr/>
        </p:nvSpPr>
        <p:spPr>
          <a:xfrm>
            <a:off x="4069080" y="2487168"/>
            <a:ext cx="694944" cy="274320"/>
          </a:xfrm>
          <a:prstGeom prst="rect">
            <a:avLst/>
          </a:prstGeom>
          <a:noFill/>
          <a:ln/>
        </p:spPr>
        <p:txBody>
          <a:bodyPr wrap="square" lIns="0" tIns="0" rIns="0" bIns="0" rtlCol="0" anchor="ctr"/>
          <a:lstStyle/>
          <a:p>
            <a:pPr marL="0" indent="0" algn="ctr">
              <a:buNone/>
            </a:pPr>
            <a:r>
              <a:rPr lang="en-US" sz="600" b="1" dirty="0">
                <a:solidFill>
                  <a:srgbClr val="FFFFFF"/>
                </a:solidFill>
              </a:rPr>
              <a:t>T5 Domestic Sales</a:t>
            </a:r>
            <a:endParaRPr lang="en-US" sz="600" dirty="0"/>
          </a:p>
        </p:txBody>
      </p:sp>
      <p:sp>
        <p:nvSpPr>
          <p:cNvPr id="36" name="Shape 34"/>
          <p:cNvSpPr/>
          <p:nvPr/>
        </p:nvSpPr>
        <p:spPr>
          <a:xfrm>
            <a:off x="2587752" y="1773936"/>
            <a:ext cx="694944" cy="274320"/>
          </a:xfrm>
          <a:prstGeom prst="rect">
            <a:avLst/>
          </a:prstGeom>
          <a:solidFill>
            <a:srgbClr val="D97706"/>
          </a:solidFill>
          <a:ln w="12700">
            <a:solidFill>
              <a:srgbClr val="D97706"/>
            </a:solidFill>
            <a:prstDash val="solid"/>
          </a:ln>
          <a:effectLst>
            <a:outerShdw blurRad="38100" dist="12700" dir="8100000" algn="bl" rotWithShape="0">
              <a:srgbClr val="000000">
                <a:alpha val="6000"/>
              </a:srgbClr>
            </a:outerShdw>
          </a:effectLst>
        </p:spPr>
        <p:txBody>
          <a:bodyPr/>
          <a:lstStyle/>
          <a:p>
            <a:endParaRPr lang="en-DE"/>
          </a:p>
        </p:txBody>
      </p:sp>
      <p:sp>
        <p:nvSpPr>
          <p:cNvPr id="37" name="Text 35"/>
          <p:cNvSpPr/>
          <p:nvPr/>
        </p:nvSpPr>
        <p:spPr>
          <a:xfrm>
            <a:off x="2587752" y="1773936"/>
            <a:ext cx="694944" cy="274320"/>
          </a:xfrm>
          <a:prstGeom prst="rect">
            <a:avLst/>
          </a:prstGeom>
          <a:noFill/>
          <a:ln/>
        </p:spPr>
        <p:txBody>
          <a:bodyPr wrap="square" lIns="0" tIns="0" rIns="0" bIns="0" rtlCol="0" anchor="ctr"/>
          <a:lstStyle/>
          <a:p>
            <a:pPr marL="0" indent="0" algn="ctr">
              <a:buNone/>
            </a:pPr>
            <a:r>
              <a:rPr lang="en-US" sz="600" b="1" dirty="0">
                <a:solidFill>
                  <a:srgbClr val="FFFFFF"/>
                </a:solidFill>
              </a:rPr>
              <a:t>T6 PL Machines</a:t>
            </a:r>
            <a:endParaRPr lang="en-US" sz="600" dirty="0"/>
          </a:p>
        </p:txBody>
      </p:sp>
      <p:sp>
        <p:nvSpPr>
          <p:cNvPr id="38" name="Shape 36"/>
          <p:cNvSpPr/>
          <p:nvPr/>
        </p:nvSpPr>
        <p:spPr>
          <a:xfrm>
            <a:off x="4069080" y="1773936"/>
            <a:ext cx="694944" cy="274320"/>
          </a:xfrm>
          <a:prstGeom prst="rect">
            <a:avLst/>
          </a:prstGeom>
          <a:solidFill>
            <a:srgbClr val="D97706"/>
          </a:solidFill>
          <a:ln w="12700">
            <a:solidFill>
              <a:srgbClr val="D97706"/>
            </a:solidFill>
            <a:prstDash val="solid"/>
          </a:ln>
          <a:effectLst>
            <a:outerShdw blurRad="38100" dist="12700" dir="8100000" algn="bl" rotWithShape="0">
              <a:srgbClr val="000000">
                <a:alpha val="6000"/>
              </a:srgbClr>
            </a:outerShdw>
          </a:effectLst>
        </p:spPr>
        <p:txBody>
          <a:bodyPr/>
          <a:lstStyle/>
          <a:p>
            <a:endParaRPr lang="en-DE"/>
          </a:p>
        </p:txBody>
      </p:sp>
      <p:sp>
        <p:nvSpPr>
          <p:cNvPr id="39" name="Text 37"/>
          <p:cNvSpPr/>
          <p:nvPr/>
        </p:nvSpPr>
        <p:spPr>
          <a:xfrm>
            <a:off x="4069080" y="1773936"/>
            <a:ext cx="694944" cy="274320"/>
          </a:xfrm>
          <a:prstGeom prst="rect">
            <a:avLst/>
          </a:prstGeom>
          <a:noFill/>
          <a:ln/>
        </p:spPr>
        <p:txBody>
          <a:bodyPr wrap="square" lIns="0" tIns="0" rIns="0" bIns="0" rtlCol="0" anchor="ctr"/>
          <a:lstStyle/>
          <a:p>
            <a:pPr marL="0" indent="0" algn="ctr">
              <a:buNone/>
            </a:pPr>
            <a:r>
              <a:rPr lang="en-US" sz="600" b="1" dirty="0">
                <a:solidFill>
                  <a:srgbClr val="FFFFFF"/>
                </a:solidFill>
              </a:rPr>
              <a:t>T2 DE→ESP</a:t>
            </a:r>
            <a:endParaRPr lang="en-US" sz="600" dirty="0"/>
          </a:p>
        </p:txBody>
      </p:sp>
      <p:sp>
        <p:nvSpPr>
          <p:cNvPr id="40" name="Shape 38"/>
          <p:cNvSpPr/>
          <p:nvPr/>
        </p:nvSpPr>
        <p:spPr>
          <a:xfrm>
            <a:off x="4782312" y="1773936"/>
            <a:ext cx="694944" cy="274320"/>
          </a:xfrm>
          <a:prstGeom prst="rect">
            <a:avLst/>
          </a:prstGeom>
          <a:solidFill>
            <a:srgbClr val="D97706"/>
          </a:solidFill>
          <a:ln w="12700">
            <a:solidFill>
              <a:srgbClr val="D97706"/>
            </a:solidFill>
            <a:prstDash val="solid"/>
          </a:ln>
          <a:effectLst>
            <a:outerShdw blurRad="38100" dist="12700" dir="8100000" algn="bl" rotWithShape="0">
              <a:srgbClr val="000000">
                <a:alpha val="6000"/>
              </a:srgbClr>
            </a:outerShdw>
          </a:effectLst>
        </p:spPr>
        <p:txBody>
          <a:bodyPr/>
          <a:lstStyle/>
          <a:p>
            <a:endParaRPr lang="en-DE"/>
          </a:p>
        </p:txBody>
      </p:sp>
      <p:sp>
        <p:nvSpPr>
          <p:cNvPr id="41" name="Text 39"/>
          <p:cNvSpPr/>
          <p:nvPr/>
        </p:nvSpPr>
        <p:spPr>
          <a:xfrm>
            <a:off x="4782312" y="1773936"/>
            <a:ext cx="694944" cy="274320"/>
          </a:xfrm>
          <a:prstGeom prst="rect">
            <a:avLst/>
          </a:prstGeom>
          <a:noFill/>
          <a:ln/>
        </p:spPr>
        <p:txBody>
          <a:bodyPr wrap="square" lIns="0" tIns="0" rIns="0" bIns="0" rtlCol="0" anchor="ctr"/>
          <a:lstStyle/>
          <a:p>
            <a:pPr marL="0" indent="0" algn="ctr">
              <a:buNone/>
            </a:pPr>
            <a:r>
              <a:rPr lang="en-US" sz="600" b="1" dirty="0">
                <a:solidFill>
                  <a:srgbClr val="FFFFFF"/>
                </a:solidFill>
              </a:rPr>
              <a:t>T4 ESP→DE</a:t>
            </a:r>
            <a:endParaRPr lang="en-US" sz="600" dirty="0"/>
          </a:p>
        </p:txBody>
      </p:sp>
      <p:sp>
        <p:nvSpPr>
          <p:cNvPr id="42" name="Shape 40"/>
          <p:cNvSpPr/>
          <p:nvPr/>
        </p:nvSpPr>
        <p:spPr>
          <a:xfrm>
            <a:off x="4069080" y="1060704"/>
            <a:ext cx="694944" cy="274320"/>
          </a:xfrm>
          <a:prstGeom prst="rect">
            <a:avLst/>
          </a:prstGeom>
          <a:solidFill>
            <a:srgbClr val="C0392B"/>
          </a:solidFill>
          <a:ln w="1270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43" name="Text 41"/>
          <p:cNvSpPr/>
          <p:nvPr/>
        </p:nvSpPr>
        <p:spPr>
          <a:xfrm>
            <a:off x="4069080" y="1060704"/>
            <a:ext cx="694944" cy="274320"/>
          </a:xfrm>
          <a:prstGeom prst="rect">
            <a:avLst/>
          </a:prstGeom>
          <a:noFill/>
          <a:ln/>
        </p:spPr>
        <p:txBody>
          <a:bodyPr wrap="square" lIns="0" tIns="0" rIns="0" bIns="0" rtlCol="0" anchor="ctr"/>
          <a:lstStyle/>
          <a:p>
            <a:pPr marL="0" indent="0" algn="ctr">
              <a:buNone/>
            </a:pPr>
            <a:r>
              <a:rPr lang="en-US" sz="600" b="1" dirty="0">
                <a:solidFill>
                  <a:srgbClr val="FFFFFF"/>
                </a:solidFill>
              </a:rPr>
              <a:t>Late Filing</a:t>
            </a:r>
            <a:endParaRPr lang="en-US" sz="600" dirty="0"/>
          </a:p>
        </p:txBody>
      </p:sp>
      <p:sp>
        <p:nvSpPr>
          <p:cNvPr id="44" name="Shape 42"/>
          <p:cNvSpPr/>
          <p:nvPr/>
        </p:nvSpPr>
        <p:spPr>
          <a:xfrm>
            <a:off x="5550408" y="1060704"/>
            <a:ext cx="694944" cy="274320"/>
          </a:xfrm>
          <a:prstGeom prst="rect">
            <a:avLst/>
          </a:prstGeom>
          <a:solidFill>
            <a:srgbClr val="C0392B"/>
          </a:solidFill>
          <a:ln w="1270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45" name="Text 43"/>
          <p:cNvSpPr/>
          <p:nvPr/>
        </p:nvSpPr>
        <p:spPr>
          <a:xfrm>
            <a:off x="5550408" y="1060704"/>
            <a:ext cx="694944" cy="274320"/>
          </a:xfrm>
          <a:prstGeom prst="rect">
            <a:avLst/>
          </a:prstGeom>
          <a:noFill/>
          <a:ln/>
        </p:spPr>
        <p:txBody>
          <a:bodyPr wrap="square" lIns="0" tIns="0" rIns="0" bIns="0" rtlCol="0" anchor="ctr"/>
          <a:lstStyle/>
          <a:p>
            <a:pPr marL="0" indent="0" algn="ctr">
              <a:buNone/>
            </a:pPr>
            <a:r>
              <a:rPr lang="en-US" sz="600" b="1" dirty="0">
                <a:solidFill>
                  <a:srgbClr val="FFFFFF"/>
                </a:solidFill>
              </a:rPr>
              <a:t>T3 CN→ESP Direct</a:t>
            </a:r>
            <a:endParaRPr lang="en-US" sz="600" dirty="0"/>
          </a:p>
        </p:txBody>
      </p:sp>
      <p:sp>
        <p:nvSpPr>
          <p:cNvPr id="46" name="Shape 44"/>
          <p:cNvSpPr/>
          <p:nvPr/>
        </p:nvSpPr>
        <p:spPr>
          <a:xfrm>
            <a:off x="6263640" y="1060704"/>
            <a:ext cx="694944" cy="274320"/>
          </a:xfrm>
          <a:prstGeom prst="rect">
            <a:avLst/>
          </a:prstGeom>
          <a:solidFill>
            <a:srgbClr val="C0392B"/>
          </a:solidFill>
          <a:ln w="1270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47" name="Text 45"/>
          <p:cNvSpPr/>
          <p:nvPr/>
        </p:nvSpPr>
        <p:spPr>
          <a:xfrm>
            <a:off x="6263640" y="1060704"/>
            <a:ext cx="694944" cy="274320"/>
          </a:xfrm>
          <a:prstGeom prst="rect">
            <a:avLst/>
          </a:prstGeom>
          <a:noFill/>
          <a:ln/>
        </p:spPr>
        <p:txBody>
          <a:bodyPr wrap="square" lIns="0" tIns="0" rIns="0" bIns="0" rtlCol="0" anchor="ctr"/>
          <a:lstStyle/>
          <a:p>
            <a:pPr marL="0" indent="0" algn="ctr">
              <a:buNone/>
            </a:pPr>
            <a:r>
              <a:rPr lang="en-US" sz="600" b="1" dirty="0">
                <a:solidFill>
                  <a:srgbClr val="FFFFFF"/>
                </a:solidFill>
              </a:rPr>
              <a:t>E-Invoicing Gap</a:t>
            </a:r>
            <a:endParaRPr lang="en-US" sz="600" dirty="0"/>
          </a:p>
        </p:txBody>
      </p:sp>
      <p:sp>
        <p:nvSpPr>
          <p:cNvPr id="48" name="Text 46"/>
          <p:cNvSpPr/>
          <p:nvPr/>
        </p:nvSpPr>
        <p:spPr>
          <a:xfrm>
            <a:off x="7059168" y="1005840"/>
            <a:ext cx="1371600" cy="182880"/>
          </a:xfrm>
          <a:prstGeom prst="rect">
            <a:avLst/>
          </a:prstGeom>
          <a:noFill/>
          <a:ln/>
        </p:spPr>
        <p:txBody>
          <a:bodyPr wrap="square" lIns="0" tIns="0" rIns="0" bIns="0" rtlCol="0" anchor="ctr"/>
          <a:lstStyle/>
          <a:p>
            <a:pPr marL="0" indent="0">
              <a:buNone/>
            </a:pPr>
            <a:r>
              <a:rPr lang="en-US" sz="750" b="1" kern="0" spc="100" dirty="0">
                <a:solidFill>
                  <a:srgbClr val="64748B"/>
                </a:solidFill>
              </a:rPr>
              <a:t>LEGEND</a:t>
            </a:r>
            <a:endParaRPr lang="en-US" sz="750" dirty="0"/>
          </a:p>
        </p:txBody>
      </p:sp>
      <p:sp>
        <p:nvSpPr>
          <p:cNvPr id="49" name="Shape 47"/>
          <p:cNvSpPr/>
          <p:nvPr/>
        </p:nvSpPr>
        <p:spPr>
          <a:xfrm>
            <a:off x="7059168" y="1234440"/>
            <a:ext cx="219456" cy="201168"/>
          </a:xfrm>
          <a:prstGeom prst="rect">
            <a:avLst/>
          </a:prstGeom>
          <a:solidFill>
            <a:srgbClr val="C0392B"/>
          </a:solidFill>
          <a:ln w="12700">
            <a:solidFill>
              <a:srgbClr val="C0392B"/>
            </a:solidFill>
            <a:prstDash val="solid"/>
          </a:ln>
        </p:spPr>
        <p:txBody>
          <a:bodyPr/>
          <a:lstStyle/>
          <a:p>
            <a:endParaRPr lang="en-DE"/>
          </a:p>
        </p:txBody>
      </p:sp>
      <p:sp>
        <p:nvSpPr>
          <p:cNvPr id="50" name="Text 48"/>
          <p:cNvSpPr/>
          <p:nvPr/>
        </p:nvSpPr>
        <p:spPr>
          <a:xfrm>
            <a:off x="7315200" y="1234440"/>
            <a:ext cx="1463040" cy="201168"/>
          </a:xfrm>
          <a:prstGeom prst="rect">
            <a:avLst/>
          </a:prstGeom>
          <a:noFill/>
          <a:ln/>
        </p:spPr>
        <p:txBody>
          <a:bodyPr wrap="square" lIns="0" tIns="0" rIns="0" bIns="0" rtlCol="0" anchor="ctr"/>
          <a:lstStyle/>
          <a:p>
            <a:pPr marL="0" indent="0">
              <a:buNone/>
            </a:pPr>
            <a:r>
              <a:rPr lang="en-US" sz="900" b="1" dirty="0">
                <a:solidFill>
                  <a:srgbClr val="C0392B"/>
                </a:solidFill>
              </a:rPr>
              <a:t>High Risk</a:t>
            </a:r>
            <a:endParaRPr lang="en-US" sz="900" dirty="0"/>
          </a:p>
        </p:txBody>
      </p:sp>
      <p:sp>
        <p:nvSpPr>
          <p:cNvPr id="51" name="Shape 49"/>
          <p:cNvSpPr/>
          <p:nvPr/>
        </p:nvSpPr>
        <p:spPr>
          <a:xfrm>
            <a:off x="7059168" y="1563624"/>
            <a:ext cx="219456" cy="201168"/>
          </a:xfrm>
          <a:prstGeom prst="rect">
            <a:avLst/>
          </a:prstGeom>
          <a:solidFill>
            <a:srgbClr val="D97706"/>
          </a:solidFill>
          <a:ln w="12700">
            <a:solidFill>
              <a:srgbClr val="D97706"/>
            </a:solidFill>
            <a:prstDash val="solid"/>
          </a:ln>
        </p:spPr>
        <p:txBody>
          <a:bodyPr/>
          <a:lstStyle/>
          <a:p>
            <a:endParaRPr lang="en-DE"/>
          </a:p>
        </p:txBody>
      </p:sp>
      <p:sp>
        <p:nvSpPr>
          <p:cNvPr id="52" name="Text 50"/>
          <p:cNvSpPr/>
          <p:nvPr/>
        </p:nvSpPr>
        <p:spPr>
          <a:xfrm>
            <a:off x="7315200" y="1563624"/>
            <a:ext cx="1463040" cy="201168"/>
          </a:xfrm>
          <a:prstGeom prst="rect">
            <a:avLst/>
          </a:prstGeom>
          <a:noFill/>
          <a:ln/>
        </p:spPr>
        <p:txBody>
          <a:bodyPr wrap="square" lIns="0" tIns="0" rIns="0" bIns="0" rtlCol="0" anchor="ctr"/>
          <a:lstStyle/>
          <a:p>
            <a:pPr marL="0" indent="0">
              <a:buNone/>
            </a:pPr>
            <a:r>
              <a:rPr lang="en-US" sz="900" b="1" dirty="0">
                <a:solidFill>
                  <a:srgbClr val="D97706"/>
                </a:solidFill>
              </a:rPr>
              <a:t>Medium Risk</a:t>
            </a:r>
            <a:endParaRPr lang="en-US" sz="900" dirty="0"/>
          </a:p>
        </p:txBody>
      </p:sp>
      <p:sp>
        <p:nvSpPr>
          <p:cNvPr id="53" name="Shape 51"/>
          <p:cNvSpPr/>
          <p:nvPr/>
        </p:nvSpPr>
        <p:spPr>
          <a:xfrm>
            <a:off x="7059168" y="1892808"/>
            <a:ext cx="219456" cy="201168"/>
          </a:xfrm>
          <a:prstGeom prst="rect">
            <a:avLst/>
          </a:prstGeom>
          <a:solidFill>
            <a:srgbClr val="15803D"/>
          </a:solidFill>
          <a:ln w="12700">
            <a:solidFill>
              <a:srgbClr val="15803D"/>
            </a:solidFill>
            <a:prstDash val="solid"/>
          </a:ln>
        </p:spPr>
        <p:txBody>
          <a:bodyPr/>
          <a:lstStyle/>
          <a:p>
            <a:endParaRPr lang="en-DE"/>
          </a:p>
        </p:txBody>
      </p:sp>
      <p:sp>
        <p:nvSpPr>
          <p:cNvPr id="54" name="Text 52"/>
          <p:cNvSpPr/>
          <p:nvPr/>
        </p:nvSpPr>
        <p:spPr>
          <a:xfrm>
            <a:off x="7315200" y="1892808"/>
            <a:ext cx="1463040" cy="201168"/>
          </a:xfrm>
          <a:prstGeom prst="rect">
            <a:avLst/>
          </a:prstGeom>
          <a:noFill/>
          <a:ln/>
        </p:spPr>
        <p:txBody>
          <a:bodyPr wrap="square" lIns="0" tIns="0" rIns="0" bIns="0" rtlCol="0" anchor="ctr"/>
          <a:lstStyle/>
          <a:p>
            <a:pPr marL="0" indent="0">
              <a:buNone/>
            </a:pPr>
            <a:r>
              <a:rPr lang="en-US" sz="900" b="1" dirty="0">
                <a:solidFill>
                  <a:srgbClr val="15803D"/>
                </a:solidFill>
              </a:rPr>
              <a:t>Low Risk</a:t>
            </a:r>
            <a:endParaRPr lang="en-US" sz="900" dirty="0"/>
          </a:p>
        </p:txBody>
      </p:sp>
      <p:sp>
        <p:nvSpPr>
          <p:cNvPr id="55" name="Text 53"/>
          <p:cNvSpPr/>
          <p:nvPr/>
        </p:nvSpPr>
        <p:spPr>
          <a:xfrm>
            <a:off x="411480" y="3276603"/>
            <a:ext cx="3657600" cy="182880"/>
          </a:xfrm>
          <a:prstGeom prst="rect">
            <a:avLst/>
          </a:prstGeom>
          <a:noFill/>
          <a:ln/>
        </p:spPr>
        <p:txBody>
          <a:bodyPr wrap="square" lIns="0" tIns="0" rIns="0" bIns="0" rtlCol="0" anchor="ctr"/>
          <a:lstStyle/>
          <a:p>
            <a:pPr marL="0" indent="0">
              <a:buNone/>
            </a:pPr>
            <a:r>
              <a:rPr lang="en-US" sz="750" b="1" kern="0" spc="100" dirty="0">
                <a:solidFill>
                  <a:srgbClr val="C0392B"/>
                </a:solidFill>
              </a:rPr>
              <a:t>TOP PRIORITY ACTIONS</a:t>
            </a:r>
            <a:endParaRPr lang="en-US" sz="750" dirty="0"/>
          </a:p>
        </p:txBody>
      </p:sp>
      <p:sp>
        <p:nvSpPr>
          <p:cNvPr id="56" name="Shape 54"/>
          <p:cNvSpPr/>
          <p:nvPr/>
        </p:nvSpPr>
        <p:spPr>
          <a:xfrm>
            <a:off x="411480" y="3505203"/>
            <a:ext cx="2697480" cy="210312"/>
          </a:xfrm>
          <a:prstGeom prst="rect">
            <a:avLst/>
          </a:prstGeom>
          <a:solidFill>
            <a:srgbClr val="C0392B"/>
          </a:solidFill>
          <a:ln w="12700">
            <a:solidFill>
              <a:srgbClr val="C0392B"/>
            </a:solidFill>
            <a:prstDash val="solid"/>
          </a:ln>
        </p:spPr>
        <p:txBody>
          <a:bodyPr/>
          <a:lstStyle/>
          <a:p>
            <a:endParaRPr lang="en-DE"/>
          </a:p>
        </p:txBody>
      </p:sp>
      <p:sp>
        <p:nvSpPr>
          <p:cNvPr id="57" name="Text 55"/>
          <p:cNvSpPr/>
          <p:nvPr/>
        </p:nvSpPr>
        <p:spPr>
          <a:xfrm>
            <a:off x="466344" y="3505203"/>
            <a:ext cx="2587752" cy="210312"/>
          </a:xfrm>
          <a:prstGeom prst="rect">
            <a:avLst/>
          </a:prstGeom>
          <a:noFill/>
          <a:ln/>
        </p:spPr>
        <p:txBody>
          <a:bodyPr wrap="square" lIns="0" tIns="0" rIns="0" bIns="0" rtlCol="0" anchor="ctr"/>
          <a:lstStyle/>
          <a:p>
            <a:pPr marL="0" indent="0">
              <a:buNone/>
            </a:pPr>
            <a:r>
              <a:rPr lang="en-US" sz="720" b="1" dirty="0">
                <a:solidFill>
                  <a:srgbClr val="FFFFFF"/>
                </a:solidFill>
              </a:rPr>
              <a:t>1. E-Invoicing capability - receive (obligation since Jan 2025)  →  IMMEDIATE</a:t>
            </a:r>
            <a:endParaRPr lang="en-US" sz="720" dirty="0"/>
          </a:p>
        </p:txBody>
      </p:sp>
      <p:sp>
        <p:nvSpPr>
          <p:cNvPr id="58" name="Shape 56"/>
          <p:cNvSpPr/>
          <p:nvPr/>
        </p:nvSpPr>
        <p:spPr>
          <a:xfrm>
            <a:off x="411480" y="3742947"/>
            <a:ext cx="2697480" cy="210312"/>
          </a:xfrm>
          <a:prstGeom prst="rect">
            <a:avLst/>
          </a:prstGeom>
          <a:solidFill>
            <a:srgbClr val="C0392B"/>
          </a:solidFill>
          <a:ln w="12700">
            <a:solidFill>
              <a:srgbClr val="C0392B"/>
            </a:solidFill>
            <a:prstDash val="solid"/>
          </a:ln>
        </p:spPr>
        <p:txBody>
          <a:bodyPr/>
          <a:lstStyle/>
          <a:p>
            <a:endParaRPr lang="en-DE"/>
          </a:p>
        </p:txBody>
      </p:sp>
      <p:sp>
        <p:nvSpPr>
          <p:cNvPr id="59" name="Text 57"/>
          <p:cNvSpPr/>
          <p:nvPr/>
        </p:nvSpPr>
        <p:spPr>
          <a:xfrm>
            <a:off x="466344" y="3742947"/>
            <a:ext cx="2587752" cy="210312"/>
          </a:xfrm>
          <a:prstGeom prst="rect">
            <a:avLst/>
          </a:prstGeom>
          <a:noFill/>
          <a:ln/>
        </p:spPr>
        <p:txBody>
          <a:bodyPr wrap="square" lIns="0" tIns="0" rIns="0" bIns="0" rtlCol="0" anchor="ctr"/>
          <a:lstStyle/>
          <a:p>
            <a:pPr marL="0" indent="0">
              <a:buNone/>
            </a:pPr>
            <a:r>
              <a:rPr lang="en-US" sz="720" b="1" dirty="0">
                <a:solidFill>
                  <a:srgbClr val="FFFFFF"/>
                </a:solidFill>
              </a:rPr>
              <a:t>2. Late filing penalty - formal regulatory response  →  IMMEDIATE</a:t>
            </a:r>
            <a:endParaRPr lang="en-US" sz="720" dirty="0"/>
          </a:p>
        </p:txBody>
      </p:sp>
      <p:sp>
        <p:nvSpPr>
          <p:cNvPr id="60" name="Shape 58"/>
          <p:cNvSpPr/>
          <p:nvPr/>
        </p:nvSpPr>
        <p:spPr>
          <a:xfrm>
            <a:off x="411480" y="3980691"/>
            <a:ext cx="2697480" cy="210312"/>
          </a:xfrm>
          <a:prstGeom prst="rect">
            <a:avLst/>
          </a:prstGeom>
          <a:solidFill>
            <a:srgbClr val="C0392B"/>
          </a:solidFill>
          <a:ln w="12700">
            <a:solidFill>
              <a:srgbClr val="C0392B"/>
            </a:solidFill>
            <a:prstDash val="solid"/>
          </a:ln>
        </p:spPr>
        <p:txBody>
          <a:bodyPr/>
          <a:lstStyle/>
          <a:p>
            <a:endParaRPr lang="en-DE"/>
          </a:p>
        </p:txBody>
      </p:sp>
      <p:sp>
        <p:nvSpPr>
          <p:cNvPr id="61" name="Text 59"/>
          <p:cNvSpPr/>
          <p:nvPr/>
        </p:nvSpPr>
        <p:spPr>
          <a:xfrm>
            <a:off x="466344" y="3980691"/>
            <a:ext cx="2587752" cy="210312"/>
          </a:xfrm>
          <a:prstGeom prst="rect">
            <a:avLst/>
          </a:prstGeom>
          <a:noFill/>
          <a:ln/>
        </p:spPr>
        <p:txBody>
          <a:bodyPr wrap="square" lIns="0" tIns="0" rIns="0" bIns="0" rtlCol="0" anchor="ctr"/>
          <a:lstStyle/>
          <a:p>
            <a:pPr marL="0" indent="0">
              <a:buNone/>
            </a:pPr>
            <a:r>
              <a:rPr lang="en-US" sz="720" b="1" dirty="0">
                <a:solidFill>
                  <a:srgbClr val="FFFFFF"/>
                </a:solidFill>
              </a:rPr>
              <a:t>3. T3: China→Spain direct import structure review  →  Q3 2026</a:t>
            </a:r>
            <a:endParaRPr lang="en-US" sz="720" dirty="0"/>
          </a:p>
        </p:txBody>
      </p:sp>
      <p:sp>
        <p:nvSpPr>
          <p:cNvPr id="62" name="Shape 60"/>
          <p:cNvSpPr/>
          <p:nvPr/>
        </p:nvSpPr>
        <p:spPr>
          <a:xfrm>
            <a:off x="3246120" y="3505203"/>
            <a:ext cx="2697480" cy="210312"/>
          </a:xfrm>
          <a:prstGeom prst="rect">
            <a:avLst/>
          </a:prstGeom>
          <a:solidFill>
            <a:srgbClr val="D97706"/>
          </a:solidFill>
          <a:ln w="12700">
            <a:solidFill>
              <a:srgbClr val="D97706"/>
            </a:solidFill>
            <a:prstDash val="solid"/>
          </a:ln>
        </p:spPr>
        <p:txBody>
          <a:bodyPr/>
          <a:lstStyle/>
          <a:p>
            <a:endParaRPr lang="en-DE"/>
          </a:p>
        </p:txBody>
      </p:sp>
      <p:sp>
        <p:nvSpPr>
          <p:cNvPr id="63" name="Text 61"/>
          <p:cNvSpPr/>
          <p:nvPr/>
        </p:nvSpPr>
        <p:spPr>
          <a:xfrm>
            <a:off x="3300984" y="3505203"/>
            <a:ext cx="2587752" cy="210312"/>
          </a:xfrm>
          <a:prstGeom prst="rect">
            <a:avLst/>
          </a:prstGeom>
          <a:noFill/>
          <a:ln/>
        </p:spPr>
        <p:txBody>
          <a:bodyPr wrap="square" lIns="0" tIns="0" rIns="0" bIns="0" rtlCol="0" anchor="ctr"/>
          <a:lstStyle/>
          <a:p>
            <a:pPr marL="0" indent="0">
              <a:buNone/>
            </a:pPr>
            <a:r>
              <a:rPr lang="en-US" sz="720" b="1" dirty="0">
                <a:solidFill>
                  <a:srgbClr val="FFFFFF"/>
                </a:solidFill>
              </a:rPr>
              <a:t>4. T2/T4: CMR transport documentation standardisation  →  Q3 2026</a:t>
            </a:r>
            <a:endParaRPr lang="en-US" sz="720" dirty="0"/>
          </a:p>
        </p:txBody>
      </p:sp>
      <p:sp>
        <p:nvSpPr>
          <p:cNvPr id="64" name="Shape 62"/>
          <p:cNvSpPr/>
          <p:nvPr/>
        </p:nvSpPr>
        <p:spPr>
          <a:xfrm>
            <a:off x="3246120" y="3742947"/>
            <a:ext cx="2697480" cy="210312"/>
          </a:xfrm>
          <a:prstGeom prst="rect">
            <a:avLst/>
          </a:prstGeom>
          <a:solidFill>
            <a:srgbClr val="D97706"/>
          </a:solidFill>
          <a:ln w="12700">
            <a:solidFill>
              <a:srgbClr val="D97706"/>
            </a:solidFill>
            <a:prstDash val="solid"/>
          </a:ln>
        </p:spPr>
        <p:txBody>
          <a:bodyPr/>
          <a:lstStyle/>
          <a:p>
            <a:endParaRPr lang="en-DE"/>
          </a:p>
        </p:txBody>
      </p:sp>
      <p:sp>
        <p:nvSpPr>
          <p:cNvPr id="65" name="Text 63"/>
          <p:cNvSpPr/>
          <p:nvPr/>
        </p:nvSpPr>
        <p:spPr>
          <a:xfrm>
            <a:off x="3300984" y="3742947"/>
            <a:ext cx="2587752" cy="210312"/>
          </a:xfrm>
          <a:prstGeom prst="rect">
            <a:avLst/>
          </a:prstGeom>
          <a:noFill/>
          <a:ln/>
        </p:spPr>
        <p:txBody>
          <a:bodyPr wrap="square" lIns="0" tIns="0" rIns="0" bIns="0" rtlCol="0" anchor="ctr"/>
          <a:lstStyle/>
          <a:p>
            <a:pPr marL="0" indent="0">
              <a:buNone/>
            </a:pPr>
            <a:r>
              <a:rPr lang="en-US" sz="720" b="1" dirty="0">
                <a:solidFill>
                  <a:srgbClr val="FFFFFF"/>
                </a:solidFill>
              </a:rPr>
              <a:t>5. E-invoice issuance readiness (mandatory from Jan 2027)  →  Q4 2026</a:t>
            </a:r>
            <a:endParaRPr lang="en-US" sz="720" dirty="0"/>
          </a:p>
        </p:txBody>
      </p:sp>
      <p:sp>
        <p:nvSpPr>
          <p:cNvPr id="17" name="Shape 51">
            <a:extLst>
              <a:ext uri="{FF2B5EF4-FFF2-40B4-BE49-F238E27FC236}">
                <a16:creationId xmlns:a16="http://schemas.microsoft.com/office/drawing/2014/main" id="{1F5EC98A-5BDA-F240-8676-53D26F76A488}"/>
              </a:ext>
            </a:extLst>
          </p:cNvPr>
          <p:cNvSpPr/>
          <p:nvPr/>
        </p:nvSpPr>
        <p:spPr>
          <a:xfrm>
            <a:off x="411480" y="4263470"/>
            <a:ext cx="8503920" cy="502920"/>
          </a:xfrm>
          <a:prstGeom prst="rect">
            <a:avLst/>
          </a:prstGeom>
          <a:solidFill>
            <a:srgbClr val="FFFBEB"/>
          </a:solidFill>
          <a:ln w="6350">
            <a:solidFill>
              <a:srgbClr val="D97706"/>
            </a:solidFill>
            <a:prstDash val="solid"/>
          </a:ln>
        </p:spPr>
        <p:txBody>
          <a:bodyPr/>
          <a:lstStyle/>
          <a:p>
            <a:endParaRPr lang="en-DE"/>
          </a:p>
        </p:txBody>
      </p:sp>
      <p:sp>
        <p:nvSpPr>
          <p:cNvPr id="66" name="Shape 52">
            <a:extLst>
              <a:ext uri="{FF2B5EF4-FFF2-40B4-BE49-F238E27FC236}">
                <a16:creationId xmlns:a16="http://schemas.microsoft.com/office/drawing/2014/main" id="{9BAF5263-1339-5701-18C9-AF0F0C9CF0A5}"/>
              </a:ext>
            </a:extLst>
          </p:cNvPr>
          <p:cNvSpPr/>
          <p:nvPr/>
        </p:nvSpPr>
        <p:spPr>
          <a:xfrm>
            <a:off x="411480" y="4263470"/>
            <a:ext cx="36576" cy="502920"/>
          </a:xfrm>
          <a:prstGeom prst="rect">
            <a:avLst/>
          </a:prstGeom>
          <a:solidFill>
            <a:srgbClr val="D97706"/>
          </a:solidFill>
          <a:ln w="12700">
            <a:solidFill>
              <a:srgbClr val="D97706"/>
            </a:solidFill>
            <a:prstDash val="solid"/>
          </a:ln>
        </p:spPr>
        <p:txBody>
          <a:bodyPr/>
          <a:lstStyle/>
          <a:p>
            <a:endParaRPr lang="en-DE"/>
          </a:p>
        </p:txBody>
      </p:sp>
      <p:sp>
        <p:nvSpPr>
          <p:cNvPr id="67" name="Text 53">
            <a:extLst>
              <a:ext uri="{FF2B5EF4-FFF2-40B4-BE49-F238E27FC236}">
                <a16:creationId xmlns:a16="http://schemas.microsoft.com/office/drawing/2014/main" id="{24A9A49A-105F-10DC-D43F-0D42EFF94B52}"/>
              </a:ext>
            </a:extLst>
          </p:cNvPr>
          <p:cNvSpPr/>
          <p:nvPr/>
        </p:nvSpPr>
        <p:spPr>
          <a:xfrm>
            <a:off x="512064" y="4309190"/>
            <a:ext cx="2743200" cy="164592"/>
          </a:xfrm>
          <a:prstGeom prst="rect">
            <a:avLst/>
          </a:prstGeom>
          <a:noFill/>
          <a:ln/>
        </p:spPr>
        <p:txBody>
          <a:bodyPr wrap="square" lIns="0" tIns="0" rIns="0" bIns="0" rtlCol="0" anchor="ctr"/>
          <a:lstStyle/>
          <a:p>
            <a:pPr marL="0" indent="0">
              <a:buNone/>
            </a:pPr>
            <a:r>
              <a:rPr lang="en-DE" sz="750" b="1" dirty="0">
                <a:solidFill>
                  <a:srgbClr val="D97706"/>
                </a:solidFill>
              </a:rPr>
              <a:t>Important Note:</a:t>
            </a:r>
            <a:endParaRPr lang="en-US" sz="750" dirty="0"/>
          </a:p>
        </p:txBody>
      </p:sp>
      <p:sp>
        <p:nvSpPr>
          <p:cNvPr id="68" name="Text 54">
            <a:extLst>
              <a:ext uri="{FF2B5EF4-FFF2-40B4-BE49-F238E27FC236}">
                <a16:creationId xmlns:a16="http://schemas.microsoft.com/office/drawing/2014/main" id="{5F9BFE6B-E9B7-8A42-3E1C-2016FB07B7BC}"/>
              </a:ext>
            </a:extLst>
          </p:cNvPr>
          <p:cNvSpPr/>
          <p:nvPr/>
        </p:nvSpPr>
        <p:spPr>
          <a:xfrm>
            <a:off x="512064" y="4492070"/>
            <a:ext cx="8321040" cy="237744"/>
          </a:xfrm>
          <a:prstGeom prst="rect">
            <a:avLst/>
          </a:prstGeom>
          <a:noFill/>
          <a:ln/>
        </p:spPr>
        <p:txBody>
          <a:bodyPr wrap="square" lIns="0" tIns="0" rIns="0" bIns="0" rtlCol="0" anchor="ctr"/>
          <a:lstStyle/>
          <a:p>
            <a:r>
              <a:rPr lang="en-US" sz="780" dirty="0">
                <a:solidFill>
                  <a:srgbClr val="1B2E4B"/>
                </a:solidFill>
              </a:rPr>
              <a:t>The successful VAT audit covering FY 2020</a:t>
            </a:r>
            <a:r>
              <a:rPr lang="en-DE" sz="780" dirty="0">
                <a:solidFill>
                  <a:srgbClr val="1B2E4B"/>
                </a:solidFill>
              </a:rPr>
              <a:t>-</a:t>
            </a:r>
            <a:r>
              <a:rPr lang="en-US" sz="780" dirty="0">
                <a:solidFill>
                  <a:srgbClr val="1B2E4B"/>
                </a:solidFill>
              </a:rPr>
              <a:t>2023 without material findings provides positive evidence regarding the overall VAT control environment. Nevertheless, this should not replace an independent assessment of current transactions and newly introduced obligations, particularly e-invoicing requirements and cross-border transaction documentation.</a:t>
            </a:r>
            <a:endParaRPr lang="en-US" sz="7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006B6B"/>
          </a:solidFill>
          <a:ln w="12700">
            <a:solidFill>
              <a:srgbClr val="006B6B"/>
            </a:solidFill>
            <a:prstDash val="solid"/>
          </a:ln>
        </p:spPr>
        <p:txBody>
          <a:bodyPr/>
          <a:lstStyle/>
          <a:p>
            <a:endParaRPr lang="en-DE"/>
          </a:p>
        </p:txBody>
      </p:sp>
      <p:sp>
        <p:nvSpPr>
          <p:cNvPr id="3" name="Shape 1"/>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4" name="Text 2"/>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5" name="Text 3"/>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TIMELINE</a:t>
            </a:r>
            <a:endParaRPr lang="en-US" sz="7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19 / 23</a:t>
            </a:r>
            <a:endParaRPr lang="en-US" sz="700" dirty="0"/>
          </a:p>
        </p:txBody>
      </p:sp>
      <p:sp>
        <p:nvSpPr>
          <p:cNvPr id="7" name="Text 5"/>
          <p:cNvSpPr/>
          <p:nvPr/>
        </p:nvSpPr>
        <p:spPr>
          <a:xfrm>
            <a:off x="411480" y="137160"/>
            <a:ext cx="6400800" cy="201168"/>
          </a:xfrm>
          <a:prstGeom prst="rect">
            <a:avLst/>
          </a:prstGeom>
          <a:noFill/>
          <a:ln/>
        </p:spPr>
        <p:txBody>
          <a:bodyPr wrap="square" lIns="0" tIns="0" rIns="0" bIns="0" rtlCol="0" anchor="ctr"/>
          <a:lstStyle/>
          <a:p>
            <a:pPr marL="0" indent="0">
              <a:buNone/>
            </a:pPr>
            <a:r>
              <a:rPr lang="en-US" sz="800" b="1" kern="0" spc="200" dirty="0">
                <a:solidFill>
                  <a:srgbClr val="006B6B"/>
                </a:solidFill>
              </a:rPr>
              <a:t>07 | VAT Process Timeline</a:t>
            </a:r>
            <a:endParaRPr lang="en-US" sz="800" dirty="0"/>
          </a:p>
        </p:txBody>
      </p:sp>
      <p:sp>
        <p:nvSpPr>
          <p:cNvPr id="8" name="Text 6"/>
          <p:cNvSpPr/>
          <p:nvPr/>
        </p:nvSpPr>
        <p:spPr>
          <a:xfrm>
            <a:off x="411480" y="338328"/>
            <a:ext cx="8046720" cy="502920"/>
          </a:xfrm>
          <a:prstGeom prst="rect">
            <a:avLst/>
          </a:prstGeom>
          <a:noFill/>
          <a:ln/>
        </p:spPr>
        <p:txBody>
          <a:bodyPr wrap="square" lIns="0" tIns="0" rIns="0" bIns="0" rtlCol="0" anchor="ctr"/>
          <a:lstStyle/>
          <a:p>
            <a:pPr marL="0" indent="0">
              <a:buNone/>
            </a:pPr>
            <a:r>
              <a:rPr lang="en-US" sz="2100" b="1" dirty="0">
                <a:solidFill>
                  <a:srgbClr val="0A1628"/>
                </a:solidFill>
              </a:rPr>
              <a:t>Compliance Milestones &amp; Remediation Roadmap</a:t>
            </a:r>
            <a:endParaRPr lang="en-US" sz="2100" dirty="0"/>
          </a:p>
        </p:txBody>
      </p:sp>
      <p:sp>
        <p:nvSpPr>
          <p:cNvPr id="9" name="Shape 7"/>
          <p:cNvSpPr/>
          <p:nvPr/>
        </p:nvSpPr>
        <p:spPr>
          <a:xfrm>
            <a:off x="411480" y="914400"/>
            <a:ext cx="8503920" cy="0"/>
          </a:xfrm>
          <a:prstGeom prst="line">
            <a:avLst/>
          </a:prstGeom>
          <a:noFill/>
          <a:ln w="6350">
            <a:solidFill>
              <a:srgbClr val="CBD5E1"/>
            </a:solidFill>
            <a:prstDash val="solid"/>
          </a:ln>
        </p:spPr>
        <p:txBody>
          <a:bodyPr/>
          <a:lstStyle/>
          <a:p>
            <a:endParaRPr lang="en-DE"/>
          </a:p>
        </p:txBody>
      </p:sp>
      <p:sp>
        <p:nvSpPr>
          <p:cNvPr id="10" name="Shape 8"/>
          <p:cNvSpPr/>
          <p:nvPr/>
        </p:nvSpPr>
        <p:spPr>
          <a:xfrm>
            <a:off x="548640" y="2029968"/>
            <a:ext cx="8321040" cy="0"/>
          </a:xfrm>
          <a:prstGeom prst="line">
            <a:avLst/>
          </a:prstGeom>
          <a:noFill/>
          <a:ln w="31750">
            <a:solidFill>
              <a:srgbClr val="2C4A6E"/>
            </a:solidFill>
            <a:prstDash val="solid"/>
          </a:ln>
        </p:spPr>
        <p:txBody>
          <a:bodyPr/>
          <a:lstStyle/>
          <a:p>
            <a:endParaRPr lang="en-DE"/>
          </a:p>
        </p:txBody>
      </p:sp>
      <p:sp>
        <p:nvSpPr>
          <p:cNvPr id="11" name="Shape 9"/>
          <p:cNvSpPr/>
          <p:nvPr/>
        </p:nvSpPr>
        <p:spPr>
          <a:xfrm>
            <a:off x="923544" y="1920240"/>
            <a:ext cx="201168" cy="201168"/>
          </a:xfrm>
          <a:prstGeom prst="ellipse">
            <a:avLst/>
          </a:prstGeom>
          <a:solidFill>
            <a:srgbClr val="C0392B"/>
          </a:solidFill>
          <a:ln w="12700">
            <a:solidFill>
              <a:srgbClr val="C0392B"/>
            </a:solidFill>
            <a:prstDash val="solid"/>
          </a:ln>
        </p:spPr>
        <p:txBody>
          <a:bodyPr/>
          <a:lstStyle/>
          <a:p>
            <a:endParaRPr lang="en-DE"/>
          </a:p>
        </p:txBody>
      </p:sp>
      <p:sp>
        <p:nvSpPr>
          <p:cNvPr id="12" name="Text 10"/>
          <p:cNvSpPr/>
          <p:nvPr/>
        </p:nvSpPr>
        <p:spPr>
          <a:xfrm>
            <a:off x="548640" y="2176272"/>
            <a:ext cx="1005840" cy="182880"/>
          </a:xfrm>
          <a:prstGeom prst="rect">
            <a:avLst/>
          </a:prstGeom>
          <a:noFill/>
          <a:ln/>
        </p:spPr>
        <p:txBody>
          <a:bodyPr wrap="square" lIns="0" tIns="0" rIns="0" bIns="0" rtlCol="0" anchor="ctr"/>
          <a:lstStyle/>
          <a:p>
            <a:pPr marL="0" indent="0" algn="ctr">
              <a:buNone/>
            </a:pPr>
            <a:r>
              <a:rPr lang="en-US" sz="750" b="1" dirty="0">
                <a:solidFill>
                  <a:srgbClr val="C0392B"/>
                </a:solidFill>
              </a:rPr>
              <a:t>Jan 2025</a:t>
            </a:r>
            <a:endParaRPr lang="en-US" sz="750" dirty="0"/>
          </a:p>
        </p:txBody>
      </p:sp>
      <p:sp>
        <p:nvSpPr>
          <p:cNvPr id="13" name="Shape 11"/>
          <p:cNvSpPr/>
          <p:nvPr/>
        </p:nvSpPr>
        <p:spPr>
          <a:xfrm>
            <a:off x="548640" y="1115568"/>
            <a:ext cx="1005840" cy="768096"/>
          </a:xfrm>
          <a:prstGeom prst="rect">
            <a:avLst/>
          </a:prstGeom>
          <a:solidFill>
            <a:srgbClr val="FEF2F2"/>
          </a:solidFill>
          <a:ln w="889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14" name="Shape 12"/>
          <p:cNvSpPr/>
          <p:nvPr/>
        </p:nvSpPr>
        <p:spPr>
          <a:xfrm>
            <a:off x="548640" y="1115568"/>
            <a:ext cx="1005840" cy="45720"/>
          </a:xfrm>
          <a:prstGeom prst="rect">
            <a:avLst/>
          </a:prstGeom>
          <a:solidFill>
            <a:srgbClr val="C0392B"/>
          </a:solidFill>
          <a:ln w="12700">
            <a:solidFill>
              <a:srgbClr val="C0392B"/>
            </a:solidFill>
            <a:prstDash val="solid"/>
          </a:ln>
        </p:spPr>
        <p:txBody>
          <a:bodyPr/>
          <a:lstStyle/>
          <a:p>
            <a:endParaRPr lang="en-DE"/>
          </a:p>
        </p:txBody>
      </p:sp>
      <p:sp>
        <p:nvSpPr>
          <p:cNvPr id="15" name="Text 13"/>
          <p:cNvSpPr/>
          <p:nvPr/>
        </p:nvSpPr>
        <p:spPr>
          <a:xfrm>
            <a:off x="594360" y="1170432"/>
            <a:ext cx="914400" cy="310896"/>
          </a:xfrm>
          <a:prstGeom prst="rect">
            <a:avLst/>
          </a:prstGeom>
          <a:noFill/>
          <a:ln/>
        </p:spPr>
        <p:txBody>
          <a:bodyPr wrap="square" lIns="0" tIns="0" rIns="0" bIns="0" rtlCol="0" anchor="ctr"/>
          <a:lstStyle/>
          <a:p>
            <a:pPr marL="0" indent="0">
              <a:buNone/>
            </a:pPr>
            <a:r>
              <a:rPr lang="en-US" sz="750" b="1" dirty="0">
                <a:solidFill>
                  <a:srgbClr val="C0392B"/>
                </a:solidFill>
              </a:rPr>
              <a:t>Receive</a:t>
            </a:r>
            <a:endParaRPr lang="en-US" sz="750" dirty="0"/>
          </a:p>
          <a:p>
            <a:pPr marL="0" indent="0">
              <a:buNone/>
            </a:pPr>
            <a:r>
              <a:rPr lang="en-US" sz="750" b="1" dirty="0">
                <a:solidFill>
                  <a:srgbClr val="C0392B"/>
                </a:solidFill>
              </a:rPr>
              <a:t>E-Invoices</a:t>
            </a:r>
            <a:endParaRPr lang="en-US" sz="750" dirty="0"/>
          </a:p>
        </p:txBody>
      </p:sp>
      <p:sp>
        <p:nvSpPr>
          <p:cNvPr id="16" name="Text 14"/>
          <p:cNvSpPr/>
          <p:nvPr/>
        </p:nvSpPr>
        <p:spPr>
          <a:xfrm>
            <a:off x="594360" y="1481328"/>
            <a:ext cx="914400" cy="365760"/>
          </a:xfrm>
          <a:prstGeom prst="rect">
            <a:avLst/>
          </a:prstGeom>
          <a:noFill/>
          <a:ln/>
        </p:spPr>
        <p:txBody>
          <a:bodyPr wrap="square" lIns="0" tIns="0" rIns="0" bIns="0" rtlCol="0" anchor="ctr"/>
          <a:lstStyle/>
          <a:p>
            <a:pPr marL="0" indent="0">
              <a:buNone/>
            </a:pPr>
            <a:r>
              <a:rPr lang="en-US" sz="700" dirty="0">
                <a:solidFill>
                  <a:srgbClr val="64748B"/>
                </a:solidFill>
              </a:rPr>
              <a:t>ACTIVE - not</a:t>
            </a:r>
            <a:endParaRPr lang="en-US" sz="700" dirty="0"/>
          </a:p>
          <a:p>
            <a:pPr marL="0" indent="0">
              <a:buNone/>
            </a:pPr>
            <a:r>
              <a:rPr lang="en-US" sz="700" dirty="0">
                <a:solidFill>
                  <a:srgbClr val="64748B"/>
                </a:solidFill>
              </a:rPr>
              <a:t>yet compliant</a:t>
            </a:r>
            <a:endParaRPr lang="en-US" sz="700" dirty="0"/>
          </a:p>
        </p:txBody>
      </p:sp>
      <p:sp>
        <p:nvSpPr>
          <p:cNvPr id="17" name="Shape 15"/>
          <p:cNvSpPr/>
          <p:nvPr/>
        </p:nvSpPr>
        <p:spPr>
          <a:xfrm>
            <a:off x="2523744" y="1920240"/>
            <a:ext cx="201168" cy="201168"/>
          </a:xfrm>
          <a:prstGeom prst="ellipse">
            <a:avLst/>
          </a:prstGeom>
          <a:solidFill>
            <a:srgbClr val="C0392B"/>
          </a:solidFill>
          <a:ln w="12700">
            <a:solidFill>
              <a:srgbClr val="C0392B"/>
            </a:solidFill>
            <a:prstDash val="solid"/>
          </a:ln>
        </p:spPr>
        <p:txBody>
          <a:bodyPr/>
          <a:lstStyle/>
          <a:p>
            <a:endParaRPr lang="en-DE"/>
          </a:p>
        </p:txBody>
      </p:sp>
      <p:sp>
        <p:nvSpPr>
          <p:cNvPr id="18" name="Text 16"/>
          <p:cNvSpPr/>
          <p:nvPr/>
        </p:nvSpPr>
        <p:spPr>
          <a:xfrm>
            <a:off x="2148840" y="2176272"/>
            <a:ext cx="1005840" cy="182880"/>
          </a:xfrm>
          <a:prstGeom prst="rect">
            <a:avLst/>
          </a:prstGeom>
          <a:noFill/>
          <a:ln/>
        </p:spPr>
        <p:txBody>
          <a:bodyPr wrap="square" lIns="0" tIns="0" rIns="0" bIns="0" rtlCol="0" anchor="ctr"/>
          <a:lstStyle/>
          <a:p>
            <a:pPr marL="0" indent="0" algn="ctr">
              <a:buNone/>
            </a:pPr>
            <a:r>
              <a:rPr lang="en-US" sz="750" b="1" dirty="0">
                <a:solidFill>
                  <a:srgbClr val="C0392B"/>
                </a:solidFill>
              </a:rPr>
              <a:t>Apr 2026</a:t>
            </a:r>
            <a:endParaRPr lang="en-US" sz="750" dirty="0"/>
          </a:p>
        </p:txBody>
      </p:sp>
      <p:sp>
        <p:nvSpPr>
          <p:cNvPr id="19" name="Shape 17"/>
          <p:cNvSpPr/>
          <p:nvPr/>
        </p:nvSpPr>
        <p:spPr>
          <a:xfrm>
            <a:off x="2148840" y="1115568"/>
            <a:ext cx="1005840" cy="768096"/>
          </a:xfrm>
          <a:prstGeom prst="rect">
            <a:avLst/>
          </a:prstGeom>
          <a:solidFill>
            <a:srgbClr val="FEF2F2"/>
          </a:solidFill>
          <a:ln w="889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20" name="Shape 18"/>
          <p:cNvSpPr/>
          <p:nvPr/>
        </p:nvSpPr>
        <p:spPr>
          <a:xfrm>
            <a:off x="2148840" y="1115568"/>
            <a:ext cx="1005840" cy="45720"/>
          </a:xfrm>
          <a:prstGeom prst="rect">
            <a:avLst/>
          </a:prstGeom>
          <a:solidFill>
            <a:srgbClr val="C0392B"/>
          </a:solidFill>
          <a:ln w="12700">
            <a:solidFill>
              <a:srgbClr val="C0392B"/>
            </a:solidFill>
            <a:prstDash val="solid"/>
          </a:ln>
        </p:spPr>
        <p:txBody>
          <a:bodyPr/>
          <a:lstStyle/>
          <a:p>
            <a:endParaRPr lang="en-DE"/>
          </a:p>
        </p:txBody>
      </p:sp>
      <p:sp>
        <p:nvSpPr>
          <p:cNvPr id="21" name="Text 19"/>
          <p:cNvSpPr/>
          <p:nvPr/>
        </p:nvSpPr>
        <p:spPr>
          <a:xfrm>
            <a:off x="2194560" y="1170432"/>
            <a:ext cx="914400" cy="310896"/>
          </a:xfrm>
          <a:prstGeom prst="rect">
            <a:avLst/>
          </a:prstGeom>
          <a:noFill/>
          <a:ln/>
        </p:spPr>
        <p:txBody>
          <a:bodyPr wrap="square" lIns="0" tIns="0" rIns="0" bIns="0" rtlCol="0" anchor="ctr"/>
          <a:lstStyle/>
          <a:p>
            <a:pPr marL="0" indent="0">
              <a:buNone/>
            </a:pPr>
            <a:r>
              <a:rPr lang="en-US" sz="750" b="1" dirty="0">
                <a:solidFill>
                  <a:srgbClr val="C0392B"/>
                </a:solidFill>
              </a:rPr>
              <a:t>2024 Return</a:t>
            </a:r>
            <a:endParaRPr lang="en-US" sz="750" dirty="0"/>
          </a:p>
          <a:p>
            <a:pPr marL="0" indent="0">
              <a:buNone/>
            </a:pPr>
            <a:r>
              <a:rPr lang="en-US" sz="750" b="1" dirty="0">
                <a:solidFill>
                  <a:srgbClr val="C0392B"/>
                </a:solidFill>
              </a:rPr>
              <a:t>Filed Late</a:t>
            </a:r>
            <a:endParaRPr lang="en-US" sz="750" dirty="0"/>
          </a:p>
        </p:txBody>
      </p:sp>
      <p:sp>
        <p:nvSpPr>
          <p:cNvPr id="22" name="Text 20"/>
          <p:cNvSpPr/>
          <p:nvPr/>
        </p:nvSpPr>
        <p:spPr>
          <a:xfrm>
            <a:off x="2194560" y="1481328"/>
            <a:ext cx="914400" cy="365760"/>
          </a:xfrm>
          <a:prstGeom prst="rect">
            <a:avLst/>
          </a:prstGeom>
          <a:noFill/>
          <a:ln/>
        </p:spPr>
        <p:txBody>
          <a:bodyPr wrap="square" lIns="0" tIns="0" rIns="0" bIns="0" rtlCol="0" anchor="ctr"/>
          <a:lstStyle/>
          <a:p>
            <a:pPr marL="0" indent="0">
              <a:buNone/>
            </a:pPr>
            <a:r>
              <a:rPr lang="en-US" sz="700" dirty="0">
                <a:solidFill>
                  <a:srgbClr val="64748B"/>
                </a:solidFill>
              </a:rPr>
              <a:t>9 months late</a:t>
            </a:r>
            <a:endParaRPr lang="en-US" sz="700" dirty="0"/>
          </a:p>
          <a:p>
            <a:pPr marL="0" indent="0">
              <a:buNone/>
            </a:pPr>
            <a:r>
              <a:rPr lang="en-US" sz="700" dirty="0">
                <a:solidFill>
                  <a:srgbClr val="64748B"/>
                </a:solidFill>
              </a:rPr>
              <a:t>≥€225 penalty</a:t>
            </a:r>
            <a:endParaRPr lang="en-US" sz="700" dirty="0"/>
          </a:p>
        </p:txBody>
      </p:sp>
      <p:sp>
        <p:nvSpPr>
          <p:cNvPr id="23" name="Shape 21"/>
          <p:cNvSpPr/>
          <p:nvPr/>
        </p:nvSpPr>
        <p:spPr>
          <a:xfrm>
            <a:off x="4123944" y="1920240"/>
            <a:ext cx="201168" cy="201168"/>
          </a:xfrm>
          <a:prstGeom prst="ellipse">
            <a:avLst/>
          </a:prstGeom>
          <a:solidFill>
            <a:srgbClr val="006B6B"/>
          </a:solidFill>
          <a:ln w="12700">
            <a:solidFill>
              <a:srgbClr val="006B6B"/>
            </a:solidFill>
            <a:prstDash val="solid"/>
          </a:ln>
        </p:spPr>
        <p:txBody>
          <a:bodyPr/>
          <a:lstStyle/>
          <a:p>
            <a:endParaRPr lang="en-DE"/>
          </a:p>
        </p:txBody>
      </p:sp>
      <p:sp>
        <p:nvSpPr>
          <p:cNvPr id="24" name="Text 22"/>
          <p:cNvSpPr/>
          <p:nvPr/>
        </p:nvSpPr>
        <p:spPr>
          <a:xfrm>
            <a:off x="3749040" y="2176272"/>
            <a:ext cx="1005840" cy="182880"/>
          </a:xfrm>
          <a:prstGeom prst="rect">
            <a:avLst/>
          </a:prstGeom>
          <a:noFill/>
          <a:ln/>
        </p:spPr>
        <p:txBody>
          <a:bodyPr wrap="square" lIns="0" tIns="0" rIns="0" bIns="0" rtlCol="0" anchor="ctr"/>
          <a:lstStyle/>
          <a:p>
            <a:pPr marL="0" indent="0" algn="ctr">
              <a:buNone/>
            </a:pPr>
            <a:r>
              <a:rPr lang="en-US" sz="750" b="1" dirty="0">
                <a:solidFill>
                  <a:srgbClr val="006B6B"/>
                </a:solidFill>
              </a:rPr>
              <a:t>Jul 2026</a:t>
            </a:r>
            <a:endParaRPr lang="en-US" sz="750" dirty="0"/>
          </a:p>
        </p:txBody>
      </p:sp>
      <p:sp>
        <p:nvSpPr>
          <p:cNvPr id="25" name="Shape 23"/>
          <p:cNvSpPr/>
          <p:nvPr/>
        </p:nvSpPr>
        <p:spPr>
          <a:xfrm>
            <a:off x="3749040" y="1115568"/>
            <a:ext cx="1005840" cy="768096"/>
          </a:xfrm>
          <a:prstGeom prst="rect">
            <a:avLst/>
          </a:prstGeom>
          <a:solidFill>
            <a:srgbClr val="FFFFFF"/>
          </a:solidFill>
          <a:ln w="8890">
            <a:solidFill>
              <a:srgbClr val="006B6B"/>
            </a:solidFill>
            <a:prstDash val="solid"/>
          </a:ln>
          <a:effectLst>
            <a:outerShdw blurRad="38100" dist="12700" dir="8100000" algn="bl" rotWithShape="0">
              <a:srgbClr val="000000">
                <a:alpha val="6000"/>
              </a:srgbClr>
            </a:outerShdw>
          </a:effectLst>
        </p:spPr>
        <p:txBody>
          <a:bodyPr/>
          <a:lstStyle/>
          <a:p>
            <a:endParaRPr lang="en-DE"/>
          </a:p>
        </p:txBody>
      </p:sp>
      <p:sp>
        <p:nvSpPr>
          <p:cNvPr id="26" name="Shape 24"/>
          <p:cNvSpPr/>
          <p:nvPr/>
        </p:nvSpPr>
        <p:spPr>
          <a:xfrm>
            <a:off x="3749040" y="1115568"/>
            <a:ext cx="1005840" cy="45720"/>
          </a:xfrm>
          <a:prstGeom prst="rect">
            <a:avLst/>
          </a:prstGeom>
          <a:solidFill>
            <a:srgbClr val="006B6B"/>
          </a:solidFill>
          <a:ln w="12700">
            <a:solidFill>
              <a:srgbClr val="006B6B"/>
            </a:solidFill>
            <a:prstDash val="solid"/>
          </a:ln>
        </p:spPr>
        <p:txBody>
          <a:bodyPr/>
          <a:lstStyle/>
          <a:p>
            <a:endParaRPr lang="en-DE"/>
          </a:p>
        </p:txBody>
      </p:sp>
      <p:sp>
        <p:nvSpPr>
          <p:cNvPr id="27" name="Text 25"/>
          <p:cNvSpPr/>
          <p:nvPr/>
        </p:nvSpPr>
        <p:spPr>
          <a:xfrm>
            <a:off x="3794760" y="1170432"/>
            <a:ext cx="914400" cy="310896"/>
          </a:xfrm>
          <a:prstGeom prst="rect">
            <a:avLst/>
          </a:prstGeom>
          <a:noFill/>
          <a:ln/>
        </p:spPr>
        <p:txBody>
          <a:bodyPr wrap="square" lIns="0" tIns="0" rIns="0" bIns="0" rtlCol="0" anchor="ctr"/>
          <a:lstStyle/>
          <a:p>
            <a:pPr marL="0" indent="0">
              <a:buNone/>
            </a:pPr>
            <a:r>
              <a:rPr lang="en-US" sz="750" b="1" dirty="0">
                <a:solidFill>
                  <a:srgbClr val="006B6B"/>
                </a:solidFill>
              </a:rPr>
              <a:t>VAT Calendar</a:t>
            </a:r>
            <a:endParaRPr lang="en-US" sz="750" dirty="0"/>
          </a:p>
          <a:p>
            <a:pPr marL="0" indent="0">
              <a:buNone/>
            </a:pPr>
            <a:r>
              <a:rPr lang="en-US" sz="750" b="1" dirty="0">
                <a:solidFill>
                  <a:srgbClr val="006B6B"/>
                </a:solidFill>
              </a:rPr>
              <a:t>Implemented</a:t>
            </a:r>
            <a:endParaRPr lang="en-US" sz="750" dirty="0"/>
          </a:p>
        </p:txBody>
      </p:sp>
      <p:sp>
        <p:nvSpPr>
          <p:cNvPr id="28" name="Text 26"/>
          <p:cNvSpPr/>
          <p:nvPr/>
        </p:nvSpPr>
        <p:spPr>
          <a:xfrm>
            <a:off x="3794760" y="1481328"/>
            <a:ext cx="914400" cy="365760"/>
          </a:xfrm>
          <a:prstGeom prst="rect">
            <a:avLst/>
          </a:prstGeom>
          <a:noFill/>
          <a:ln/>
        </p:spPr>
        <p:txBody>
          <a:bodyPr wrap="square" lIns="0" tIns="0" rIns="0" bIns="0" rtlCol="0" anchor="ctr"/>
          <a:lstStyle/>
          <a:p>
            <a:pPr marL="0" indent="0">
              <a:buNone/>
            </a:pPr>
            <a:r>
              <a:rPr lang="en-US" sz="700" dirty="0">
                <a:solidFill>
                  <a:srgbClr val="64748B"/>
                </a:solidFill>
              </a:rPr>
              <a:t>Target: ERP</a:t>
            </a:r>
            <a:endParaRPr lang="en-US" sz="700" dirty="0"/>
          </a:p>
          <a:p>
            <a:pPr marL="0" indent="0">
              <a:buNone/>
            </a:pPr>
            <a:r>
              <a:rPr lang="en-US" sz="700" dirty="0">
                <a:solidFill>
                  <a:srgbClr val="64748B"/>
                </a:solidFill>
              </a:rPr>
              <a:t>deadline control</a:t>
            </a:r>
            <a:endParaRPr lang="en-US" sz="700" dirty="0"/>
          </a:p>
        </p:txBody>
      </p:sp>
      <p:sp>
        <p:nvSpPr>
          <p:cNvPr id="29" name="Shape 27"/>
          <p:cNvSpPr/>
          <p:nvPr/>
        </p:nvSpPr>
        <p:spPr>
          <a:xfrm>
            <a:off x="5724144" y="1920240"/>
            <a:ext cx="201168" cy="201168"/>
          </a:xfrm>
          <a:prstGeom prst="ellipse">
            <a:avLst/>
          </a:prstGeom>
          <a:solidFill>
            <a:srgbClr val="D97706"/>
          </a:solidFill>
          <a:ln w="12700">
            <a:solidFill>
              <a:srgbClr val="D97706"/>
            </a:solidFill>
            <a:prstDash val="solid"/>
          </a:ln>
        </p:spPr>
        <p:txBody>
          <a:bodyPr/>
          <a:lstStyle/>
          <a:p>
            <a:endParaRPr lang="en-DE"/>
          </a:p>
        </p:txBody>
      </p:sp>
      <p:sp>
        <p:nvSpPr>
          <p:cNvPr id="30" name="Text 28"/>
          <p:cNvSpPr/>
          <p:nvPr/>
        </p:nvSpPr>
        <p:spPr>
          <a:xfrm>
            <a:off x="5349240" y="2176272"/>
            <a:ext cx="1005840" cy="182880"/>
          </a:xfrm>
          <a:prstGeom prst="rect">
            <a:avLst/>
          </a:prstGeom>
          <a:noFill/>
          <a:ln/>
        </p:spPr>
        <p:txBody>
          <a:bodyPr wrap="square" lIns="0" tIns="0" rIns="0" bIns="0" rtlCol="0" anchor="ctr"/>
          <a:lstStyle/>
          <a:p>
            <a:pPr marL="0" indent="0" algn="ctr">
              <a:buNone/>
            </a:pPr>
            <a:r>
              <a:rPr lang="en-US" sz="750" b="1" dirty="0">
                <a:solidFill>
                  <a:srgbClr val="D97706"/>
                </a:solidFill>
              </a:rPr>
              <a:t>Dec 2026</a:t>
            </a:r>
            <a:endParaRPr lang="en-US" sz="750" dirty="0"/>
          </a:p>
        </p:txBody>
      </p:sp>
      <p:sp>
        <p:nvSpPr>
          <p:cNvPr id="31" name="Shape 29"/>
          <p:cNvSpPr/>
          <p:nvPr/>
        </p:nvSpPr>
        <p:spPr>
          <a:xfrm>
            <a:off x="5349240" y="1115568"/>
            <a:ext cx="1005840" cy="768096"/>
          </a:xfrm>
          <a:prstGeom prst="rect">
            <a:avLst/>
          </a:prstGeom>
          <a:solidFill>
            <a:srgbClr val="FFFFFF"/>
          </a:solidFill>
          <a:ln w="8890">
            <a:solidFill>
              <a:srgbClr val="D97706"/>
            </a:solidFill>
            <a:prstDash val="solid"/>
          </a:ln>
          <a:effectLst>
            <a:outerShdw blurRad="38100" dist="12700" dir="8100000" algn="bl" rotWithShape="0">
              <a:srgbClr val="000000">
                <a:alpha val="6000"/>
              </a:srgbClr>
            </a:outerShdw>
          </a:effectLst>
        </p:spPr>
        <p:txBody>
          <a:bodyPr/>
          <a:lstStyle/>
          <a:p>
            <a:endParaRPr lang="en-DE"/>
          </a:p>
        </p:txBody>
      </p:sp>
      <p:sp>
        <p:nvSpPr>
          <p:cNvPr id="32" name="Shape 30"/>
          <p:cNvSpPr/>
          <p:nvPr/>
        </p:nvSpPr>
        <p:spPr>
          <a:xfrm>
            <a:off x="5349240" y="1115568"/>
            <a:ext cx="1005840" cy="45720"/>
          </a:xfrm>
          <a:prstGeom prst="rect">
            <a:avLst/>
          </a:prstGeom>
          <a:solidFill>
            <a:srgbClr val="D97706"/>
          </a:solidFill>
          <a:ln w="12700">
            <a:solidFill>
              <a:srgbClr val="D97706"/>
            </a:solidFill>
            <a:prstDash val="solid"/>
          </a:ln>
        </p:spPr>
        <p:txBody>
          <a:bodyPr/>
          <a:lstStyle/>
          <a:p>
            <a:endParaRPr lang="en-DE"/>
          </a:p>
        </p:txBody>
      </p:sp>
      <p:sp>
        <p:nvSpPr>
          <p:cNvPr id="33" name="Text 31"/>
          <p:cNvSpPr/>
          <p:nvPr/>
        </p:nvSpPr>
        <p:spPr>
          <a:xfrm>
            <a:off x="5394960" y="1170432"/>
            <a:ext cx="914400" cy="310896"/>
          </a:xfrm>
          <a:prstGeom prst="rect">
            <a:avLst/>
          </a:prstGeom>
          <a:noFill/>
          <a:ln/>
        </p:spPr>
        <p:txBody>
          <a:bodyPr wrap="square" lIns="0" tIns="0" rIns="0" bIns="0" rtlCol="0" anchor="ctr"/>
          <a:lstStyle/>
          <a:p>
            <a:pPr marL="0" indent="0">
              <a:buNone/>
            </a:pPr>
            <a:r>
              <a:rPr lang="en-US" sz="750" b="1" dirty="0">
                <a:solidFill>
                  <a:srgbClr val="D97706"/>
                </a:solidFill>
              </a:rPr>
              <a:t>E-Invoice</a:t>
            </a:r>
            <a:endParaRPr lang="en-US" sz="750" dirty="0"/>
          </a:p>
          <a:p>
            <a:pPr marL="0" indent="0">
              <a:buNone/>
            </a:pPr>
            <a:r>
              <a:rPr lang="en-US" sz="750" b="1" dirty="0">
                <a:solidFill>
                  <a:srgbClr val="D97706"/>
                </a:solidFill>
              </a:rPr>
              <a:t>Systems Ready</a:t>
            </a:r>
            <a:endParaRPr lang="en-US" sz="750" dirty="0"/>
          </a:p>
        </p:txBody>
      </p:sp>
      <p:sp>
        <p:nvSpPr>
          <p:cNvPr id="34" name="Text 32"/>
          <p:cNvSpPr/>
          <p:nvPr/>
        </p:nvSpPr>
        <p:spPr>
          <a:xfrm>
            <a:off x="5394960" y="1481328"/>
            <a:ext cx="914400" cy="365760"/>
          </a:xfrm>
          <a:prstGeom prst="rect">
            <a:avLst/>
          </a:prstGeom>
          <a:noFill/>
          <a:ln/>
        </p:spPr>
        <p:txBody>
          <a:bodyPr wrap="square" lIns="0" tIns="0" rIns="0" bIns="0" rtlCol="0" anchor="ctr"/>
          <a:lstStyle/>
          <a:p>
            <a:pPr marL="0" indent="0">
              <a:buNone/>
            </a:pPr>
            <a:r>
              <a:rPr lang="en-US" sz="700" dirty="0">
                <a:solidFill>
                  <a:srgbClr val="64748B"/>
                </a:solidFill>
              </a:rPr>
              <a:t>Before 2027</a:t>
            </a:r>
            <a:endParaRPr lang="en-US" sz="700" dirty="0"/>
          </a:p>
          <a:p>
            <a:pPr marL="0" indent="0">
              <a:buNone/>
            </a:pPr>
            <a:r>
              <a:rPr lang="en-US" sz="700" dirty="0">
                <a:solidFill>
                  <a:srgbClr val="64748B"/>
                </a:solidFill>
              </a:rPr>
              <a:t>obligation</a:t>
            </a:r>
            <a:endParaRPr lang="en-US" sz="700" dirty="0"/>
          </a:p>
        </p:txBody>
      </p:sp>
      <p:sp>
        <p:nvSpPr>
          <p:cNvPr id="35" name="Shape 33"/>
          <p:cNvSpPr/>
          <p:nvPr/>
        </p:nvSpPr>
        <p:spPr>
          <a:xfrm>
            <a:off x="6867144" y="1920240"/>
            <a:ext cx="201168" cy="201168"/>
          </a:xfrm>
          <a:prstGeom prst="ellipse">
            <a:avLst/>
          </a:prstGeom>
          <a:solidFill>
            <a:srgbClr val="C0392B"/>
          </a:solidFill>
          <a:ln w="12700">
            <a:solidFill>
              <a:srgbClr val="C0392B"/>
            </a:solidFill>
            <a:prstDash val="solid"/>
          </a:ln>
        </p:spPr>
        <p:txBody>
          <a:bodyPr/>
          <a:lstStyle/>
          <a:p>
            <a:endParaRPr lang="en-DE"/>
          </a:p>
        </p:txBody>
      </p:sp>
      <p:sp>
        <p:nvSpPr>
          <p:cNvPr id="36" name="Text 34"/>
          <p:cNvSpPr/>
          <p:nvPr/>
        </p:nvSpPr>
        <p:spPr>
          <a:xfrm>
            <a:off x="6492240" y="2176272"/>
            <a:ext cx="1005840" cy="182880"/>
          </a:xfrm>
          <a:prstGeom prst="rect">
            <a:avLst/>
          </a:prstGeom>
          <a:noFill/>
          <a:ln/>
        </p:spPr>
        <p:txBody>
          <a:bodyPr wrap="square" lIns="0" tIns="0" rIns="0" bIns="0" rtlCol="0" anchor="ctr"/>
          <a:lstStyle/>
          <a:p>
            <a:pPr marL="0" indent="0" algn="ctr">
              <a:buNone/>
            </a:pPr>
            <a:r>
              <a:rPr lang="en-US" sz="750" b="1" dirty="0">
                <a:solidFill>
                  <a:srgbClr val="C0392B"/>
                </a:solidFill>
              </a:rPr>
              <a:t>Jan 2027</a:t>
            </a:r>
            <a:endParaRPr lang="en-US" sz="750" dirty="0"/>
          </a:p>
        </p:txBody>
      </p:sp>
      <p:sp>
        <p:nvSpPr>
          <p:cNvPr id="37" name="Shape 35"/>
          <p:cNvSpPr/>
          <p:nvPr/>
        </p:nvSpPr>
        <p:spPr>
          <a:xfrm>
            <a:off x="6492240" y="1115568"/>
            <a:ext cx="1005840" cy="768096"/>
          </a:xfrm>
          <a:prstGeom prst="rect">
            <a:avLst/>
          </a:prstGeom>
          <a:solidFill>
            <a:srgbClr val="FEF2F2"/>
          </a:solidFill>
          <a:ln w="889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38" name="Shape 36"/>
          <p:cNvSpPr/>
          <p:nvPr/>
        </p:nvSpPr>
        <p:spPr>
          <a:xfrm>
            <a:off x="6492240" y="1115568"/>
            <a:ext cx="1005840" cy="45720"/>
          </a:xfrm>
          <a:prstGeom prst="rect">
            <a:avLst/>
          </a:prstGeom>
          <a:solidFill>
            <a:srgbClr val="C0392B"/>
          </a:solidFill>
          <a:ln w="12700">
            <a:solidFill>
              <a:srgbClr val="C0392B"/>
            </a:solidFill>
            <a:prstDash val="solid"/>
          </a:ln>
        </p:spPr>
        <p:txBody>
          <a:bodyPr/>
          <a:lstStyle/>
          <a:p>
            <a:endParaRPr lang="en-DE"/>
          </a:p>
        </p:txBody>
      </p:sp>
      <p:sp>
        <p:nvSpPr>
          <p:cNvPr id="39" name="Text 37"/>
          <p:cNvSpPr/>
          <p:nvPr/>
        </p:nvSpPr>
        <p:spPr>
          <a:xfrm>
            <a:off x="6537960" y="1170432"/>
            <a:ext cx="914400" cy="310896"/>
          </a:xfrm>
          <a:prstGeom prst="rect">
            <a:avLst/>
          </a:prstGeom>
          <a:noFill/>
          <a:ln/>
        </p:spPr>
        <p:txBody>
          <a:bodyPr wrap="square" lIns="0" tIns="0" rIns="0" bIns="0" rtlCol="0" anchor="ctr"/>
          <a:lstStyle/>
          <a:p>
            <a:pPr marL="0" indent="0">
              <a:buNone/>
            </a:pPr>
            <a:r>
              <a:rPr lang="en-US" sz="750" b="1" dirty="0">
                <a:solidFill>
                  <a:srgbClr val="C0392B"/>
                </a:solidFill>
              </a:rPr>
              <a:t>Issue</a:t>
            </a:r>
            <a:endParaRPr lang="en-US" sz="750" dirty="0"/>
          </a:p>
          <a:p>
            <a:pPr marL="0" indent="0">
              <a:buNone/>
            </a:pPr>
            <a:r>
              <a:rPr lang="en-US" sz="750" b="1" dirty="0">
                <a:solidFill>
                  <a:srgbClr val="C0392B"/>
                </a:solidFill>
              </a:rPr>
              <a:t>E-Invoices</a:t>
            </a:r>
            <a:endParaRPr lang="en-US" sz="750" dirty="0"/>
          </a:p>
        </p:txBody>
      </p:sp>
      <p:sp>
        <p:nvSpPr>
          <p:cNvPr id="40" name="Text 38"/>
          <p:cNvSpPr/>
          <p:nvPr/>
        </p:nvSpPr>
        <p:spPr>
          <a:xfrm>
            <a:off x="6537960" y="1481328"/>
            <a:ext cx="914400" cy="365760"/>
          </a:xfrm>
          <a:prstGeom prst="rect">
            <a:avLst/>
          </a:prstGeom>
          <a:noFill/>
          <a:ln/>
        </p:spPr>
        <p:txBody>
          <a:bodyPr wrap="square" lIns="0" tIns="0" rIns="0" bIns="0" rtlCol="0" anchor="ctr"/>
          <a:lstStyle/>
          <a:p>
            <a:pPr marL="0" indent="0">
              <a:buNone/>
            </a:pPr>
            <a:r>
              <a:rPr lang="en-US" sz="700" dirty="0">
                <a:solidFill>
                  <a:srgbClr val="64748B"/>
                </a:solidFill>
              </a:rPr>
              <a:t>Strabam AG</a:t>
            </a:r>
            <a:endParaRPr lang="en-US" sz="700" dirty="0"/>
          </a:p>
          <a:p>
            <a:pPr marL="0" indent="0">
              <a:buNone/>
            </a:pPr>
            <a:r>
              <a:rPr lang="en-US" sz="700" dirty="0">
                <a:solidFill>
                  <a:srgbClr val="64748B"/>
                </a:solidFill>
              </a:rPr>
              <a:t>&gt;€800K turnover</a:t>
            </a:r>
            <a:endParaRPr lang="en-US" sz="700" dirty="0"/>
          </a:p>
        </p:txBody>
      </p:sp>
      <p:sp>
        <p:nvSpPr>
          <p:cNvPr id="41" name="Shape 39"/>
          <p:cNvSpPr/>
          <p:nvPr/>
        </p:nvSpPr>
        <p:spPr>
          <a:xfrm>
            <a:off x="8238744" y="1920240"/>
            <a:ext cx="201168" cy="201168"/>
          </a:xfrm>
          <a:prstGeom prst="ellipse">
            <a:avLst/>
          </a:prstGeom>
          <a:solidFill>
            <a:srgbClr val="0A1628"/>
          </a:solidFill>
          <a:ln w="12700">
            <a:solidFill>
              <a:srgbClr val="0A1628"/>
            </a:solidFill>
            <a:prstDash val="solid"/>
          </a:ln>
        </p:spPr>
        <p:txBody>
          <a:bodyPr/>
          <a:lstStyle/>
          <a:p>
            <a:endParaRPr lang="en-DE"/>
          </a:p>
        </p:txBody>
      </p:sp>
      <p:sp>
        <p:nvSpPr>
          <p:cNvPr id="42" name="Text 40"/>
          <p:cNvSpPr/>
          <p:nvPr/>
        </p:nvSpPr>
        <p:spPr>
          <a:xfrm>
            <a:off x="7863840" y="2176272"/>
            <a:ext cx="1005840" cy="182880"/>
          </a:xfrm>
          <a:prstGeom prst="rect">
            <a:avLst/>
          </a:prstGeom>
          <a:noFill/>
          <a:ln/>
        </p:spPr>
        <p:txBody>
          <a:bodyPr wrap="square" lIns="0" tIns="0" rIns="0" bIns="0" rtlCol="0" anchor="ctr"/>
          <a:lstStyle/>
          <a:p>
            <a:pPr marL="0" indent="0" algn="ctr">
              <a:buNone/>
            </a:pPr>
            <a:r>
              <a:rPr lang="en-US" sz="750" b="1" dirty="0">
                <a:solidFill>
                  <a:srgbClr val="0A1628"/>
                </a:solidFill>
              </a:rPr>
              <a:t>Jan 2028</a:t>
            </a:r>
            <a:endParaRPr lang="en-US" sz="750" dirty="0"/>
          </a:p>
        </p:txBody>
      </p:sp>
      <p:sp>
        <p:nvSpPr>
          <p:cNvPr id="43" name="Shape 41"/>
          <p:cNvSpPr/>
          <p:nvPr/>
        </p:nvSpPr>
        <p:spPr>
          <a:xfrm>
            <a:off x="7863840" y="1115568"/>
            <a:ext cx="1005840" cy="768096"/>
          </a:xfrm>
          <a:prstGeom prst="rect">
            <a:avLst/>
          </a:prstGeom>
          <a:solidFill>
            <a:srgbClr val="FFFFFF"/>
          </a:solidFill>
          <a:ln w="8890">
            <a:solidFill>
              <a:srgbClr val="0A1628"/>
            </a:solidFill>
            <a:prstDash val="solid"/>
          </a:ln>
          <a:effectLst>
            <a:outerShdw blurRad="38100" dist="12700" dir="8100000" algn="bl" rotWithShape="0">
              <a:srgbClr val="000000">
                <a:alpha val="6000"/>
              </a:srgbClr>
            </a:outerShdw>
          </a:effectLst>
        </p:spPr>
        <p:txBody>
          <a:bodyPr/>
          <a:lstStyle/>
          <a:p>
            <a:endParaRPr lang="en-DE"/>
          </a:p>
        </p:txBody>
      </p:sp>
      <p:sp>
        <p:nvSpPr>
          <p:cNvPr id="44" name="Shape 42"/>
          <p:cNvSpPr/>
          <p:nvPr/>
        </p:nvSpPr>
        <p:spPr>
          <a:xfrm>
            <a:off x="7863840" y="1115568"/>
            <a:ext cx="1005840" cy="45720"/>
          </a:xfrm>
          <a:prstGeom prst="rect">
            <a:avLst/>
          </a:prstGeom>
          <a:solidFill>
            <a:srgbClr val="0A1628"/>
          </a:solidFill>
          <a:ln w="12700">
            <a:solidFill>
              <a:srgbClr val="0A1628"/>
            </a:solidFill>
            <a:prstDash val="solid"/>
          </a:ln>
        </p:spPr>
        <p:txBody>
          <a:bodyPr/>
          <a:lstStyle/>
          <a:p>
            <a:endParaRPr lang="en-DE"/>
          </a:p>
        </p:txBody>
      </p:sp>
      <p:sp>
        <p:nvSpPr>
          <p:cNvPr id="45" name="Text 43"/>
          <p:cNvSpPr/>
          <p:nvPr/>
        </p:nvSpPr>
        <p:spPr>
          <a:xfrm>
            <a:off x="7909560" y="1170432"/>
            <a:ext cx="914400" cy="310896"/>
          </a:xfrm>
          <a:prstGeom prst="rect">
            <a:avLst/>
          </a:prstGeom>
          <a:noFill/>
          <a:ln/>
        </p:spPr>
        <p:txBody>
          <a:bodyPr wrap="square" lIns="0" tIns="0" rIns="0" bIns="0" rtlCol="0" anchor="ctr"/>
          <a:lstStyle/>
          <a:p>
            <a:pPr marL="0" indent="0">
              <a:buNone/>
            </a:pPr>
            <a:r>
              <a:rPr lang="en-US" sz="750" b="1" dirty="0">
                <a:solidFill>
                  <a:srgbClr val="0A1628"/>
                </a:solidFill>
              </a:rPr>
              <a:t>All B2B</a:t>
            </a:r>
            <a:endParaRPr lang="en-US" sz="750" dirty="0"/>
          </a:p>
          <a:p>
            <a:pPr marL="0" indent="0">
              <a:buNone/>
            </a:pPr>
            <a:r>
              <a:rPr lang="en-US" sz="750" b="1" dirty="0">
                <a:solidFill>
                  <a:srgbClr val="0A1628"/>
                </a:solidFill>
              </a:rPr>
              <a:t>E-Invoices</a:t>
            </a:r>
            <a:endParaRPr lang="en-US" sz="750" dirty="0"/>
          </a:p>
        </p:txBody>
      </p:sp>
      <p:sp>
        <p:nvSpPr>
          <p:cNvPr id="46" name="Text 44"/>
          <p:cNvSpPr/>
          <p:nvPr/>
        </p:nvSpPr>
        <p:spPr>
          <a:xfrm>
            <a:off x="7909560" y="1481328"/>
            <a:ext cx="914400" cy="365760"/>
          </a:xfrm>
          <a:prstGeom prst="rect">
            <a:avLst/>
          </a:prstGeom>
          <a:noFill/>
          <a:ln/>
        </p:spPr>
        <p:txBody>
          <a:bodyPr wrap="square" lIns="0" tIns="0" rIns="0" bIns="0" rtlCol="0" anchor="ctr"/>
          <a:lstStyle/>
          <a:p>
            <a:pPr marL="0" indent="0">
              <a:buNone/>
            </a:pPr>
            <a:r>
              <a:rPr lang="en-US" sz="700" dirty="0">
                <a:solidFill>
                  <a:srgbClr val="64748B"/>
                </a:solidFill>
              </a:rPr>
              <a:t>Universal</a:t>
            </a:r>
            <a:endParaRPr lang="en-US" sz="700" dirty="0"/>
          </a:p>
          <a:p>
            <a:pPr marL="0" indent="0">
              <a:buNone/>
            </a:pPr>
            <a:r>
              <a:rPr lang="en-US" sz="700" dirty="0">
                <a:solidFill>
                  <a:srgbClr val="64748B"/>
                </a:solidFill>
              </a:rPr>
              <a:t>obligation</a:t>
            </a:r>
            <a:endParaRPr lang="en-US" sz="700" dirty="0"/>
          </a:p>
        </p:txBody>
      </p:sp>
      <p:sp>
        <p:nvSpPr>
          <p:cNvPr id="47" name="Shape 45"/>
          <p:cNvSpPr/>
          <p:nvPr/>
        </p:nvSpPr>
        <p:spPr>
          <a:xfrm>
            <a:off x="411480" y="2487168"/>
            <a:ext cx="2697480" cy="2176272"/>
          </a:xfrm>
          <a:prstGeom prst="rect">
            <a:avLst/>
          </a:prstGeom>
          <a:solidFill>
            <a:srgbClr val="FFFFFF"/>
          </a:solidFill>
          <a:ln w="6350">
            <a:solidFill>
              <a:srgbClr val="C0392B"/>
            </a:solidFill>
            <a:prstDash val="solid"/>
          </a:ln>
          <a:effectLst>
            <a:outerShdw blurRad="38100" dist="12700" dir="8100000" algn="bl" rotWithShape="0">
              <a:srgbClr val="000000">
                <a:alpha val="6000"/>
              </a:srgbClr>
            </a:outerShdw>
          </a:effectLst>
        </p:spPr>
        <p:txBody>
          <a:bodyPr/>
          <a:lstStyle/>
          <a:p>
            <a:endParaRPr lang="en-DE"/>
          </a:p>
        </p:txBody>
      </p:sp>
      <p:sp>
        <p:nvSpPr>
          <p:cNvPr id="48" name="Shape 46"/>
          <p:cNvSpPr/>
          <p:nvPr/>
        </p:nvSpPr>
        <p:spPr>
          <a:xfrm>
            <a:off x="411480" y="2487168"/>
            <a:ext cx="2697480" cy="292608"/>
          </a:xfrm>
          <a:prstGeom prst="rect">
            <a:avLst/>
          </a:prstGeom>
          <a:solidFill>
            <a:srgbClr val="C0392B"/>
          </a:solidFill>
          <a:ln w="12700">
            <a:solidFill>
              <a:srgbClr val="C0392B"/>
            </a:solidFill>
            <a:prstDash val="solid"/>
          </a:ln>
        </p:spPr>
        <p:txBody>
          <a:bodyPr/>
          <a:lstStyle/>
          <a:p>
            <a:endParaRPr lang="en-DE"/>
          </a:p>
        </p:txBody>
      </p:sp>
      <p:sp>
        <p:nvSpPr>
          <p:cNvPr id="49" name="Text 47"/>
          <p:cNvSpPr/>
          <p:nvPr/>
        </p:nvSpPr>
        <p:spPr>
          <a:xfrm>
            <a:off x="484632" y="2532888"/>
            <a:ext cx="2560320" cy="219456"/>
          </a:xfrm>
          <a:prstGeom prst="rect">
            <a:avLst/>
          </a:prstGeom>
          <a:noFill/>
          <a:ln/>
        </p:spPr>
        <p:txBody>
          <a:bodyPr wrap="square" lIns="0" tIns="0" rIns="0" bIns="0" rtlCol="0" anchor="ctr"/>
          <a:lstStyle/>
          <a:p>
            <a:pPr marL="0" indent="0">
              <a:buNone/>
            </a:pPr>
            <a:r>
              <a:rPr lang="en-US" sz="750" b="1" dirty="0">
                <a:solidFill>
                  <a:srgbClr val="FFFFFF"/>
                </a:solidFill>
              </a:rPr>
              <a:t>PHASE 1 - Immediate (Q2/Q3 2026)</a:t>
            </a:r>
            <a:endParaRPr lang="en-US" sz="750" dirty="0"/>
          </a:p>
        </p:txBody>
      </p:sp>
      <p:sp>
        <p:nvSpPr>
          <p:cNvPr id="50" name="Text 48"/>
          <p:cNvSpPr/>
          <p:nvPr/>
        </p:nvSpPr>
        <p:spPr>
          <a:xfrm>
            <a:off x="502920" y="2834640"/>
            <a:ext cx="2542032" cy="1783080"/>
          </a:xfrm>
          <a:prstGeom prst="rect">
            <a:avLst/>
          </a:prstGeom>
          <a:noFill/>
          <a:ln/>
        </p:spPr>
        <p:txBody>
          <a:bodyPr wrap="square" lIns="0" tIns="0" rIns="0" bIns="0" rtlCol="0" anchor="ctr"/>
          <a:lstStyle/>
          <a:p>
            <a:pPr marL="342900" indent="-342900">
              <a:spcAft>
                <a:spcPts val="500"/>
              </a:spcAft>
              <a:buSzPct val="100000"/>
              <a:buChar char="•"/>
            </a:pPr>
            <a:r>
              <a:rPr lang="en-US" sz="820" dirty="0">
                <a:solidFill>
                  <a:srgbClr val="1B2E4B"/>
                </a:solidFill>
              </a:rPr>
              <a:t>Enable XRechnung / ZUGFeRD receiving infrastructure</a:t>
            </a:r>
            <a:endParaRPr lang="en-US" sz="780" dirty="0"/>
          </a:p>
          <a:p>
            <a:pPr marL="342900" indent="-342900">
              <a:spcAft>
                <a:spcPts val="500"/>
              </a:spcAft>
              <a:buSzPct val="100000"/>
              <a:buChar char="•"/>
            </a:pPr>
            <a:r>
              <a:rPr lang="en-US" sz="820" dirty="0">
                <a:solidFill>
                  <a:srgbClr val="1B2E4B"/>
                </a:solidFill>
              </a:rPr>
              <a:t>Formally respond to § 152 AO Verspätungszuschlag (penalty)</a:t>
            </a:r>
            <a:endParaRPr lang="en-US" sz="780" dirty="0"/>
          </a:p>
          <a:p>
            <a:pPr marL="342900" indent="-342900">
              <a:spcAft>
                <a:spcPts val="500"/>
              </a:spcAft>
              <a:buSzPct val="100000"/>
              <a:buChar char="•"/>
            </a:pPr>
            <a:r>
              <a:rPr lang="en-US" sz="820" dirty="0">
                <a:solidFill>
                  <a:srgbClr val="1B2E4B"/>
                </a:solidFill>
              </a:rPr>
              <a:t>Appoint VAT Return Owner (Verantwortlicher) in Tax Dept.</a:t>
            </a:r>
            <a:endParaRPr lang="en-US" sz="780" dirty="0"/>
          </a:p>
          <a:p>
            <a:pPr marL="342900" indent="-342900">
              <a:spcAft>
                <a:spcPts val="500"/>
              </a:spcAft>
              <a:buSzPct val="100000"/>
              <a:buChar char="•"/>
            </a:pPr>
            <a:r>
              <a:rPr lang="en-US" sz="820" dirty="0">
                <a:solidFill>
                  <a:srgbClr val="1B2E4B"/>
                </a:solidFill>
              </a:rPr>
              <a:t>Review China→Spain Incoterms and import party identity</a:t>
            </a:r>
            <a:endParaRPr lang="en-US" sz="780" dirty="0"/>
          </a:p>
        </p:txBody>
      </p:sp>
      <p:sp>
        <p:nvSpPr>
          <p:cNvPr id="51" name="Shape 49"/>
          <p:cNvSpPr/>
          <p:nvPr/>
        </p:nvSpPr>
        <p:spPr>
          <a:xfrm>
            <a:off x="3246120" y="2487168"/>
            <a:ext cx="2697480" cy="2176272"/>
          </a:xfrm>
          <a:prstGeom prst="rect">
            <a:avLst/>
          </a:prstGeom>
          <a:solidFill>
            <a:srgbClr val="FFFFFF"/>
          </a:solidFill>
          <a:ln w="6350">
            <a:solidFill>
              <a:srgbClr val="D97706"/>
            </a:solidFill>
            <a:prstDash val="solid"/>
          </a:ln>
          <a:effectLst>
            <a:outerShdw blurRad="38100" dist="12700" dir="8100000" algn="bl" rotWithShape="0">
              <a:srgbClr val="000000">
                <a:alpha val="6000"/>
              </a:srgbClr>
            </a:outerShdw>
          </a:effectLst>
        </p:spPr>
        <p:txBody>
          <a:bodyPr/>
          <a:lstStyle/>
          <a:p>
            <a:endParaRPr lang="en-DE"/>
          </a:p>
        </p:txBody>
      </p:sp>
      <p:sp>
        <p:nvSpPr>
          <p:cNvPr id="52" name="Shape 50"/>
          <p:cNvSpPr/>
          <p:nvPr/>
        </p:nvSpPr>
        <p:spPr>
          <a:xfrm>
            <a:off x="3246120" y="2487168"/>
            <a:ext cx="2697480" cy="292608"/>
          </a:xfrm>
          <a:prstGeom prst="rect">
            <a:avLst/>
          </a:prstGeom>
          <a:solidFill>
            <a:srgbClr val="D97706"/>
          </a:solidFill>
          <a:ln w="12700">
            <a:solidFill>
              <a:srgbClr val="D97706"/>
            </a:solidFill>
            <a:prstDash val="solid"/>
          </a:ln>
        </p:spPr>
        <p:txBody>
          <a:bodyPr/>
          <a:lstStyle/>
          <a:p>
            <a:endParaRPr lang="en-DE"/>
          </a:p>
        </p:txBody>
      </p:sp>
      <p:sp>
        <p:nvSpPr>
          <p:cNvPr id="53" name="Text 51"/>
          <p:cNvSpPr/>
          <p:nvPr/>
        </p:nvSpPr>
        <p:spPr>
          <a:xfrm>
            <a:off x="3319272" y="2532888"/>
            <a:ext cx="2560320" cy="219456"/>
          </a:xfrm>
          <a:prstGeom prst="rect">
            <a:avLst/>
          </a:prstGeom>
          <a:noFill/>
          <a:ln/>
        </p:spPr>
        <p:txBody>
          <a:bodyPr wrap="square" lIns="0" tIns="0" rIns="0" bIns="0" rtlCol="0" anchor="ctr"/>
          <a:lstStyle/>
          <a:p>
            <a:pPr marL="0" indent="0">
              <a:buNone/>
            </a:pPr>
            <a:r>
              <a:rPr lang="en-US" sz="750" b="1" dirty="0">
                <a:solidFill>
                  <a:srgbClr val="FFFFFF"/>
                </a:solidFill>
              </a:rPr>
              <a:t>PHASE 2 - Short-Term (Q3/Q4 2026)</a:t>
            </a:r>
            <a:endParaRPr lang="en-US" sz="750" dirty="0"/>
          </a:p>
        </p:txBody>
      </p:sp>
      <p:sp>
        <p:nvSpPr>
          <p:cNvPr id="54" name="Text 52"/>
          <p:cNvSpPr/>
          <p:nvPr/>
        </p:nvSpPr>
        <p:spPr>
          <a:xfrm>
            <a:off x="3337560" y="2834640"/>
            <a:ext cx="2542032" cy="1783080"/>
          </a:xfrm>
          <a:prstGeom prst="rect">
            <a:avLst/>
          </a:prstGeom>
          <a:noFill/>
          <a:ln/>
        </p:spPr>
        <p:txBody>
          <a:bodyPr wrap="square" lIns="0" tIns="0" rIns="0" bIns="0" rtlCol="0" anchor="ctr"/>
          <a:lstStyle/>
          <a:p>
            <a:pPr marL="342900" indent="-342900">
              <a:spcAft>
                <a:spcPts val="500"/>
              </a:spcAft>
              <a:buSzPct val="100000"/>
              <a:buChar char="•"/>
            </a:pPr>
            <a:r>
              <a:rPr lang="en-US" sz="820" dirty="0">
                <a:solidFill>
                  <a:srgbClr val="1B2E4B"/>
                </a:solidFill>
              </a:rPr>
              <a:t>Implement Steuerkalender (VAT Compliance Calendar) in ERP</a:t>
            </a:r>
            <a:endParaRPr lang="en-US" sz="780" dirty="0"/>
          </a:p>
          <a:p>
            <a:pPr marL="342900" indent="-342900">
              <a:spcAft>
                <a:spcPts val="500"/>
              </a:spcAft>
              <a:buSzPct val="100000"/>
              <a:buChar char="•"/>
            </a:pPr>
            <a:r>
              <a:rPr lang="en-US" sz="820" dirty="0">
                <a:solidFill>
                  <a:srgbClr val="1B2E4B"/>
                </a:solidFill>
              </a:rPr>
              <a:t>Standardise CMR waybill documentation workflow</a:t>
            </a:r>
            <a:endParaRPr lang="en-US" sz="780" dirty="0"/>
          </a:p>
          <a:p>
            <a:pPr marL="342900" indent="-342900">
              <a:spcAft>
                <a:spcPts val="500"/>
              </a:spcAft>
              <a:buSzPct val="100000"/>
              <a:buChar char="•"/>
            </a:pPr>
            <a:r>
              <a:rPr lang="en-US" sz="820" dirty="0">
                <a:solidFill>
                  <a:srgbClr val="1B2E4B"/>
                </a:solidFill>
              </a:rPr>
              <a:t>Activate VIES (VAT Information Exchange System) auto-validation</a:t>
            </a:r>
            <a:endParaRPr lang="en-US" sz="780" dirty="0"/>
          </a:p>
          <a:p>
            <a:pPr marL="342900" indent="-342900">
              <a:spcAft>
                <a:spcPts val="500"/>
              </a:spcAft>
              <a:buSzPct val="100000"/>
              <a:buChar char="•"/>
            </a:pPr>
            <a:r>
              <a:rPr lang="en-US" sz="820" dirty="0">
                <a:solidFill>
                  <a:srgbClr val="1B2E4B"/>
                </a:solidFill>
              </a:rPr>
              <a:t>Establish ZM (Zusammenfassende Meldung) reconciliation process</a:t>
            </a:r>
            <a:endParaRPr lang="en-US" sz="780" dirty="0"/>
          </a:p>
        </p:txBody>
      </p:sp>
      <p:sp>
        <p:nvSpPr>
          <p:cNvPr id="55" name="Shape 53"/>
          <p:cNvSpPr/>
          <p:nvPr/>
        </p:nvSpPr>
        <p:spPr>
          <a:xfrm>
            <a:off x="6080760" y="2487168"/>
            <a:ext cx="2697480" cy="2176272"/>
          </a:xfrm>
          <a:prstGeom prst="rect">
            <a:avLst/>
          </a:prstGeom>
          <a:solidFill>
            <a:srgbClr val="FFFFFF"/>
          </a:solidFill>
          <a:ln w="6350">
            <a:solidFill>
              <a:srgbClr val="15803D"/>
            </a:solidFill>
            <a:prstDash val="solid"/>
          </a:ln>
          <a:effectLst>
            <a:outerShdw blurRad="38100" dist="12700" dir="8100000" algn="bl" rotWithShape="0">
              <a:srgbClr val="000000">
                <a:alpha val="6000"/>
              </a:srgbClr>
            </a:outerShdw>
          </a:effectLst>
        </p:spPr>
        <p:txBody>
          <a:bodyPr/>
          <a:lstStyle/>
          <a:p>
            <a:endParaRPr lang="en-DE"/>
          </a:p>
        </p:txBody>
      </p:sp>
      <p:sp>
        <p:nvSpPr>
          <p:cNvPr id="56" name="Shape 54"/>
          <p:cNvSpPr/>
          <p:nvPr/>
        </p:nvSpPr>
        <p:spPr>
          <a:xfrm>
            <a:off x="6080760" y="2487168"/>
            <a:ext cx="2697480" cy="292608"/>
          </a:xfrm>
          <a:prstGeom prst="rect">
            <a:avLst/>
          </a:prstGeom>
          <a:solidFill>
            <a:srgbClr val="15803D"/>
          </a:solidFill>
          <a:ln w="12700">
            <a:solidFill>
              <a:srgbClr val="15803D"/>
            </a:solidFill>
            <a:prstDash val="solid"/>
          </a:ln>
        </p:spPr>
        <p:txBody>
          <a:bodyPr/>
          <a:lstStyle/>
          <a:p>
            <a:endParaRPr lang="en-DE"/>
          </a:p>
        </p:txBody>
      </p:sp>
      <p:sp>
        <p:nvSpPr>
          <p:cNvPr id="57" name="Text 55"/>
          <p:cNvSpPr/>
          <p:nvPr/>
        </p:nvSpPr>
        <p:spPr>
          <a:xfrm>
            <a:off x="6153912" y="2532888"/>
            <a:ext cx="2560320" cy="219456"/>
          </a:xfrm>
          <a:prstGeom prst="rect">
            <a:avLst/>
          </a:prstGeom>
          <a:noFill/>
          <a:ln/>
        </p:spPr>
        <p:txBody>
          <a:bodyPr wrap="square" lIns="0" tIns="0" rIns="0" bIns="0" rtlCol="0" anchor="ctr"/>
          <a:lstStyle/>
          <a:p>
            <a:pPr marL="0" indent="0">
              <a:buNone/>
            </a:pPr>
            <a:r>
              <a:rPr lang="en-US" sz="750" b="1" dirty="0">
                <a:solidFill>
                  <a:srgbClr val="FFFFFF"/>
                </a:solidFill>
              </a:rPr>
              <a:t>PHASE 3 - Strategic (2027+)</a:t>
            </a:r>
            <a:endParaRPr lang="en-US" sz="750" dirty="0"/>
          </a:p>
        </p:txBody>
      </p:sp>
      <p:sp>
        <p:nvSpPr>
          <p:cNvPr id="58" name="Text 56"/>
          <p:cNvSpPr/>
          <p:nvPr/>
        </p:nvSpPr>
        <p:spPr>
          <a:xfrm>
            <a:off x="6172200" y="2834640"/>
            <a:ext cx="2542032" cy="1783080"/>
          </a:xfrm>
          <a:prstGeom prst="rect">
            <a:avLst/>
          </a:prstGeom>
          <a:noFill/>
          <a:ln/>
        </p:spPr>
        <p:txBody>
          <a:bodyPr wrap="square" lIns="0" tIns="0" rIns="0" bIns="0" rtlCol="0" anchor="ctr"/>
          <a:lstStyle/>
          <a:p>
            <a:pPr marL="342900" indent="-342900">
              <a:spcAft>
                <a:spcPts val="500"/>
              </a:spcAft>
              <a:buSzPct val="100000"/>
              <a:buChar char="•"/>
            </a:pPr>
            <a:r>
              <a:rPr lang="en-US" sz="820" dirty="0">
                <a:solidFill>
                  <a:srgbClr val="1B2E4B"/>
                </a:solidFill>
              </a:rPr>
              <a:t>Deploy XRechnung / ZUGFeRD issuance capability</a:t>
            </a:r>
            <a:endParaRPr lang="en-US" sz="780" dirty="0"/>
          </a:p>
          <a:p>
            <a:pPr marL="342900" indent="-342900">
              <a:spcAft>
                <a:spcPts val="500"/>
              </a:spcAft>
              <a:buSzPct val="100000"/>
              <a:buChar char="•"/>
            </a:pPr>
            <a:r>
              <a:rPr lang="en-US" sz="820" dirty="0">
                <a:solidFill>
                  <a:srgbClr val="1B2E4B"/>
                </a:solidFill>
              </a:rPr>
              <a:t>Integrate VAT determination engine into order-to-invoice (O2I)</a:t>
            </a:r>
            <a:endParaRPr lang="en-US" sz="780" dirty="0"/>
          </a:p>
          <a:p>
            <a:pPr marL="342900" indent="-342900">
              <a:spcAft>
                <a:spcPts val="500"/>
              </a:spcAft>
              <a:buSzPct val="100000"/>
              <a:buChar char="•"/>
            </a:pPr>
            <a:r>
              <a:rPr lang="en-US" sz="820" dirty="0">
                <a:solidFill>
                  <a:srgbClr val="1B2E4B"/>
                </a:solidFill>
              </a:rPr>
              <a:t>Annual VAT health check aligned with Betriebsprüfung cycle</a:t>
            </a:r>
            <a:endParaRPr lang="en-US" sz="780" dirty="0"/>
          </a:p>
          <a:p>
            <a:pPr marL="342900" indent="-342900">
              <a:spcAft>
                <a:spcPts val="500"/>
              </a:spcAft>
              <a:buSzPct val="100000"/>
              <a:buChar char="•"/>
            </a:pPr>
            <a:r>
              <a:rPr lang="en-US" sz="820" dirty="0">
                <a:solidFill>
                  <a:srgbClr val="1B2E4B"/>
                </a:solidFill>
              </a:rPr>
              <a:t>Consider Anzahlungen (advance payments) for large machinery</a:t>
            </a:r>
            <a:endParaRPr lang="en-US" sz="7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2C4A6E"/>
          </a:solidFill>
          <a:ln w="12700">
            <a:solidFill>
              <a:srgbClr val="2C4A6E"/>
            </a:solidFill>
            <a:prstDash val="solid"/>
          </a:ln>
        </p:spPr>
        <p:txBody>
          <a:bodyPr/>
          <a:lstStyle/>
          <a:p>
            <a:endParaRPr lang="en-DE"/>
          </a:p>
        </p:txBody>
      </p:sp>
      <p:sp>
        <p:nvSpPr>
          <p:cNvPr id="3" name="Shape 1"/>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4" name="Text 2"/>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5" name="Text 3"/>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TECHNOLOGY</a:t>
            </a:r>
            <a:endParaRPr lang="en-US" sz="7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20 / 23</a:t>
            </a:r>
            <a:endParaRPr lang="en-US" sz="700" dirty="0"/>
          </a:p>
        </p:txBody>
      </p:sp>
      <p:sp>
        <p:nvSpPr>
          <p:cNvPr id="7" name="Text 5"/>
          <p:cNvSpPr/>
          <p:nvPr/>
        </p:nvSpPr>
        <p:spPr>
          <a:xfrm>
            <a:off x="411480" y="137160"/>
            <a:ext cx="6400800" cy="201168"/>
          </a:xfrm>
          <a:prstGeom prst="rect">
            <a:avLst/>
          </a:prstGeom>
          <a:noFill/>
          <a:ln/>
        </p:spPr>
        <p:txBody>
          <a:bodyPr wrap="square" lIns="0" tIns="0" rIns="0" bIns="0" rtlCol="0" anchor="ctr"/>
          <a:lstStyle/>
          <a:p>
            <a:pPr marL="0" indent="0">
              <a:buNone/>
            </a:pPr>
            <a:r>
              <a:rPr lang="en-US" sz="800" b="1" kern="0" spc="200" dirty="0">
                <a:solidFill>
                  <a:srgbClr val="2C4A6E"/>
                </a:solidFill>
              </a:rPr>
              <a:t>08 | Tax Technology Layer</a:t>
            </a:r>
            <a:endParaRPr lang="en-US" sz="800" dirty="0"/>
          </a:p>
        </p:txBody>
      </p:sp>
      <p:sp>
        <p:nvSpPr>
          <p:cNvPr id="8" name="Text 6"/>
          <p:cNvSpPr/>
          <p:nvPr/>
        </p:nvSpPr>
        <p:spPr>
          <a:xfrm>
            <a:off x="411480" y="338328"/>
            <a:ext cx="8046720" cy="502920"/>
          </a:xfrm>
          <a:prstGeom prst="rect">
            <a:avLst/>
          </a:prstGeom>
          <a:noFill/>
          <a:ln/>
        </p:spPr>
        <p:txBody>
          <a:bodyPr wrap="square" lIns="0" tIns="0" rIns="0" bIns="0" rtlCol="0" anchor="ctr"/>
          <a:lstStyle/>
          <a:p>
            <a:pPr marL="0" indent="0">
              <a:buNone/>
            </a:pPr>
            <a:r>
              <a:rPr lang="en-US" sz="2100" b="1" dirty="0">
                <a:solidFill>
                  <a:srgbClr val="0A1628"/>
                </a:solidFill>
              </a:rPr>
              <a:t>From Compliance Gaps to Digital Tax Infrastructure</a:t>
            </a:r>
            <a:endParaRPr lang="en-US" sz="2100" dirty="0"/>
          </a:p>
        </p:txBody>
      </p:sp>
      <p:sp>
        <p:nvSpPr>
          <p:cNvPr id="9" name="Shape 7"/>
          <p:cNvSpPr/>
          <p:nvPr/>
        </p:nvSpPr>
        <p:spPr>
          <a:xfrm>
            <a:off x="411480" y="914400"/>
            <a:ext cx="8503920" cy="0"/>
          </a:xfrm>
          <a:prstGeom prst="line">
            <a:avLst/>
          </a:prstGeom>
          <a:noFill/>
          <a:ln w="6350">
            <a:solidFill>
              <a:srgbClr val="CBD5E1"/>
            </a:solidFill>
            <a:prstDash val="solid"/>
          </a:ln>
        </p:spPr>
        <p:txBody>
          <a:bodyPr/>
          <a:lstStyle/>
          <a:p>
            <a:endParaRPr lang="en-DE"/>
          </a:p>
        </p:txBody>
      </p:sp>
      <p:sp>
        <p:nvSpPr>
          <p:cNvPr id="10" name="Shape 8"/>
          <p:cNvSpPr/>
          <p:nvPr/>
        </p:nvSpPr>
        <p:spPr>
          <a:xfrm>
            <a:off x="320040" y="987552"/>
            <a:ext cx="8595360" cy="292608"/>
          </a:xfrm>
          <a:prstGeom prst="rect">
            <a:avLst/>
          </a:prstGeom>
          <a:solidFill>
            <a:srgbClr val="0A1628"/>
          </a:solidFill>
          <a:ln w="12700">
            <a:solidFill>
              <a:srgbClr val="0A1628"/>
            </a:solidFill>
            <a:prstDash val="solid"/>
          </a:ln>
        </p:spPr>
        <p:txBody>
          <a:bodyPr/>
          <a:lstStyle/>
          <a:p>
            <a:endParaRPr lang="en-DE"/>
          </a:p>
        </p:txBody>
      </p:sp>
      <p:sp>
        <p:nvSpPr>
          <p:cNvPr id="11" name="Text 9"/>
          <p:cNvSpPr/>
          <p:nvPr/>
        </p:nvSpPr>
        <p:spPr>
          <a:xfrm>
            <a:off x="411480" y="1042416"/>
            <a:ext cx="1691640" cy="182880"/>
          </a:xfrm>
          <a:prstGeom prst="rect">
            <a:avLst/>
          </a:prstGeom>
          <a:noFill/>
          <a:ln/>
        </p:spPr>
        <p:txBody>
          <a:bodyPr wrap="square" lIns="0" tIns="0" rIns="0" bIns="0" rtlCol="0" anchor="ctr"/>
          <a:lstStyle/>
          <a:p>
            <a:pPr marL="0" indent="0" algn="l">
              <a:buNone/>
            </a:pPr>
            <a:r>
              <a:rPr lang="en-US" sz="850" b="1" dirty="0">
                <a:solidFill>
                  <a:srgbClr val="FFFFFF"/>
                </a:solidFill>
              </a:rPr>
              <a:t>Technology Layer</a:t>
            </a:r>
            <a:endParaRPr lang="en-US" sz="850" dirty="0"/>
          </a:p>
        </p:txBody>
      </p:sp>
      <p:sp>
        <p:nvSpPr>
          <p:cNvPr id="12" name="Text 10"/>
          <p:cNvSpPr/>
          <p:nvPr/>
        </p:nvSpPr>
        <p:spPr>
          <a:xfrm>
            <a:off x="2194560" y="1042416"/>
            <a:ext cx="3063240" cy="182880"/>
          </a:xfrm>
          <a:prstGeom prst="rect">
            <a:avLst/>
          </a:prstGeom>
          <a:noFill/>
          <a:ln/>
        </p:spPr>
        <p:txBody>
          <a:bodyPr wrap="square" lIns="0" tIns="0" rIns="0" bIns="0" rtlCol="0" anchor="ctr"/>
          <a:lstStyle/>
          <a:p>
            <a:pPr marL="0" indent="0" algn="l">
              <a:buNone/>
            </a:pPr>
            <a:r>
              <a:rPr lang="en-US" sz="850" b="1" dirty="0">
                <a:solidFill>
                  <a:srgbClr val="FFFFFF"/>
                </a:solidFill>
              </a:rPr>
              <a:t>Current State (Gap)</a:t>
            </a:r>
            <a:endParaRPr lang="en-US" sz="850" dirty="0"/>
          </a:p>
        </p:txBody>
      </p:sp>
      <p:sp>
        <p:nvSpPr>
          <p:cNvPr id="13" name="Text 11"/>
          <p:cNvSpPr/>
          <p:nvPr/>
        </p:nvSpPr>
        <p:spPr>
          <a:xfrm>
            <a:off x="5349240" y="1042416"/>
            <a:ext cx="2788920" cy="182880"/>
          </a:xfrm>
          <a:prstGeom prst="rect">
            <a:avLst/>
          </a:prstGeom>
          <a:noFill/>
          <a:ln/>
        </p:spPr>
        <p:txBody>
          <a:bodyPr wrap="square" lIns="0" tIns="0" rIns="0" bIns="0" rtlCol="0" anchor="ctr"/>
          <a:lstStyle/>
          <a:p>
            <a:pPr marL="0" indent="0" algn="l">
              <a:buNone/>
            </a:pPr>
            <a:r>
              <a:rPr lang="en-US" sz="850" b="1" dirty="0">
                <a:solidFill>
                  <a:srgbClr val="FFFFFF"/>
                </a:solidFill>
              </a:rPr>
              <a:t>Target State</a:t>
            </a:r>
            <a:endParaRPr lang="en-US" sz="850" dirty="0"/>
          </a:p>
        </p:txBody>
      </p:sp>
      <p:sp>
        <p:nvSpPr>
          <p:cNvPr id="14" name="Text 12"/>
          <p:cNvSpPr/>
          <p:nvPr/>
        </p:nvSpPr>
        <p:spPr>
          <a:xfrm>
            <a:off x="8229600" y="1042416"/>
            <a:ext cx="621792" cy="182880"/>
          </a:xfrm>
          <a:prstGeom prst="rect">
            <a:avLst/>
          </a:prstGeom>
          <a:noFill/>
          <a:ln/>
        </p:spPr>
        <p:txBody>
          <a:bodyPr wrap="square" lIns="0" tIns="0" rIns="0" bIns="0" rtlCol="0" anchor="ctr"/>
          <a:lstStyle/>
          <a:p>
            <a:pPr marL="0" indent="0" algn="ctr">
              <a:buNone/>
            </a:pPr>
            <a:r>
              <a:rPr lang="en-US" sz="850" b="1" dirty="0">
                <a:solidFill>
                  <a:srgbClr val="FFFFFF"/>
                </a:solidFill>
              </a:rPr>
              <a:t>Gap Level</a:t>
            </a:r>
            <a:endParaRPr lang="en-US" sz="850" dirty="0"/>
          </a:p>
        </p:txBody>
      </p:sp>
      <p:sp>
        <p:nvSpPr>
          <p:cNvPr id="15" name="Shape 13"/>
          <p:cNvSpPr/>
          <p:nvPr/>
        </p:nvSpPr>
        <p:spPr>
          <a:xfrm>
            <a:off x="320040" y="1298448"/>
            <a:ext cx="8595360" cy="530352"/>
          </a:xfrm>
          <a:prstGeom prst="rect">
            <a:avLst/>
          </a:prstGeom>
          <a:solidFill>
            <a:srgbClr val="FFFFFF"/>
          </a:solidFill>
          <a:ln w="3810">
            <a:solidFill>
              <a:srgbClr val="CBD5E1"/>
            </a:solidFill>
            <a:prstDash val="solid"/>
          </a:ln>
        </p:spPr>
        <p:txBody>
          <a:bodyPr/>
          <a:lstStyle/>
          <a:p>
            <a:endParaRPr lang="en-DE"/>
          </a:p>
        </p:txBody>
      </p:sp>
      <p:sp>
        <p:nvSpPr>
          <p:cNvPr id="16" name="Text 14"/>
          <p:cNvSpPr/>
          <p:nvPr/>
        </p:nvSpPr>
        <p:spPr>
          <a:xfrm>
            <a:off x="411480" y="1371600"/>
            <a:ext cx="1691640" cy="384048"/>
          </a:xfrm>
          <a:prstGeom prst="rect">
            <a:avLst/>
          </a:prstGeom>
          <a:noFill/>
          <a:ln/>
        </p:spPr>
        <p:txBody>
          <a:bodyPr wrap="square" lIns="0" tIns="0" rIns="0" bIns="0" rtlCol="0" anchor="ctr"/>
          <a:lstStyle/>
          <a:p>
            <a:pPr marL="0" indent="0">
              <a:buNone/>
            </a:pPr>
            <a:r>
              <a:rPr lang="en-US" sz="800" b="1" dirty="0">
                <a:solidFill>
                  <a:srgbClr val="0A1628"/>
                </a:solidFill>
              </a:rPr>
              <a:t>1. ERP Integration</a:t>
            </a:r>
            <a:endParaRPr lang="en-US" sz="800" dirty="0"/>
          </a:p>
        </p:txBody>
      </p:sp>
      <p:sp>
        <p:nvSpPr>
          <p:cNvPr id="17" name="Text 15"/>
          <p:cNvSpPr/>
          <p:nvPr/>
        </p:nvSpPr>
        <p:spPr>
          <a:xfrm>
            <a:off x="2212848" y="1353312"/>
            <a:ext cx="3017520" cy="420624"/>
          </a:xfrm>
          <a:prstGeom prst="rect">
            <a:avLst/>
          </a:prstGeom>
          <a:noFill/>
          <a:ln/>
        </p:spPr>
        <p:txBody>
          <a:bodyPr wrap="square" lIns="0" tIns="0" rIns="0" bIns="0" rtlCol="0" anchor="ctr"/>
          <a:lstStyle/>
          <a:p>
            <a:pPr marL="0" indent="0">
              <a:buNone/>
            </a:pPr>
            <a:r>
              <a:rPr lang="en-US" sz="780" dirty="0">
                <a:solidFill>
                  <a:srgbClr val="C0392B"/>
                </a:solidFill>
              </a:rPr>
              <a:t>Manual VAT code assignment per transaction. No automated tax determination engine.</a:t>
            </a:r>
            <a:endParaRPr lang="en-US" sz="780" dirty="0"/>
          </a:p>
        </p:txBody>
      </p:sp>
      <p:sp>
        <p:nvSpPr>
          <p:cNvPr id="18" name="Text 16"/>
          <p:cNvSpPr/>
          <p:nvPr/>
        </p:nvSpPr>
        <p:spPr>
          <a:xfrm>
            <a:off x="5376672" y="1353312"/>
            <a:ext cx="2697480" cy="420624"/>
          </a:xfrm>
          <a:prstGeom prst="rect">
            <a:avLst/>
          </a:prstGeom>
          <a:noFill/>
          <a:ln/>
        </p:spPr>
        <p:txBody>
          <a:bodyPr wrap="square" lIns="0" tIns="0" rIns="0" bIns="0" rtlCol="0" anchor="ctr"/>
          <a:lstStyle/>
          <a:p>
            <a:pPr marL="0" indent="0">
              <a:buNone/>
            </a:pPr>
            <a:r>
              <a:rPr lang="en-US" sz="780" dirty="0">
                <a:solidFill>
                  <a:srgbClr val="006B6B"/>
                </a:solidFill>
              </a:rPr>
              <a:t>Automated VAT determination engine (e.g. SAP Tax, Vertex, SOVOS) integrated with Order-to-Invoice (O2I) and Procure-to-Pay (P2P).</a:t>
            </a:r>
            <a:endParaRPr lang="en-US" sz="780" dirty="0"/>
          </a:p>
        </p:txBody>
      </p:sp>
      <p:sp>
        <p:nvSpPr>
          <p:cNvPr id="19" name="Shape 17"/>
          <p:cNvSpPr/>
          <p:nvPr/>
        </p:nvSpPr>
        <p:spPr>
          <a:xfrm>
            <a:off x="8275320" y="1426464"/>
            <a:ext cx="548640" cy="274320"/>
          </a:xfrm>
          <a:prstGeom prst="rect">
            <a:avLst/>
          </a:prstGeom>
          <a:solidFill>
            <a:srgbClr val="C0392B"/>
          </a:solidFill>
          <a:ln w="12700">
            <a:solidFill>
              <a:srgbClr val="C0392B"/>
            </a:solidFill>
            <a:prstDash val="solid"/>
          </a:ln>
        </p:spPr>
        <p:txBody>
          <a:bodyPr/>
          <a:lstStyle/>
          <a:p>
            <a:endParaRPr lang="en-DE"/>
          </a:p>
        </p:txBody>
      </p:sp>
      <p:sp>
        <p:nvSpPr>
          <p:cNvPr id="20" name="Text 18"/>
          <p:cNvSpPr/>
          <p:nvPr/>
        </p:nvSpPr>
        <p:spPr>
          <a:xfrm>
            <a:off x="8275320" y="1426464"/>
            <a:ext cx="548640" cy="274320"/>
          </a:xfrm>
          <a:prstGeom prst="rect">
            <a:avLst/>
          </a:prstGeom>
          <a:noFill/>
          <a:ln/>
        </p:spPr>
        <p:txBody>
          <a:bodyPr wrap="square" lIns="0" tIns="0" rIns="0" bIns="0" rtlCol="0" anchor="ctr"/>
          <a:lstStyle/>
          <a:p>
            <a:pPr marL="0" indent="0" algn="ctr">
              <a:buNone/>
            </a:pPr>
            <a:r>
              <a:rPr lang="en-US" sz="700" b="1" dirty="0">
                <a:solidFill>
                  <a:srgbClr val="FFFFFF"/>
                </a:solidFill>
              </a:rPr>
              <a:t>HIGH</a:t>
            </a:r>
            <a:endParaRPr lang="en-US" sz="700" dirty="0"/>
          </a:p>
        </p:txBody>
      </p:sp>
      <p:sp>
        <p:nvSpPr>
          <p:cNvPr id="21" name="Shape 19"/>
          <p:cNvSpPr/>
          <p:nvPr/>
        </p:nvSpPr>
        <p:spPr>
          <a:xfrm>
            <a:off x="320040" y="1865376"/>
            <a:ext cx="8595360" cy="530352"/>
          </a:xfrm>
          <a:prstGeom prst="rect">
            <a:avLst/>
          </a:prstGeom>
          <a:solidFill>
            <a:srgbClr val="F7F9FC"/>
          </a:solidFill>
          <a:ln w="3810">
            <a:solidFill>
              <a:srgbClr val="CBD5E1"/>
            </a:solidFill>
            <a:prstDash val="solid"/>
          </a:ln>
        </p:spPr>
        <p:txBody>
          <a:bodyPr/>
          <a:lstStyle/>
          <a:p>
            <a:endParaRPr lang="en-DE"/>
          </a:p>
        </p:txBody>
      </p:sp>
      <p:sp>
        <p:nvSpPr>
          <p:cNvPr id="22" name="Text 20"/>
          <p:cNvSpPr/>
          <p:nvPr/>
        </p:nvSpPr>
        <p:spPr>
          <a:xfrm>
            <a:off x="411480" y="1938528"/>
            <a:ext cx="1691640" cy="384048"/>
          </a:xfrm>
          <a:prstGeom prst="rect">
            <a:avLst/>
          </a:prstGeom>
          <a:noFill/>
          <a:ln/>
        </p:spPr>
        <p:txBody>
          <a:bodyPr wrap="square" lIns="0" tIns="0" rIns="0" bIns="0" rtlCol="0" anchor="ctr"/>
          <a:lstStyle/>
          <a:p>
            <a:pPr marL="0" indent="0">
              <a:buNone/>
            </a:pPr>
            <a:r>
              <a:rPr lang="en-US" sz="800" b="1" dirty="0">
                <a:solidFill>
                  <a:srgbClr val="0A1628"/>
                </a:solidFill>
              </a:rPr>
              <a:t>2. E-Invoicing (XRechnung / ZUGFeRD)</a:t>
            </a:r>
            <a:endParaRPr lang="en-US" sz="800" dirty="0"/>
          </a:p>
        </p:txBody>
      </p:sp>
      <p:sp>
        <p:nvSpPr>
          <p:cNvPr id="23" name="Text 21"/>
          <p:cNvSpPr/>
          <p:nvPr/>
        </p:nvSpPr>
        <p:spPr>
          <a:xfrm>
            <a:off x="2212848" y="1920240"/>
            <a:ext cx="3017520" cy="420624"/>
          </a:xfrm>
          <a:prstGeom prst="rect">
            <a:avLst/>
          </a:prstGeom>
          <a:noFill/>
          <a:ln/>
        </p:spPr>
        <p:txBody>
          <a:bodyPr wrap="square" lIns="0" tIns="0" rIns="0" bIns="0" rtlCol="0" anchor="ctr"/>
          <a:lstStyle/>
          <a:p>
            <a:pPr marL="0" indent="0">
              <a:buNone/>
            </a:pPr>
            <a:r>
              <a:rPr lang="en-US" sz="780" dirty="0">
                <a:solidFill>
                  <a:srgbClr val="C0392B"/>
                </a:solidFill>
              </a:rPr>
              <a:t>Paper / plain PDF invoices only. No structured electronic invoice (E-Rechnung) capability. Non-compliant since 01.01.2025.</a:t>
            </a:r>
            <a:endParaRPr lang="en-US" sz="780" dirty="0"/>
          </a:p>
        </p:txBody>
      </p:sp>
      <p:sp>
        <p:nvSpPr>
          <p:cNvPr id="24" name="Text 22"/>
          <p:cNvSpPr/>
          <p:nvPr/>
        </p:nvSpPr>
        <p:spPr>
          <a:xfrm>
            <a:off x="5376672" y="1920240"/>
            <a:ext cx="2697480" cy="420624"/>
          </a:xfrm>
          <a:prstGeom prst="rect">
            <a:avLst/>
          </a:prstGeom>
          <a:noFill/>
          <a:ln/>
        </p:spPr>
        <p:txBody>
          <a:bodyPr wrap="square" lIns="0" tIns="0" rIns="0" bIns="0" rtlCol="0" anchor="ctr"/>
          <a:lstStyle/>
          <a:p>
            <a:pPr marL="0" indent="0">
              <a:buNone/>
            </a:pPr>
            <a:r>
              <a:rPr lang="en-US" sz="780" dirty="0">
                <a:solidFill>
                  <a:srgbClr val="006B6B"/>
                </a:solidFill>
              </a:rPr>
              <a:t>XRechnung (XML) and ZUGFeRD generation and receipt. Compliant with European Standard EN 16931. Mandatory from 01.01.2027.</a:t>
            </a:r>
            <a:endParaRPr lang="en-US" sz="780" dirty="0"/>
          </a:p>
        </p:txBody>
      </p:sp>
      <p:sp>
        <p:nvSpPr>
          <p:cNvPr id="25" name="Shape 23"/>
          <p:cNvSpPr/>
          <p:nvPr/>
        </p:nvSpPr>
        <p:spPr>
          <a:xfrm>
            <a:off x="8275320" y="1993392"/>
            <a:ext cx="548640" cy="274320"/>
          </a:xfrm>
          <a:prstGeom prst="rect">
            <a:avLst/>
          </a:prstGeom>
          <a:solidFill>
            <a:srgbClr val="C0392B"/>
          </a:solidFill>
          <a:ln w="12700">
            <a:solidFill>
              <a:srgbClr val="C0392B"/>
            </a:solidFill>
            <a:prstDash val="solid"/>
          </a:ln>
        </p:spPr>
        <p:txBody>
          <a:bodyPr/>
          <a:lstStyle/>
          <a:p>
            <a:endParaRPr lang="en-DE"/>
          </a:p>
        </p:txBody>
      </p:sp>
      <p:sp>
        <p:nvSpPr>
          <p:cNvPr id="26" name="Text 24"/>
          <p:cNvSpPr/>
          <p:nvPr/>
        </p:nvSpPr>
        <p:spPr>
          <a:xfrm>
            <a:off x="8275320" y="1993392"/>
            <a:ext cx="548640" cy="274320"/>
          </a:xfrm>
          <a:prstGeom prst="rect">
            <a:avLst/>
          </a:prstGeom>
          <a:noFill/>
          <a:ln/>
        </p:spPr>
        <p:txBody>
          <a:bodyPr wrap="square" lIns="0" tIns="0" rIns="0" bIns="0" rtlCol="0" anchor="ctr"/>
          <a:lstStyle/>
          <a:p>
            <a:pPr marL="0" indent="0" algn="ctr">
              <a:buNone/>
            </a:pPr>
            <a:r>
              <a:rPr lang="en-US" sz="700" b="1" dirty="0">
                <a:solidFill>
                  <a:srgbClr val="FFFFFF"/>
                </a:solidFill>
              </a:rPr>
              <a:t>HIGH</a:t>
            </a:r>
            <a:endParaRPr lang="en-US" sz="700" dirty="0"/>
          </a:p>
        </p:txBody>
      </p:sp>
      <p:sp>
        <p:nvSpPr>
          <p:cNvPr id="27" name="Shape 25"/>
          <p:cNvSpPr/>
          <p:nvPr/>
        </p:nvSpPr>
        <p:spPr>
          <a:xfrm>
            <a:off x="320040" y="2432304"/>
            <a:ext cx="8595360" cy="530352"/>
          </a:xfrm>
          <a:prstGeom prst="rect">
            <a:avLst/>
          </a:prstGeom>
          <a:solidFill>
            <a:srgbClr val="FFFFFF"/>
          </a:solidFill>
          <a:ln w="3810">
            <a:solidFill>
              <a:srgbClr val="CBD5E1"/>
            </a:solidFill>
            <a:prstDash val="solid"/>
          </a:ln>
        </p:spPr>
        <p:txBody>
          <a:bodyPr/>
          <a:lstStyle/>
          <a:p>
            <a:endParaRPr lang="en-DE"/>
          </a:p>
        </p:txBody>
      </p:sp>
      <p:sp>
        <p:nvSpPr>
          <p:cNvPr id="28" name="Text 26"/>
          <p:cNvSpPr/>
          <p:nvPr/>
        </p:nvSpPr>
        <p:spPr>
          <a:xfrm>
            <a:off x="411480" y="2505456"/>
            <a:ext cx="1691640" cy="384048"/>
          </a:xfrm>
          <a:prstGeom prst="rect">
            <a:avLst/>
          </a:prstGeom>
          <a:noFill/>
          <a:ln/>
        </p:spPr>
        <p:txBody>
          <a:bodyPr wrap="square" lIns="0" tIns="0" rIns="0" bIns="0" rtlCol="0" anchor="ctr"/>
          <a:lstStyle/>
          <a:p>
            <a:pPr marL="0" indent="0">
              <a:buNone/>
            </a:pPr>
            <a:r>
              <a:rPr lang="en-US" sz="800" b="1" dirty="0">
                <a:solidFill>
                  <a:srgbClr val="0A1628"/>
                </a:solidFill>
              </a:rPr>
              <a:t>3. VIES VAT-ID Validation</a:t>
            </a:r>
            <a:endParaRPr lang="en-US" sz="800" dirty="0"/>
          </a:p>
        </p:txBody>
      </p:sp>
      <p:sp>
        <p:nvSpPr>
          <p:cNvPr id="29" name="Text 27"/>
          <p:cNvSpPr/>
          <p:nvPr/>
        </p:nvSpPr>
        <p:spPr>
          <a:xfrm>
            <a:off x="2212848" y="2487168"/>
            <a:ext cx="3017520" cy="420624"/>
          </a:xfrm>
          <a:prstGeom prst="rect">
            <a:avLst/>
          </a:prstGeom>
          <a:noFill/>
          <a:ln/>
        </p:spPr>
        <p:txBody>
          <a:bodyPr wrap="square" lIns="0" tIns="0" rIns="0" bIns="0" rtlCol="0" anchor="ctr"/>
          <a:lstStyle/>
          <a:p>
            <a:pPr marL="0" indent="0">
              <a:buNone/>
            </a:pPr>
            <a:r>
              <a:rPr lang="en-US" sz="780" dirty="0">
                <a:solidFill>
                  <a:srgbClr val="C0392B"/>
                </a:solidFill>
              </a:rPr>
              <a:t>Manual or ad-hoc VIES checks. No automated VAT Identification Number (USt-IdNr.) validation workflow.</a:t>
            </a:r>
            <a:endParaRPr lang="en-US" sz="780" dirty="0"/>
          </a:p>
        </p:txBody>
      </p:sp>
      <p:sp>
        <p:nvSpPr>
          <p:cNvPr id="30" name="Text 28"/>
          <p:cNvSpPr/>
          <p:nvPr/>
        </p:nvSpPr>
        <p:spPr>
          <a:xfrm>
            <a:off x="5376672" y="2487168"/>
            <a:ext cx="2697480" cy="420624"/>
          </a:xfrm>
          <a:prstGeom prst="rect">
            <a:avLst/>
          </a:prstGeom>
          <a:noFill/>
          <a:ln/>
        </p:spPr>
        <p:txBody>
          <a:bodyPr wrap="square" lIns="0" tIns="0" rIns="0" bIns="0" rtlCol="0" anchor="ctr"/>
          <a:lstStyle/>
          <a:p>
            <a:pPr marL="0" indent="0">
              <a:buNone/>
            </a:pPr>
            <a:r>
              <a:rPr lang="en-US" sz="780" dirty="0">
                <a:solidFill>
                  <a:srgbClr val="006B6B"/>
                </a:solidFill>
              </a:rPr>
              <a:t>Real-time VIES (VAT Information Exchange System) API integration. Alert on invalid or expired customer USt-IdNr.</a:t>
            </a:r>
            <a:endParaRPr lang="en-US" sz="780" dirty="0"/>
          </a:p>
        </p:txBody>
      </p:sp>
      <p:sp>
        <p:nvSpPr>
          <p:cNvPr id="31" name="Shape 29"/>
          <p:cNvSpPr/>
          <p:nvPr/>
        </p:nvSpPr>
        <p:spPr>
          <a:xfrm>
            <a:off x="8275320" y="2560320"/>
            <a:ext cx="548640" cy="274320"/>
          </a:xfrm>
          <a:prstGeom prst="rect">
            <a:avLst/>
          </a:prstGeom>
          <a:solidFill>
            <a:srgbClr val="D97706"/>
          </a:solidFill>
          <a:ln w="12700">
            <a:solidFill>
              <a:srgbClr val="D97706"/>
            </a:solidFill>
            <a:prstDash val="solid"/>
          </a:ln>
        </p:spPr>
        <p:txBody>
          <a:bodyPr/>
          <a:lstStyle/>
          <a:p>
            <a:endParaRPr lang="en-DE"/>
          </a:p>
        </p:txBody>
      </p:sp>
      <p:sp>
        <p:nvSpPr>
          <p:cNvPr id="32" name="Text 30"/>
          <p:cNvSpPr/>
          <p:nvPr/>
        </p:nvSpPr>
        <p:spPr>
          <a:xfrm>
            <a:off x="8275320" y="2560320"/>
            <a:ext cx="548640" cy="274320"/>
          </a:xfrm>
          <a:prstGeom prst="rect">
            <a:avLst/>
          </a:prstGeom>
          <a:noFill/>
          <a:ln/>
        </p:spPr>
        <p:txBody>
          <a:bodyPr wrap="square" lIns="0" tIns="0" rIns="0" bIns="0" rtlCol="0" anchor="ctr"/>
          <a:lstStyle/>
          <a:p>
            <a:pPr marL="0" indent="0" algn="ctr">
              <a:buNone/>
            </a:pPr>
            <a:r>
              <a:rPr lang="en-US" sz="700" b="1" dirty="0">
                <a:solidFill>
                  <a:srgbClr val="FFFFFF"/>
                </a:solidFill>
              </a:rPr>
              <a:t>MEDIUM</a:t>
            </a:r>
            <a:endParaRPr lang="en-US" sz="700" dirty="0"/>
          </a:p>
        </p:txBody>
      </p:sp>
      <p:sp>
        <p:nvSpPr>
          <p:cNvPr id="33" name="Shape 31"/>
          <p:cNvSpPr/>
          <p:nvPr/>
        </p:nvSpPr>
        <p:spPr>
          <a:xfrm>
            <a:off x="320040" y="2999232"/>
            <a:ext cx="8595360" cy="530352"/>
          </a:xfrm>
          <a:prstGeom prst="rect">
            <a:avLst/>
          </a:prstGeom>
          <a:solidFill>
            <a:srgbClr val="F7F9FC"/>
          </a:solidFill>
          <a:ln w="3810">
            <a:solidFill>
              <a:srgbClr val="CBD5E1"/>
            </a:solidFill>
            <a:prstDash val="solid"/>
          </a:ln>
        </p:spPr>
        <p:txBody>
          <a:bodyPr/>
          <a:lstStyle/>
          <a:p>
            <a:endParaRPr lang="en-DE"/>
          </a:p>
        </p:txBody>
      </p:sp>
      <p:sp>
        <p:nvSpPr>
          <p:cNvPr id="34" name="Text 32"/>
          <p:cNvSpPr/>
          <p:nvPr/>
        </p:nvSpPr>
        <p:spPr>
          <a:xfrm>
            <a:off x="411480" y="3072384"/>
            <a:ext cx="1691640" cy="384048"/>
          </a:xfrm>
          <a:prstGeom prst="rect">
            <a:avLst/>
          </a:prstGeom>
          <a:noFill/>
          <a:ln/>
        </p:spPr>
        <p:txBody>
          <a:bodyPr wrap="square" lIns="0" tIns="0" rIns="0" bIns="0" rtlCol="0" anchor="ctr"/>
          <a:lstStyle/>
          <a:p>
            <a:pPr marL="0" indent="0">
              <a:buNone/>
            </a:pPr>
            <a:r>
              <a:rPr lang="en-US" sz="800" b="1" dirty="0">
                <a:solidFill>
                  <a:srgbClr val="0A1628"/>
                </a:solidFill>
              </a:rPr>
              <a:t>4. ZM / Intrastat Reporting</a:t>
            </a:r>
            <a:endParaRPr lang="en-US" sz="800" dirty="0"/>
          </a:p>
        </p:txBody>
      </p:sp>
      <p:sp>
        <p:nvSpPr>
          <p:cNvPr id="35" name="Text 33"/>
          <p:cNvSpPr/>
          <p:nvPr/>
        </p:nvSpPr>
        <p:spPr>
          <a:xfrm>
            <a:off x="2212848" y="3054096"/>
            <a:ext cx="3017520" cy="420624"/>
          </a:xfrm>
          <a:prstGeom prst="rect">
            <a:avLst/>
          </a:prstGeom>
          <a:noFill/>
          <a:ln/>
        </p:spPr>
        <p:txBody>
          <a:bodyPr wrap="square" lIns="0" tIns="0" rIns="0" bIns="0" rtlCol="0" anchor="ctr"/>
          <a:lstStyle/>
          <a:p>
            <a:pPr marL="0" indent="0">
              <a:buNone/>
            </a:pPr>
            <a:r>
              <a:rPr lang="en-US" sz="780" dirty="0">
                <a:solidFill>
                  <a:srgbClr val="C0392B"/>
                </a:solidFill>
              </a:rPr>
              <a:t>Manual compilation of Zusammenfassende Meldung (ZM) and Intrahandelsstatistik (Intrastat). Risk of errors and omissions.</a:t>
            </a:r>
            <a:endParaRPr lang="en-US" sz="780" dirty="0"/>
          </a:p>
        </p:txBody>
      </p:sp>
      <p:sp>
        <p:nvSpPr>
          <p:cNvPr id="36" name="Text 34"/>
          <p:cNvSpPr/>
          <p:nvPr/>
        </p:nvSpPr>
        <p:spPr>
          <a:xfrm>
            <a:off x="5376672" y="3054096"/>
            <a:ext cx="2697480" cy="420624"/>
          </a:xfrm>
          <a:prstGeom prst="rect">
            <a:avLst/>
          </a:prstGeom>
          <a:noFill/>
          <a:ln/>
        </p:spPr>
        <p:txBody>
          <a:bodyPr wrap="square" lIns="0" tIns="0" rIns="0" bIns="0" rtlCol="0" anchor="ctr"/>
          <a:lstStyle/>
          <a:p>
            <a:pPr marL="0" indent="0">
              <a:buNone/>
            </a:pPr>
            <a:r>
              <a:rPr lang="en-US" sz="780" dirty="0">
                <a:solidFill>
                  <a:srgbClr val="006B6B"/>
                </a:solidFill>
              </a:rPr>
              <a:t>Automated ZM and Intrastat reporting from ERP transaction data. Reconciliation with accounting (Finanzbuchhaltung / FiBu).</a:t>
            </a:r>
            <a:endParaRPr lang="en-US" sz="780" dirty="0"/>
          </a:p>
        </p:txBody>
      </p:sp>
      <p:sp>
        <p:nvSpPr>
          <p:cNvPr id="37" name="Shape 35"/>
          <p:cNvSpPr/>
          <p:nvPr/>
        </p:nvSpPr>
        <p:spPr>
          <a:xfrm>
            <a:off x="8275320" y="3127248"/>
            <a:ext cx="548640" cy="274320"/>
          </a:xfrm>
          <a:prstGeom prst="rect">
            <a:avLst/>
          </a:prstGeom>
          <a:solidFill>
            <a:srgbClr val="D97706"/>
          </a:solidFill>
          <a:ln w="12700">
            <a:solidFill>
              <a:srgbClr val="D97706"/>
            </a:solidFill>
            <a:prstDash val="solid"/>
          </a:ln>
        </p:spPr>
        <p:txBody>
          <a:bodyPr/>
          <a:lstStyle/>
          <a:p>
            <a:endParaRPr lang="en-DE"/>
          </a:p>
        </p:txBody>
      </p:sp>
      <p:sp>
        <p:nvSpPr>
          <p:cNvPr id="38" name="Text 36"/>
          <p:cNvSpPr/>
          <p:nvPr/>
        </p:nvSpPr>
        <p:spPr>
          <a:xfrm>
            <a:off x="8275320" y="3127248"/>
            <a:ext cx="548640" cy="274320"/>
          </a:xfrm>
          <a:prstGeom prst="rect">
            <a:avLst/>
          </a:prstGeom>
          <a:noFill/>
          <a:ln/>
        </p:spPr>
        <p:txBody>
          <a:bodyPr wrap="square" lIns="0" tIns="0" rIns="0" bIns="0" rtlCol="0" anchor="ctr"/>
          <a:lstStyle/>
          <a:p>
            <a:pPr marL="0" indent="0" algn="ctr">
              <a:buNone/>
            </a:pPr>
            <a:r>
              <a:rPr lang="en-US" sz="700" b="1" dirty="0">
                <a:solidFill>
                  <a:srgbClr val="FFFFFF"/>
                </a:solidFill>
              </a:rPr>
              <a:t>MEDIUM</a:t>
            </a:r>
            <a:endParaRPr lang="en-US" sz="700" dirty="0"/>
          </a:p>
        </p:txBody>
      </p:sp>
      <p:sp>
        <p:nvSpPr>
          <p:cNvPr id="39" name="Shape 37"/>
          <p:cNvSpPr/>
          <p:nvPr/>
        </p:nvSpPr>
        <p:spPr>
          <a:xfrm>
            <a:off x="320040" y="3566160"/>
            <a:ext cx="8595360" cy="530352"/>
          </a:xfrm>
          <a:prstGeom prst="rect">
            <a:avLst/>
          </a:prstGeom>
          <a:solidFill>
            <a:srgbClr val="FFFFFF"/>
          </a:solidFill>
          <a:ln w="3810">
            <a:solidFill>
              <a:srgbClr val="CBD5E1"/>
            </a:solidFill>
            <a:prstDash val="solid"/>
          </a:ln>
        </p:spPr>
        <p:txBody>
          <a:bodyPr/>
          <a:lstStyle/>
          <a:p>
            <a:endParaRPr lang="en-DE"/>
          </a:p>
        </p:txBody>
      </p:sp>
      <p:sp>
        <p:nvSpPr>
          <p:cNvPr id="40" name="Text 38"/>
          <p:cNvSpPr/>
          <p:nvPr/>
        </p:nvSpPr>
        <p:spPr>
          <a:xfrm>
            <a:off x="411480" y="3639312"/>
            <a:ext cx="1691640" cy="384048"/>
          </a:xfrm>
          <a:prstGeom prst="rect">
            <a:avLst/>
          </a:prstGeom>
          <a:noFill/>
          <a:ln/>
        </p:spPr>
        <p:txBody>
          <a:bodyPr wrap="square" lIns="0" tIns="0" rIns="0" bIns="0" rtlCol="0" anchor="ctr"/>
          <a:lstStyle/>
          <a:p>
            <a:pPr marL="0" indent="0">
              <a:buNone/>
            </a:pPr>
            <a:r>
              <a:rPr lang="en-US" sz="800" b="1" dirty="0">
                <a:solidFill>
                  <a:srgbClr val="0A1628"/>
                </a:solidFill>
              </a:rPr>
              <a:t>5. VAT Compliance Calendar</a:t>
            </a:r>
            <a:endParaRPr lang="en-US" sz="800" dirty="0"/>
          </a:p>
        </p:txBody>
      </p:sp>
      <p:sp>
        <p:nvSpPr>
          <p:cNvPr id="41" name="Text 39"/>
          <p:cNvSpPr/>
          <p:nvPr/>
        </p:nvSpPr>
        <p:spPr>
          <a:xfrm>
            <a:off x="2212848" y="3621024"/>
            <a:ext cx="3017520" cy="420624"/>
          </a:xfrm>
          <a:prstGeom prst="rect">
            <a:avLst/>
          </a:prstGeom>
          <a:noFill/>
          <a:ln/>
        </p:spPr>
        <p:txBody>
          <a:bodyPr wrap="square" lIns="0" tIns="0" rIns="0" bIns="0" rtlCol="0" anchor="ctr"/>
          <a:lstStyle/>
          <a:p>
            <a:pPr marL="0" indent="0">
              <a:buNone/>
            </a:pPr>
            <a:r>
              <a:rPr lang="en-US" sz="780" dirty="0">
                <a:solidFill>
                  <a:srgbClr val="C0392B"/>
                </a:solidFill>
              </a:rPr>
              <a:t>No formal Steuerkalender in place. Evidenced by 9-month late filing of 2024 Umsatzsteuerjahreserklärung.</a:t>
            </a:r>
            <a:endParaRPr lang="en-US" sz="780" dirty="0"/>
          </a:p>
        </p:txBody>
      </p:sp>
      <p:sp>
        <p:nvSpPr>
          <p:cNvPr id="42" name="Text 40"/>
          <p:cNvSpPr/>
          <p:nvPr/>
        </p:nvSpPr>
        <p:spPr>
          <a:xfrm>
            <a:off x="5376672" y="3621024"/>
            <a:ext cx="2697480" cy="420624"/>
          </a:xfrm>
          <a:prstGeom prst="rect">
            <a:avLst/>
          </a:prstGeom>
          <a:noFill/>
          <a:ln/>
        </p:spPr>
        <p:txBody>
          <a:bodyPr wrap="square" lIns="0" tIns="0" rIns="0" bIns="0" rtlCol="0" anchor="ctr"/>
          <a:lstStyle/>
          <a:p>
            <a:pPr marL="0" indent="0">
              <a:buNone/>
            </a:pPr>
            <a:r>
              <a:rPr lang="en-US" sz="780" dirty="0">
                <a:solidFill>
                  <a:srgbClr val="006B6B"/>
                </a:solidFill>
              </a:rPr>
              <a:t>Automated Steuerkalender with alerts, responsible-party assignment and escalation workflows for all AO deadlines.</a:t>
            </a:r>
            <a:endParaRPr lang="en-US" sz="780" dirty="0"/>
          </a:p>
        </p:txBody>
      </p:sp>
      <p:sp>
        <p:nvSpPr>
          <p:cNvPr id="43" name="Shape 41"/>
          <p:cNvSpPr/>
          <p:nvPr/>
        </p:nvSpPr>
        <p:spPr>
          <a:xfrm>
            <a:off x="8275320" y="3694176"/>
            <a:ext cx="548640" cy="274320"/>
          </a:xfrm>
          <a:prstGeom prst="rect">
            <a:avLst/>
          </a:prstGeom>
          <a:solidFill>
            <a:srgbClr val="C0392B"/>
          </a:solidFill>
          <a:ln w="12700">
            <a:solidFill>
              <a:srgbClr val="C0392B"/>
            </a:solidFill>
            <a:prstDash val="solid"/>
          </a:ln>
        </p:spPr>
        <p:txBody>
          <a:bodyPr/>
          <a:lstStyle/>
          <a:p>
            <a:endParaRPr lang="en-DE"/>
          </a:p>
        </p:txBody>
      </p:sp>
      <p:sp>
        <p:nvSpPr>
          <p:cNvPr id="44" name="Text 42"/>
          <p:cNvSpPr/>
          <p:nvPr/>
        </p:nvSpPr>
        <p:spPr>
          <a:xfrm>
            <a:off x="8275320" y="3694176"/>
            <a:ext cx="548640" cy="274320"/>
          </a:xfrm>
          <a:prstGeom prst="rect">
            <a:avLst/>
          </a:prstGeom>
          <a:noFill/>
          <a:ln/>
        </p:spPr>
        <p:txBody>
          <a:bodyPr wrap="square" lIns="0" tIns="0" rIns="0" bIns="0" rtlCol="0" anchor="ctr"/>
          <a:lstStyle/>
          <a:p>
            <a:pPr marL="0" indent="0" algn="ctr">
              <a:buNone/>
            </a:pPr>
            <a:r>
              <a:rPr lang="en-US" sz="700" b="1" dirty="0">
                <a:solidFill>
                  <a:srgbClr val="FFFFFF"/>
                </a:solidFill>
              </a:rPr>
              <a:t>HIGH</a:t>
            </a:r>
            <a:endParaRPr lang="en-US" sz="700" dirty="0"/>
          </a:p>
        </p:txBody>
      </p:sp>
      <p:sp>
        <p:nvSpPr>
          <p:cNvPr id="45" name="Shape 43"/>
          <p:cNvSpPr/>
          <p:nvPr/>
        </p:nvSpPr>
        <p:spPr>
          <a:xfrm>
            <a:off x="320040" y="4133088"/>
            <a:ext cx="8595360" cy="530352"/>
          </a:xfrm>
          <a:prstGeom prst="rect">
            <a:avLst/>
          </a:prstGeom>
          <a:solidFill>
            <a:srgbClr val="F7F9FC"/>
          </a:solidFill>
          <a:ln w="3810">
            <a:solidFill>
              <a:srgbClr val="CBD5E1"/>
            </a:solidFill>
            <a:prstDash val="solid"/>
          </a:ln>
        </p:spPr>
        <p:txBody>
          <a:bodyPr/>
          <a:lstStyle/>
          <a:p>
            <a:endParaRPr lang="en-DE"/>
          </a:p>
        </p:txBody>
      </p:sp>
      <p:sp>
        <p:nvSpPr>
          <p:cNvPr id="46" name="Text 44"/>
          <p:cNvSpPr/>
          <p:nvPr/>
        </p:nvSpPr>
        <p:spPr>
          <a:xfrm>
            <a:off x="411480" y="4206240"/>
            <a:ext cx="1691640" cy="384048"/>
          </a:xfrm>
          <a:prstGeom prst="rect">
            <a:avLst/>
          </a:prstGeom>
          <a:noFill/>
          <a:ln/>
        </p:spPr>
        <p:txBody>
          <a:bodyPr wrap="square" lIns="0" tIns="0" rIns="0" bIns="0" rtlCol="0" anchor="ctr"/>
          <a:lstStyle/>
          <a:p>
            <a:pPr marL="0" indent="0">
              <a:buNone/>
            </a:pPr>
            <a:r>
              <a:rPr lang="en-US" sz="800" b="1" dirty="0">
                <a:solidFill>
                  <a:srgbClr val="0A1628"/>
                </a:solidFill>
              </a:rPr>
              <a:t>6. Audit Trail &amp; Document Mgmt</a:t>
            </a:r>
            <a:endParaRPr lang="en-US" sz="800" dirty="0"/>
          </a:p>
        </p:txBody>
      </p:sp>
      <p:sp>
        <p:nvSpPr>
          <p:cNvPr id="47" name="Text 45"/>
          <p:cNvSpPr/>
          <p:nvPr/>
        </p:nvSpPr>
        <p:spPr>
          <a:xfrm>
            <a:off x="2212848" y="4187952"/>
            <a:ext cx="3017520" cy="420624"/>
          </a:xfrm>
          <a:prstGeom prst="rect">
            <a:avLst/>
          </a:prstGeom>
          <a:noFill/>
          <a:ln/>
        </p:spPr>
        <p:txBody>
          <a:bodyPr wrap="square" lIns="0" tIns="0" rIns="0" bIns="0" rtlCol="0" anchor="ctr"/>
          <a:lstStyle/>
          <a:p>
            <a:pPr marL="0" indent="0">
              <a:buNone/>
            </a:pPr>
            <a:r>
              <a:rPr lang="en-US" sz="780" dirty="0">
                <a:solidFill>
                  <a:srgbClr val="C0392B"/>
                </a:solidFill>
              </a:rPr>
              <a:t>Physical and scattered digital records. No centralised Document Management System (DMS).</a:t>
            </a:r>
            <a:endParaRPr lang="en-US" sz="780" dirty="0"/>
          </a:p>
        </p:txBody>
      </p:sp>
      <p:sp>
        <p:nvSpPr>
          <p:cNvPr id="48" name="Text 46"/>
          <p:cNvSpPr/>
          <p:nvPr/>
        </p:nvSpPr>
        <p:spPr>
          <a:xfrm>
            <a:off x="5376672" y="4187952"/>
            <a:ext cx="2697480" cy="420624"/>
          </a:xfrm>
          <a:prstGeom prst="rect">
            <a:avLst/>
          </a:prstGeom>
          <a:noFill/>
          <a:ln/>
        </p:spPr>
        <p:txBody>
          <a:bodyPr wrap="square" lIns="0" tIns="0" rIns="0" bIns="0" rtlCol="0" anchor="ctr"/>
          <a:lstStyle/>
          <a:p>
            <a:pPr marL="0" indent="0">
              <a:buNone/>
            </a:pPr>
            <a:r>
              <a:rPr lang="en-US" sz="780" dirty="0">
                <a:solidFill>
                  <a:srgbClr val="006B6B"/>
                </a:solidFill>
              </a:rPr>
              <a:t>Digital audit trail: CMR waybills, Einfuhrabgabenbescheid, customs docs, transfer docs - centralised, searchable, timestamped.</a:t>
            </a:r>
            <a:endParaRPr lang="en-US" sz="780" dirty="0"/>
          </a:p>
        </p:txBody>
      </p:sp>
      <p:sp>
        <p:nvSpPr>
          <p:cNvPr id="49" name="Shape 47"/>
          <p:cNvSpPr/>
          <p:nvPr/>
        </p:nvSpPr>
        <p:spPr>
          <a:xfrm>
            <a:off x="8275320" y="4261104"/>
            <a:ext cx="548640" cy="274320"/>
          </a:xfrm>
          <a:prstGeom prst="rect">
            <a:avLst/>
          </a:prstGeom>
          <a:solidFill>
            <a:srgbClr val="D97706"/>
          </a:solidFill>
          <a:ln w="12700">
            <a:solidFill>
              <a:srgbClr val="D97706"/>
            </a:solidFill>
            <a:prstDash val="solid"/>
          </a:ln>
        </p:spPr>
        <p:txBody>
          <a:bodyPr/>
          <a:lstStyle/>
          <a:p>
            <a:endParaRPr lang="en-DE"/>
          </a:p>
        </p:txBody>
      </p:sp>
      <p:sp>
        <p:nvSpPr>
          <p:cNvPr id="50" name="Text 48"/>
          <p:cNvSpPr/>
          <p:nvPr/>
        </p:nvSpPr>
        <p:spPr>
          <a:xfrm>
            <a:off x="8275320" y="4261104"/>
            <a:ext cx="548640" cy="274320"/>
          </a:xfrm>
          <a:prstGeom prst="rect">
            <a:avLst/>
          </a:prstGeom>
          <a:noFill/>
          <a:ln/>
        </p:spPr>
        <p:txBody>
          <a:bodyPr wrap="square" lIns="0" tIns="0" rIns="0" bIns="0" rtlCol="0" anchor="ctr"/>
          <a:lstStyle/>
          <a:p>
            <a:pPr marL="0" indent="0" algn="ctr">
              <a:buNone/>
            </a:pPr>
            <a:r>
              <a:rPr lang="en-US" sz="700" b="1" dirty="0">
                <a:solidFill>
                  <a:srgbClr val="FFFFFF"/>
                </a:solidFill>
              </a:rPr>
              <a:t>MEDIUM</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3" name="Text 1"/>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4" name="Text 2"/>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ACTION PLAN</a:t>
            </a:r>
            <a:endParaRPr lang="en-US" sz="700" dirty="0"/>
          </a:p>
        </p:txBody>
      </p:sp>
      <p:sp>
        <p:nvSpPr>
          <p:cNvPr id="5" name="Text 3"/>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21 / 23</a:t>
            </a:r>
            <a:endParaRPr lang="en-US" sz="700" dirty="0"/>
          </a:p>
        </p:txBody>
      </p:sp>
      <p:sp>
        <p:nvSpPr>
          <p:cNvPr id="6" name="Text 4"/>
          <p:cNvSpPr/>
          <p:nvPr/>
        </p:nvSpPr>
        <p:spPr>
          <a:xfrm>
            <a:off x="411480" y="137160"/>
            <a:ext cx="7315200" cy="228600"/>
          </a:xfrm>
          <a:prstGeom prst="rect">
            <a:avLst/>
          </a:prstGeom>
          <a:noFill/>
          <a:ln/>
        </p:spPr>
        <p:txBody>
          <a:bodyPr wrap="square" lIns="0" tIns="0" rIns="0" bIns="0" rtlCol="0" anchor="ctr"/>
          <a:lstStyle/>
          <a:p>
            <a:pPr marL="0" indent="0">
              <a:buNone/>
            </a:pPr>
            <a:r>
              <a:rPr lang="en-US" sz="800" b="1" kern="0" spc="200" dirty="0">
                <a:solidFill>
                  <a:srgbClr val="006B6B"/>
                </a:solidFill>
              </a:rPr>
              <a:t>09 | Management Action Plan Summary</a:t>
            </a:r>
            <a:endParaRPr lang="en-US" sz="800" dirty="0"/>
          </a:p>
        </p:txBody>
      </p:sp>
      <p:sp>
        <p:nvSpPr>
          <p:cNvPr id="7" name="Text 5"/>
          <p:cNvSpPr/>
          <p:nvPr/>
        </p:nvSpPr>
        <p:spPr>
          <a:xfrm>
            <a:off x="411480" y="384048"/>
            <a:ext cx="8046720" cy="475488"/>
          </a:xfrm>
          <a:prstGeom prst="rect">
            <a:avLst/>
          </a:prstGeom>
          <a:noFill/>
          <a:ln/>
        </p:spPr>
        <p:txBody>
          <a:bodyPr wrap="square" lIns="0" tIns="0" rIns="0" bIns="0" rtlCol="0" anchor="ctr"/>
          <a:lstStyle/>
          <a:p>
            <a:pPr marL="0" indent="0">
              <a:buNone/>
            </a:pPr>
            <a:r>
              <a:rPr lang="en-US" sz="2200" b="1" dirty="0">
                <a:solidFill>
                  <a:srgbClr val="FFFFFF"/>
                </a:solidFill>
              </a:rPr>
              <a:t>Consolidated </a:t>
            </a:r>
            <a:r>
              <a:rPr lang="en-US" sz="2200" b="1" dirty="0" err="1">
                <a:solidFill>
                  <a:srgbClr val="FFFFFF"/>
                </a:solidFill>
              </a:rPr>
              <a:t>Prioritised</a:t>
            </a:r>
            <a:r>
              <a:rPr lang="en-US" sz="2200" b="1" dirty="0">
                <a:solidFill>
                  <a:srgbClr val="FFFFFF"/>
                </a:solidFill>
              </a:rPr>
              <a:t> Recommendations/ Decision Slide</a:t>
            </a:r>
            <a:endParaRPr lang="en-US" sz="2200" dirty="0"/>
          </a:p>
        </p:txBody>
      </p:sp>
      <p:sp>
        <p:nvSpPr>
          <p:cNvPr id="8" name="Shape 6"/>
          <p:cNvSpPr/>
          <p:nvPr/>
        </p:nvSpPr>
        <p:spPr>
          <a:xfrm>
            <a:off x="411480" y="914400"/>
            <a:ext cx="8503920" cy="0"/>
          </a:xfrm>
          <a:prstGeom prst="line">
            <a:avLst/>
          </a:prstGeom>
          <a:noFill/>
          <a:ln w="6350">
            <a:solidFill>
              <a:srgbClr val="2C4A6E"/>
            </a:solidFill>
            <a:prstDash val="solid"/>
          </a:ln>
        </p:spPr>
        <p:txBody>
          <a:bodyPr/>
          <a:lstStyle/>
          <a:p>
            <a:endParaRPr lang="en-DE"/>
          </a:p>
        </p:txBody>
      </p:sp>
      <p:sp>
        <p:nvSpPr>
          <p:cNvPr id="9" name="Shape 7"/>
          <p:cNvSpPr/>
          <p:nvPr/>
        </p:nvSpPr>
        <p:spPr>
          <a:xfrm>
            <a:off x="411480" y="1005840"/>
            <a:ext cx="4114800" cy="877824"/>
          </a:xfrm>
          <a:prstGeom prst="rect">
            <a:avLst/>
          </a:prstGeom>
          <a:solidFill>
            <a:srgbClr val="1B2E4B"/>
          </a:solidFill>
          <a:ln w="508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10" name="Shape 8"/>
          <p:cNvSpPr/>
          <p:nvPr/>
        </p:nvSpPr>
        <p:spPr>
          <a:xfrm>
            <a:off x="411480" y="1005840"/>
            <a:ext cx="365760" cy="877824"/>
          </a:xfrm>
          <a:prstGeom prst="rect">
            <a:avLst/>
          </a:prstGeom>
          <a:solidFill>
            <a:srgbClr val="C0392B"/>
          </a:solidFill>
          <a:ln w="12700">
            <a:solidFill>
              <a:srgbClr val="C0392B"/>
            </a:solidFill>
            <a:prstDash val="solid"/>
          </a:ln>
        </p:spPr>
        <p:txBody>
          <a:bodyPr/>
          <a:lstStyle/>
          <a:p>
            <a:endParaRPr lang="en-DE"/>
          </a:p>
        </p:txBody>
      </p:sp>
      <p:sp>
        <p:nvSpPr>
          <p:cNvPr id="11" name="Text 9"/>
          <p:cNvSpPr/>
          <p:nvPr/>
        </p:nvSpPr>
        <p:spPr>
          <a:xfrm>
            <a:off x="429768" y="128016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2" name="Text 10"/>
          <p:cNvSpPr/>
          <p:nvPr/>
        </p:nvSpPr>
        <p:spPr>
          <a:xfrm>
            <a:off x="850392" y="1051560"/>
            <a:ext cx="2423160" cy="256032"/>
          </a:xfrm>
          <a:prstGeom prst="rect">
            <a:avLst/>
          </a:prstGeom>
          <a:noFill/>
          <a:ln/>
        </p:spPr>
        <p:txBody>
          <a:bodyPr wrap="square" lIns="0" tIns="0" rIns="0" bIns="0" rtlCol="0" anchor="ctr"/>
          <a:lstStyle/>
          <a:p>
            <a:pPr marL="0" indent="0">
              <a:buNone/>
            </a:pPr>
            <a:r>
              <a:rPr lang="en-US" sz="900" b="1" dirty="0">
                <a:solidFill>
                  <a:srgbClr val="FFFFFF"/>
                </a:solidFill>
              </a:rPr>
              <a:t>Enable E-Invoice Receiving</a:t>
            </a:r>
            <a:endParaRPr lang="en-US" sz="900" dirty="0"/>
          </a:p>
        </p:txBody>
      </p:sp>
      <p:sp>
        <p:nvSpPr>
          <p:cNvPr id="13" name="Text 11"/>
          <p:cNvSpPr/>
          <p:nvPr/>
        </p:nvSpPr>
        <p:spPr>
          <a:xfrm>
            <a:off x="850392" y="1179576"/>
            <a:ext cx="3602736" cy="512064"/>
          </a:xfrm>
          <a:prstGeom prst="rect">
            <a:avLst/>
          </a:prstGeom>
          <a:noFill/>
          <a:ln/>
        </p:spPr>
        <p:txBody>
          <a:bodyPr wrap="square" lIns="0" tIns="0" rIns="0" bIns="0" rtlCol="0" anchor="ctr"/>
          <a:lstStyle/>
          <a:p>
            <a:pPr marL="0" indent="0">
              <a:buNone/>
            </a:pPr>
            <a:r>
              <a:rPr lang="en-US" sz="780" dirty="0">
                <a:solidFill>
                  <a:srgbClr val="AABBCC"/>
                </a:solidFill>
              </a:rPr>
              <a:t>XRechnung / ZUGFeRD infrastructure. Obligation active since 01.01.2025.</a:t>
            </a:r>
            <a:endParaRPr lang="en-US" sz="780" dirty="0"/>
          </a:p>
        </p:txBody>
      </p:sp>
      <p:sp>
        <p:nvSpPr>
          <p:cNvPr id="14" name="Text 12"/>
          <p:cNvSpPr/>
          <p:nvPr/>
        </p:nvSpPr>
        <p:spPr>
          <a:xfrm>
            <a:off x="3337560" y="1051560"/>
            <a:ext cx="1115568" cy="237744"/>
          </a:xfrm>
          <a:prstGeom prst="rect">
            <a:avLst/>
          </a:prstGeom>
          <a:noFill/>
          <a:ln/>
        </p:spPr>
        <p:txBody>
          <a:bodyPr wrap="square" lIns="0" tIns="0" rIns="0" bIns="0" rtlCol="0" anchor="ctr"/>
          <a:lstStyle/>
          <a:p>
            <a:pPr marL="0" indent="0" algn="r">
              <a:buNone/>
            </a:pPr>
            <a:r>
              <a:rPr lang="en-US" sz="720" dirty="0">
                <a:solidFill>
                  <a:srgbClr val="C0392B"/>
                </a:solidFill>
              </a:rPr>
              <a:t>CTO / Tax Dept.  |  Immediate</a:t>
            </a:r>
            <a:endParaRPr lang="en-US" sz="720" dirty="0"/>
          </a:p>
        </p:txBody>
      </p:sp>
      <p:sp>
        <p:nvSpPr>
          <p:cNvPr id="15" name="Shape 13"/>
          <p:cNvSpPr/>
          <p:nvPr/>
        </p:nvSpPr>
        <p:spPr>
          <a:xfrm>
            <a:off x="3611880" y="1627632"/>
            <a:ext cx="822960" cy="201168"/>
          </a:xfrm>
          <a:prstGeom prst="rect">
            <a:avLst/>
          </a:prstGeom>
          <a:solidFill>
            <a:srgbClr val="C0392B"/>
          </a:solidFill>
          <a:ln w="12700">
            <a:solidFill>
              <a:srgbClr val="C0392B"/>
            </a:solidFill>
            <a:prstDash val="solid"/>
          </a:ln>
        </p:spPr>
        <p:txBody>
          <a:bodyPr/>
          <a:lstStyle/>
          <a:p>
            <a:endParaRPr lang="en-DE"/>
          </a:p>
        </p:txBody>
      </p:sp>
      <p:sp>
        <p:nvSpPr>
          <p:cNvPr id="16" name="Text 14"/>
          <p:cNvSpPr/>
          <p:nvPr/>
        </p:nvSpPr>
        <p:spPr>
          <a:xfrm>
            <a:off x="3611880" y="1627632"/>
            <a:ext cx="822960" cy="201168"/>
          </a:xfrm>
          <a:prstGeom prst="rect">
            <a:avLst/>
          </a:prstGeom>
          <a:noFill/>
          <a:ln/>
        </p:spPr>
        <p:txBody>
          <a:bodyPr wrap="square" lIns="0" tIns="0" rIns="0" bIns="0" rtlCol="0" anchor="ctr"/>
          <a:lstStyle/>
          <a:p>
            <a:pPr marL="0" indent="0" algn="ctr">
              <a:buNone/>
            </a:pPr>
            <a:r>
              <a:rPr lang="en-US" sz="700" b="1" dirty="0">
                <a:solidFill>
                  <a:srgbClr val="FFFFFF"/>
                </a:solidFill>
              </a:rPr>
              <a:t>HIGH</a:t>
            </a:r>
            <a:endParaRPr lang="en-US" sz="700" dirty="0"/>
          </a:p>
        </p:txBody>
      </p:sp>
      <p:sp>
        <p:nvSpPr>
          <p:cNvPr id="17" name="Shape 15"/>
          <p:cNvSpPr/>
          <p:nvPr/>
        </p:nvSpPr>
        <p:spPr>
          <a:xfrm>
            <a:off x="4782312" y="1005840"/>
            <a:ext cx="4114800" cy="877824"/>
          </a:xfrm>
          <a:prstGeom prst="rect">
            <a:avLst/>
          </a:prstGeom>
          <a:solidFill>
            <a:srgbClr val="1B2E4B"/>
          </a:solidFill>
          <a:ln w="508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18" name="Shape 16"/>
          <p:cNvSpPr/>
          <p:nvPr/>
        </p:nvSpPr>
        <p:spPr>
          <a:xfrm>
            <a:off x="4782312" y="1005840"/>
            <a:ext cx="365760" cy="877824"/>
          </a:xfrm>
          <a:prstGeom prst="rect">
            <a:avLst/>
          </a:prstGeom>
          <a:solidFill>
            <a:srgbClr val="C0392B"/>
          </a:solidFill>
          <a:ln w="12700">
            <a:solidFill>
              <a:srgbClr val="C0392B"/>
            </a:solidFill>
            <a:prstDash val="solid"/>
          </a:ln>
        </p:spPr>
        <p:txBody>
          <a:bodyPr/>
          <a:lstStyle/>
          <a:p>
            <a:endParaRPr lang="en-DE"/>
          </a:p>
        </p:txBody>
      </p:sp>
      <p:sp>
        <p:nvSpPr>
          <p:cNvPr id="19" name="Text 17"/>
          <p:cNvSpPr/>
          <p:nvPr/>
        </p:nvSpPr>
        <p:spPr>
          <a:xfrm>
            <a:off x="4800600" y="128016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20" name="Text 18"/>
          <p:cNvSpPr/>
          <p:nvPr/>
        </p:nvSpPr>
        <p:spPr>
          <a:xfrm>
            <a:off x="5221224" y="1051560"/>
            <a:ext cx="2423160" cy="256032"/>
          </a:xfrm>
          <a:prstGeom prst="rect">
            <a:avLst/>
          </a:prstGeom>
          <a:noFill/>
          <a:ln/>
        </p:spPr>
        <p:txBody>
          <a:bodyPr wrap="square" lIns="0" tIns="0" rIns="0" bIns="0" rtlCol="0" anchor="ctr"/>
          <a:lstStyle/>
          <a:p>
            <a:pPr marL="0" indent="0">
              <a:buNone/>
            </a:pPr>
            <a:r>
              <a:rPr lang="en-US" sz="900" b="1" dirty="0">
                <a:solidFill>
                  <a:srgbClr val="FFFFFF"/>
                </a:solidFill>
              </a:rPr>
              <a:t>Late Filing Regulatory Response</a:t>
            </a:r>
            <a:endParaRPr lang="en-US" sz="900" dirty="0"/>
          </a:p>
        </p:txBody>
      </p:sp>
      <p:sp>
        <p:nvSpPr>
          <p:cNvPr id="21" name="Text 19"/>
          <p:cNvSpPr/>
          <p:nvPr/>
        </p:nvSpPr>
        <p:spPr>
          <a:xfrm>
            <a:off x="5221224" y="1179576"/>
            <a:ext cx="3602736" cy="512064"/>
          </a:xfrm>
          <a:prstGeom prst="rect">
            <a:avLst/>
          </a:prstGeom>
          <a:noFill/>
          <a:ln/>
        </p:spPr>
        <p:txBody>
          <a:bodyPr wrap="square" lIns="0" tIns="0" rIns="0" bIns="0" rtlCol="0" anchor="ctr"/>
          <a:lstStyle/>
          <a:p>
            <a:pPr marL="0" indent="0">
              <a:buNone/>
            </a:pPr>
            <a:r>
              <a:rPr lang="en-US" sz="780" dirty="0">
                <a:solidFill>
                  <a:srgbClr val="AABBCC"/>
                </a:solidFill>
              </a:rPr>
              <a:t>Formally respond to § 152 AO Verspätungszuschlag. Implement Steuerkalender.</a:t>
            </a:r>
            <a:endParaRPr lang="en-US" sz="780" dirty="0"/>
          </a:p>
        </p:txBody>
      </p:sp>
      <p:sp>
        <p:nvSpPr>
          <p:cNvPr id="22" name="Text 20"/>
          <p:cNvSpPr/>
          <p:nvPr/>
        </p:nvSpPr>
        <p:spPr>
          <a:xfrm>
            <a:off x="7708392" y="1051560"/>
            <a:ext cx="1115568" cy="237744"/>
          </a:xfrm>
          <a:prstGeom prst="rect">
            <a:avLst/>
          </a:prstGeom>
          <a:noFill/>
          <a:ln/>
        </p:spPr>
        <p:txBody>
          <a:bodyPr wrap="square" lIns="0" tIns="0" rIns="0" bIns="0" rtlCol="0" anchor="ctr"/>
          <a:lstStyle/>
          <a:p>
            <a:pPr marL="0" indent="0" algn="r">
              <a:buNone/>
            </a:pPr>
            <a:r>
              <a:rPr lang="en-US" sz="720" dirty="0">
                <a:solidFill>
                  <a:srgbClr val="C0392B"/>
                </a:solidFill>
              </a:rPr>
              <a:t>CFO / Tax Dept.  |  Immediate</a:t>
            </a:r>
            <a:endParaRPr lang="en-US" sz="720" dirty="0"/>
          </a:p>
        </p:txBody>
      </p:sp>
      <p:sp>
        <p:nvSpPr>
          <p:cNvPr id="23" name="Shape 21"/>
          <p:cNvSpPr/>
          <p:nvPr/>
        </p:nvSpPr>
        <p:spPr>
          <a:xfrm>
            <a:off x="7982712" y="1627632"/>
            <a:ext cx="822960" cy="201168"/>
          </a:xfrm>
          <a:prstGeom prst="rect">
            <a:avLst/>
          </a:prstGeom>
          <a:solidFill>
            <a:srgbClr val="C0392B"/>
          </a:solidFill>
          <a:ln w="12700">
            <a:solidFill>
              <a:srgbClr val="C0392B"/>
            </a:solidFill>
            <a:prstDash val="solid"/>
          </a:ln>
        </p:spPr>
        <p:txBody>
          <a:bodyPr/>
          <a:lstStyle/>
          <a:p>
            <a:endParaRPr lang="en-DE"/>
          </a:p>
        </p:txBody>
      </p:sp>
      <p:sp>
        <p:nvSpPr>
          <p:cNvPr id="24" name="Text 22"/>
          <p:cNvSpPr/>
          <p:nvPr/>
        </p:nvSpPr>
        <p:spPr>
          <a:xfrm>
            <a:off x="7982712" y="1627632"/>
            <a:ext cx="822960" cy="201168"/>
          </a:xfrm>
          <a:prstGeom prst="rect">
            <a:avLst/>
          </a:prstGeom>
          <a:noFill/>
          <a:ln/>
        </p:spPr>
        <p:txBody>
          <a:bodyPr wrap="square" lIns="0" tIns="0" rIns="0" bIns="0" rtlCol="0" anchor="ctr"/>
          <a:lstStyle/>
          <a:p>
            <a:pPr marL="0" indent="0" algn="ctr">
              <a:buNone/>
            </a:pPr>
            <a:r>
              <a:rPr lang="en-US" sz="700" b="1" dirty="0">
                <a:solidFill>
                  <a:srgbClr val="FFFFFF"/>
                </a:solidFill>
              </a:rPr>
              <a:t>HIGH</a:t>
            </a:r>
            <a:endParaRPr lang="en-US" sz="700" dirty="0"/>
          </a:p>
        </p:txBody>
      </p:sp>
      <p:sp>
        <p:nvSpPr>
          <p:cNvPr id="25" name="Shape 23"/>
          <p:cNvSpPr/>
          <p:nvPr/>
        </p:nvSpPr>
        <p:spPr>
          <a:xfrm>
            <a:off x="411480" y="1965960"/>
            <a:ext cx="4114800" cy="877824"/>
          </a:xfrm>
          <a:prstGeom prst="rect">
            <a:avLst/>
          </a:prstGeom>
          <a:solidFill>
            <a:srgbClr val="1B2E4B"/>
          </a:solidFill>
          <a:ln w="508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26" name="Shape 24"/>
          <p:cNvSpPr/>
          <p:nvPr/>
        </p:nvSpPr>
        <p:spPr>
          <a:xfrm>
            <a:off x="411480" y="1965960"/>
            <a:ext cx="365760" cy="877824"/>
          </a:xfrm>
          <a:prstGeom prst="rect">
            <a:avLst/>
          </a:prstGeom>
          <a:solidFill>
            <a:srgbClr val="C0392B"/>
          </a:solidFill>
          <a:ln w="12700">
            <a:solidFill>
              <a:srgbClr val="C0392B"/>
            </a:solidFill>
            <a:prstDash val="solid"/>
          </a:ln>
        </p:spPr>
        <p:txBody>
          <a:bodyPr/>
          <a:lstStyle/>
          <a:p>
            <a:endParaRPr lang="en-DE"/>
          </a:p>
        </p:txBody>
      </p:sp>
      <p:sp>
        <p:nvSpPr>
          <p:cNvPr id="27" name="Text 25"/>
          <p:cNvSpPr/>
          <p:nvPr/>
        </p:nvSpPr>
        <p:spPr>
          <a:xfrm>
            <a:off x="429768" y="224028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8" name="Text 26"/>
          <p:cNvSpPr/>
          <p:nvPr/>
        </p:nvSpPr>
        <p:spPr>
          <a:xfrm>
            <a:off x="850392" y="2011680"/>
            <a:ext cx="2423160" cy="256032"/>
          </a:xfrm>
          <a:prstGeom prst="rect">
            <a:avLst/>
          </a:prstGeom>
          <a:noFill/>
          <a:ln/>
        </p:spPr>
        <p:txBody>
          <a:bodyPr wrap="square" lIns="0" tIns="0" rIns="0" bIns="0" rtlCol="0" anchor="ctr"/>
          <a:lstStyle/>
          <a:p>
            <a:pPr marL="0" indent="0">
              <a:buNone/>
            </a:pPr>
            <a:r>
              <a:rPr lang="en-US" sz="900" b="1" dirty="0">
                <a:solidFill>
                  <a:srgbClr val="FFFFFF"/>
                </a:solidFill>
              </a:rPr>
              <a:t>T3: China→Spain Import Structure</a:t>
            </a:r>
            <a:endParaRPr lang="en-US" sz="900" dirty="0"/>
          </a:p>
        </p:txBody>
      </p:sp>
      <p:sp>
        <p:nvSpPr>
          <p:cNvPr id="29" name="Text 27"/>
          <p:cNvSpPr/>
          <p:nvPr/>
        </p:nvSpPr>
        <p:spPr>
          <a:xfrm>
            <a:off x="850392" y="2139696"/>
            <a:ext cx="3602736" cy="512064"/>
          </a:xfrm>
          <a:prstGeom prst="rect">
            <a:avLst/>
          </a:prstGeom>
          <a:noFill/>
          <a:ln/>
        </p:spPr>
        <p:txBody>
          <a:bodyPr wrap="square" lIns="0" tIns="0" rIns="0" bIns="0" rtlCol="0" anchor="ctr"/>
          <a:lstStyle/>
          <a:p>
            <a:pPr marL="0" indent="0">
              <a:buNone/>
            </a:pPr>
            <a:r>
              <a:rPr lang="en-US" sz="780" dirty="0">
                <a:solidFill>
                  <a:srgbClr val="AABBCC"/>
                </a:solidFill>
              </a:rPr>
              <a:t>Clarify Incoterms, Importer of Record, Spanish VAT registration.</a:t>
            </a:r>
            <a:endParaRPr lang="en-US" sz="780" dirty="0"/>
          </a:p>
        </p:txBody>
      </p:sp>
      <p:sp>
        <p:nvSpPr>
          <p:cNvPr id="30" name="Text 28"/>
          <p:cNvSpPr/>
          <p:nvPr/>
        </p:nvSpPr>
        <p:spPr>
          <a:xfrm>
            <a:off x="3337560" y="2011680"/>
            <a:ext cx="1115568" cy="237744"/>
          </a:xfrm>
          <a:prstGeom prst="rect">
            <a:avLst/>
          </a:prstGeom>
          <a:noFill/>
          <a:ln/>
        </p:spPr>
        <p:txBody>
          <a:bodyPr wrap="square" lIns="0" tIns="0" rIns="0" bIns="0" rtlCol="0" anchor="ctr"/>
          <a:lstStyle/>
          <a:p>
            <a:pPr marL="0" indent="0" algn="r">
              <a:buNone/>
            </a:pPr>
            <a:r>
              <a:rPr lang="en-US" sz="720" dirty="0">
                <a:solidFill>
                  <a:srgbClr val="C0392B"/>
                </a:solidFill>
              </a:rPr>
              <a:t>CFO + Legal  |  Q3 2026</a:t>
            </a:r>
            <a:endParaRPr lang="en-US" sz="720" dirty="0"/>
          </a:p>
        </p:txBody>
      </p:sp>
      <p:sp>
        <p:nvSpPr>
          <p:cNvPr id="31" name="Shape 29"/>
          <p:cNvSpPr/>
          <p:nvPr/>
        </p:nvSpPr>
        <p:spPr>
          <a:xfrm>
            <a:off x="3611880" y="2587752"/>
            <a:ext cx="822960" cy="201168"/>
          </a:xfrm>
          <a:prstGeom prst="rect">
            <a:avLst/>
          </a:prstGeom>
          <a:solidFill>
            <a:srgbClr val="C0392B"/>
          </a:solidFill>
          <a:ln w="12700">
            <a:solidFill>
              <a:srgbClr val="C0392B"/>
            </a:solidFill>
            <a:prstDash val="solid"/>
          </a:ln>
        </p:spPr>
        <p:txBody>
          <a:bodyPr/>
          <a:lstStyle/>
          <a:p>
            <a:endParaRPr lang="en-DE"/>
          </a:p>
        </p:txBody>
      </p:sp>
      <p:sp>
        <p:nvSpPr>
          <p:cNvPr id="32" name="Text 30"/>
          <p:cNvSpPr/>
          <p:nvPr/>
        </p:nvSpPr>
        <p:spPr>
          <a:xfrm>
            <a:off x="3611880" y="2587752"/>
            <a:ext cx="822960" cy="201168"/>
          </a:xfrm>
          <a:prstGeom prst="rect">
            <a:avLst/>
          </a:prstGeom>
          <a:noFill/>
          <a:ln/>
        </p:spPr>
        <p:txBody>
          <a:bodyPr wrap="square" lIns="0" tIns="0" rIns="0" bIns="0" rtlCol="0" anchor="ctr"/>
          <a:lstStyle/>
          <a:p>
            <a:pPr marL="0" indent="0" algn="ctr">
              <a:buNone/>
            </a:pPr>
            <a:r>
              <a:rPr lang="en-US" sz="700" b="1" dirty="0">
                <a:solidFill>
                  <a:srgbClr val="FFFFFF"/>
                </a:solidFill>
              </a:rPr>
              <a:t>HIGH</a:t>
            </a:r>
            <a:endParaRPr lang="en-US" sz="700" dirty="0"/>
          </a:p>
        </p:txBody>
      </p:sp>
      <p:sp>
        <p:nvSpPr>
          <p:cNvPr id="33" name="Shape 31"/>
          <p:cNvSpPr/>
          <p:nvPr/>
        </p:nvSpPr>
        <p:spPr>
          <a:xfrm>
            <a:off x="4782312" y="1965960"/>
            <a:ext cx="4114800" cy="877824"/>
          </a:xfrm>
          <a:prstGeom prst="rect">
            <a:avLst/>
          </a:prstGeom>
          <a:solidFill>
            <a:srgbClr val="1B2E4B"/>
          </a:solidFill>
          <a:ln w="508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34" name="Shape 32"/>
          <p:cNvSpPr/>
          <p:nvPr/>
        </p:nvSpPr>
        <p:spPr>
          <a:xfrm>
            <a:off x="4782312" y="1965960"/>
            <a:ext cx="365760" cy="877824"/>
          </a:xfrm>
          <a:prstGeom prst="rect">
            <a:avLst/>
          </a:prstGeom>
          <a:solidFill>
            <a:srgbClr val="D97706"/>
          </a:solidFill>
          <a:ln w="12700">
            <a:solidFill>
              <a:srgbClr val="D97706"/>
            </a:solidFill>
            <a:prstDash val="solid"/>
          </a:ln>
        </p:spPr>
        <p:txBody>
          <a:bodyPr/>
          <a:lstStyle/>
          <a:p>
            <a:endParaRPr lang="en-DE"/>
          </a:p>
        </p:txBody>
      </p:sp>
      <p:sp>
        <p:nvSpPr>
          <p:cNvPr id="35" name="Text 33"/>
          <p:cNvSpPr/>
          <p:nvPr/>
        </p:nvSpPr>
        <p:spPr>
          <a:xfrm>
            <a:off x="4800600" y="224028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36" name="Text 34"/>
          <p:cNvSpPr/>
          <p:nvPr/>
        </p:nvSpPr>
        <p:spPr>
          <a:xfrm>
            <a:off x="5221224" y="2011680"/>
            <a:ext cx="2423160" cy="256032"/>
          </a:xfrm>
          <a:prstGeom prst="rect">
            <a:avLst/>
          </a:prstGeom>
          <a:noFill/>
          <a:ln/>
        </p:spPr>
        <p:txBody>
          <a:bodyPr wrap="square" lIns="0" tIns="0" rIns="0" bIns="0" rtlCol="0" anchor="ctr"/>
          <a:lstStyle/>
          <a:p>
            <a:pPr marL="0" indent="0">
              <a:buNone/>
            </a:pPr>
            <a:r>
              <a:rPr lang="en-US" sz="900" b="1" dirty="0">
                <a:solidFill>
                  <a:srgbClr val="FFFFFF"/>
                </a:solidFill>
              </a:rPr>
              <a:t>CMR Documentation Workflow</a:t>
            </a:r>
            <a:endParaRPr lang="en-US" sz="900" dirty="0"/>
          </a:p>
        </p:txBody>
      </p:sp>
      <p:sp>
        <p:nvSpPr>
          <p:cNvPr id="37" name="Text 35"/>
          <p:cNvSpPr/>
          <p:nvPr/>
        </p:nvSpPr>
        <p:spPr>
          <a:xfrm>
            <a:off x="5221224" y="2139696"/>
            <a:ext cx="3602736" cy="512064"/>
          </a:xfrm>
          <a:prstGeom prst="rect">
            <a:avLst/>
          </a:prstGeom>
          <a:noFill/>
          <a:ln/>
        </p:spPr>
        <p:txBody>
          <a:bodyPr wrap="square" lIns="0" tIns="0" rIns="0" bIns="0" rtlCol="0" anchor="ctr"/>
          <a:lstStyle/>
          <a:p>
            <a:pPr marL="0" indent="0">
              <a:buNone/>
            </a:pPr>
            <a:r>
              <a:rPr lang="en-US" sz="780" dirty="0">
                <a:solidFill>
                  <a:srgbClr val="AABBCC"/>
                </a:solidFill>
              </a:rPr>
              <a:t>Standardise CMR waybills for all DE→ESP and ESP→DE machine movements.</a:t>
            </a:r>
            <a:endParaRPr lang="en-US" sz="780" dirty="0"/>
          </a:p>
        </p:txBody>
      </p:sp>
      <p:sp>
        <p:nvSpPr>
          <p:cNvPr id="38" name="Text 36"/>
          <p:cNvSpPr/>
          <p:nvPr/>
        </p:nvSpPr>
        <p:spPr>
          <a:xfrm>
            <a:off x="7708392" y="2011680"/>
            <a:ext cx="1115568" cy="237744"/>
          </a:xfrm>
          <a:prstGeom prst="rect">
            <a:avLst/>
          </a:prstGeom>
          <a:noFill/>
          <a:ln/>
        </p:spPr>
        <p:txBody>
          <a:bodyPr wrap="square" lIns="0" tIns="0" rIns="0" bIns="0" rtlCol="0" anchor="ctr"/>
          <a:lstStyle/>
          <a:p>
            <a:pPr marL="0" indent="0" algn="r">
              <a:buNone/>
            </a:pPr>
            <a:r>
              <a:rPr lang="en-US" sz="720" dirty="0">
                <a:solidFill>
                  <a:srgbClr val="D97706"/>
                </a:solidFill>
              </a:rPr>
              <a:t>Ms. Meyer (Purch.)  |  Q3 2026</a:t>
            </a:r>
            <a:endParaRPr lang="en-US" sz="720" dirty="0"/>
          </a:p>
        </p:txBody>
      </p:sp>
      <p:sp>
        <p:nvSpPr>
          <p:cNvPr id="39" name="Shape 37"/>
          <p:cNvSpPr/>
          <p:nvPr/>
        </p:nvSpPr>
        <p:spPr>
          <a:xfrm>
            <a:off x="7982712" y="2587752"/>
            <a:ext cx="822960" cy="201168"/>
          </a:xfrm>
          <a:prstGeom prst="rect">
            <a:avLst/>
          </a:prstGeom>
          <a:solidFill>
            <a:srgbClr val="D97706"/>
          </a:solidFill>
          <a:ln w="12700">
            <a:solidFill>
              <a:srgbClr val="D97706"/>
            </a:solidFill>
            <a:prstDash val="solid"/>
          </a:ln>
        </p:spPr>
        <p:txBody>
          <a:bodyPr/>
          <a:lstStyle/>
          <a:p>
            <a:endParaRPr lang="en-DE"/>
          </a:p>
        </p:txBody>
      </p:sp>
      <p:sp>
        <p:nvSpPr>
          <p:cNvPr id="40" name="Text 38"/>
          <p:cNvSpPr/>
          <p:nvPr/>
        </p:nvSpPr>
        <p:spPr>
          <a:xfrm>
            <a:off x="7982712" y="2587752"/>
            <a:ext cx="822960" cy="201168"/>
          </a:xfrm>
          <a:prstGeom prst="rect">
            <a:avLst/>
          </a:prstGeom>
          <a:noFill/>
          <a:ln/>
        </p:spPr>
        <p:txBody>
          <a:bodyPr wrap="square" lIns="0" tIns="0" rIns="0" bIns="0" rtlCol="0" anchor="ctr"/>
          <a:lstStyle/>
          <a:p>
            <a:pPr marL="0" indent="0" algn="ctr">
              <a:buNone/>
            </a:pPr>
            <a:r>
              <a:rPr lang="en-US" sz="700" b="1" dirty="0">
                <a:solidFill>
                  <a:srgbClr val="FFFFFF"/>
                </a:solidFill>
              </a:rPr>
              <a:t>MEDIUM</a:t>
            </a:r>
            <a:endParaRPr lang="en-US" sz="700" dirty="0"/>
          </a:p>
        </p:txBody>
      </p:sp>
      <p:sp>
        <p:nvSpPr>
          <p:cNvPr id="41" name="Shape 39"/>
          <p:cNvSpPr/>
          <p:nvPr/>
        </p:nvSpPr>
        <p:spPr>
          <a:xfrm>
            <a:off x="411480" y="2926080"/>
            <a:ext cx="4114800" cy="877824"/>
          </a:xfrm>
          <a:prstGeom prst="rect">
            <a:avLst/>
          </a:prstGeom>
          <a:solidFill>
            <a:srgbClr val="1B2E4B"/>
          </a:solidFill>
          <a:ln w="508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42" name="Shape 40"/>
          <p:cNvSpPr/>
          <p:nvPr/>
        </p:nvSpPr>
        <p:spPr>
          <a:xfrm>
            <a:off x="411480" y="2926080"/>
            <a:ext cx="365760" cy="877824"/>
          </a:xfrm>
          <a:prstGeom prst="rect">
            <a:avLst/>
          </a:prstGeom>
          <a:solidFill>
            <a:srgbClr val="D97706"/>
          </a:solidFill>
          <a:ln w="12700">
            <a:solidFill>
              <a:srgbClr val="D97706"/>
            </a:solidFill>
            <a:prstDash val="solid"/>
          </a:ln>
        </p:spPr>
        <p:txBody>
          <a:bodyPr/>
          <a:lstStyle/>
          <a:p>
            <a:endParaRPr lang="en-DE"/>
          </a:p>
        </p:txBody>
      </p:sp>
      <p:sp>
        <p:nvSpPr>
          <p:cNvPr id="43" name="Text 41"/>
          <p:cNvSpPr/>
          <p:nvPr/>
        </p:nvSpPr>
        <p:spPr>
          <a:xfrm>
            <a:off x="429768" y="320040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44" name="Text 42"/>
          <p:cNvSpPr/>
          <p:nvPr/>
        </p:nvSpPr>
        <p:spPr>
          <a:xfrm>
            <a:off x="850392" y="2971800"/>
            <a:ext cx="2423160" cy="256032"/>
          </a:xfrm>
          <a:prstGeom prst="rect">
            <a:avLst/>
          </a:prstGeom>
          <a:noFill/>
          <a:ln/>
        </p:spPr>
        <p:txBody>
          <a:bodyPr wrap="square" lIns="0" tIns="0" rIns="0" bIns="0" rtlCol="0" anchor="ctr"/>
          <a:lstStyle/>
          <a:p>
            <a:pPr marL="0" indent="0">
              <a:buNone/>
            </a:pPr>
            <a:r>
              <a:rPr lang="en-US" sz="900" b="1" dirty="0">
                <a:solidFill>
                  <a:srgbClr val="FFFFFF"/>
                </a:solidFill>
              </a:rPr>
              <a:t>VIES VAT-ID Validation Automation</a:t>
            </a:r>
            <a:endParaRPr lang="en-US" sz="900" dirty="0"/>
          </a:p>
        </p:txBody>
      </p:sp>
      <p:sp>
        <p:nvSpPr>
          <p:cNvPr id="45" name="Text 43"/>
          <p:cNvSpPr/>
          <p:nvPr/>
        </p:nvSpPr>
        <p:spPr>
          <a:xfrm>
            <a:off x="850392" y="3099816"/>
            <a:ext cx="3602736" cy="512064"/>
          </a:xfrm>
          <a:prstGeom prst="rect">
            <a:avLst/>
          </a:prstGeom>
          <a:noFill/>
          <a:ln/>
        </p:spPr>
        <p:txBody>
          <a:bodyPr wrap="square" lIns="0" tIns="0" rIns="0" bIns="0" rtlCol="0" anchor="ctr"/>
          <a:lstStyle/>
          <a:p>
            <a:pPr marL="0" indent="0">
              <a:buNone/>
            </a:pPr>
            <a:r>
              <a:rPr lang="en-US" sz="780" dirty="0">
                <a:solidFill>
                  <a:srgbClr val="AABBCC"/>
                </a:solidFill>
              </a:rPr>
              <a:t>Real-time VIES API in ERP for all EU customers (DE + PL entities).</a:t>
            </a:r>
            <a:endParaRPr lang="en-US" sz="780" dirty="0"/>
          </a:p>
        </p:txBody>
      </p:sp>
      <p:sp>
        <p:nvSpPr>
          <p:cNvPr id="46" name="Text 44"/>
          <p:cNvSpPr/>
          <p:nvPr/>
        </p:nvSpPr>
        <p:spPr>
          <a:xfrm>
            <a:off x="3337560" y="2971800"/>
            <a:ext cx="1115568" cy="237744"/>
          </a:xfrm>
          <a:prstGeom prst="rect">
            <a:avLst/>
          </a:prstGeom>
          <a:noFill/>
          <a:ln/>
        </p:spPr>
        <p:txBody>
          <a:bodyPr wrap="square" lIns="0" tIns="0" rIns="0" bIns="0" rtlCol="0" anchor="ctr"/>
          <a:lstStyle/>
          <a:p>
            <a:pPr marL="0" indent="0" algn="r">
              <a:buNone/>
            </a:pPr>
            <a:r>
              <a:rPr lang="en-US" sz="720" dirty="0">
                <a:solidFill>
                  <a:srgbClr val="D97706"/>
                </a:solidFill>
              </a:rPr>
              <a:t>Tax Dept. / IT  |  Q3 2026</a:t>
            </a:r>
            <a:endParaRPr lang="en-US" sz="720" dirty="0"/>
          </a:p>
        </p:txBody>
      </p:sp>
      <p:sp>
        <p:nvSpPr>
          <p:cNvPr id="47" name="Shape 45"/>
          <p:cNvSpPr/>
          <p:nvPr/>
        </p:nvSpPr>
        <p:spPr>
          <a:xfrm>
            <a:off x="3611880" y="3547872"/>
            <a:ext cx="822960" cy="201168"/>
          </a:xfrm>
          <a:prstGeom prst="rect">
            <a:avLst/>
          </a:prstGeom>
          <a:solidFill>
            <a:srgbClr val="D97706"/>
          </a:solidFill>
          <a:ln w="12700">
            <a:solidFill>
              <a:srgbClr val="D97706"/>
            </a:solidFill>
            <a:prstDash val="solid"/>
          </a:ln>
        </p:spPr>
        <p:txBody>
          <a:bodyPr/>
          <a:lstStyle/>
          <a:p>
            <a:endParaRPr lang="en-DE"/>
          </a:p>
        </p:txBody>
      </p:sp>
      <p:sp>
        <p:nvSpPr>
          <p:cNvPr id="48" name="Text 46"/>
          <p:cNvSpPr/>
          <p:nvPr/>
        </p:nvSpPr>
        <p:spPr>
          <a:xfrm>
            <a:off x="3611880" y="3547872"/>
            <a:ext cx="822960" cy="201168"/>
          </a:xfrm>
          <a:prstGeom prst="rect">
            <a:avLst/>
          </a:prstGeom>
          <a:noFill/>
          <a:ln/>
        </p:spPr>
        <p:txBody>
          <a:bodyPr wrap="square" lIns="0" tIns="0" rIns="0" bIns="0" rtlCol="0" anchor="ctr"/>
          <a:lstStyle/>
          <a:p>
            <a:pPr marL="0" indent="0" algn="ctr">
              <a:buNone/>
            </a:pPr>
            <a:r>
              <a:rPr lang="en-US" sz="700" b="1" dirty="0">
                <a:solidFill>
                  <a:srgbClr val="FFFFFF"/>
                </a:solidFill>
              </a:rPr>
              <a:t>MEDIUM</a:t>
            </a:r>
            <a:endParaRPr lang="en-US" sz="700" dirty="0"/>
          </a:p>
        </p:txBody>
      </p:sp>
      <p:sp>
        <p:nvSpPr>
          <p:cNvPr id="49" name="Shape 47"/>
          <p:cNvSpPr/>
          <p:nvPr/>
        </p:nvSpPr>
        <p:spPr>
          <a:xfrm>
            <a:off x="4782312" y="2926080"/>
            <a:ext cx="4114800" cy="877824"/>
          </a:xfrm>
          <a:prstGeom prst="rect">
            <a:avLst/>
          </a:prstGeom>
          <a:solidFill>
            <a:srgbClr val="1B2E4B"/>
          </a:solidFill>
          <a:ln w="508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50" name="Shape 48"/>
          <p:cNvSpPr/>
          <p:nvPr/>
        </p:nvSpPr>
        <p:spPr>
          <a:xfrm>
            <a:off x="4782312" y="2926080"/>
            <a:ext cx="365760" cy="877824"/>
          </a:xfrm>
          <a:prstGeom prst="rect">
            <a:avLst/>
          </a:prstGeom>
          <a:solidFill>
            <a:srgbClr val="C0392B"/>
          </a:solidFill>
          <a:ln w="12700">
            <a:solidFill>
              <a:srgbClr val="C0392B"/>
            </a:solidFill>
            <a:prstDash val="solid"/>
          </a:ln>
        </p:spPr>
        <p:txBody>
          <a:bodyPr/>
          <a:lstStyle/>
          <a:p>
            <a:endParaRPr lang="en-DE"/>
          </a:p>
        </p:txBody>
      </p:sp>
      <p:sp>
        <p:nvSpPr>
          <p:cNvPr id="51" name="Text 49"/>
          <p:cNvSpPr/>
          <p:nvPr/>
        </p:nvSpPr>
        <p:spPr>
          <a:xfrm>
            <a:off x="4800600" y="320040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06</a:t>
            </a:r>
            <a:endParaRPr lang="en-US" sz="1100" dirty="0"/>
          </a:p>
        </p:txBody>
      </p:sp>
      <p:sp>
        <p:nvSpPr>
          <p:cNvPr id="52" name="Text 50"/>
          <p:cNvSpPr/>
          <p:nvPr/>
        </p:nvSpPr>
        <p:spPr>
          <a:xfrm>
            <a:off x="5221224" y="2971800"/>
            <a:ext cx="2423160" cy="256032"/>
          </a:xfrm>
          <a:prstGeom prst="rect">
            <a:avLst/>
          </a:prstGeom>
          <a:noFill/>
          <a:ln/>
        </p:spPr>
        <p:txBody>
          <a:bodyPr wrap="square" lIns="0" tIns="0" rIns="0" bIns="0" rtlCol="0" anchor="ctr"/>
          <a:lstStyle/>
          <a:p>
            <a:pPr marL="0" indent="0">
              <a:buNone/>
            </a:pPr>
            <a:r>
              <a:rPr lang="en-US" sz="900" b="1" dirty="0">
                <a:solidFill>
                  <a:srgbClr val="FFFFFF"/>
                </a:solidFill>
              </a:rPr>
              <a:t>E-Invoice Issuance Readiness</a:t>
            </a:r>
            <a:endParaRPr lang="en-US" sz="900" dirty="0"/>
          </a:p>
        </p:txBody>
      </p:sp>
      <p:sp>
        <p:nvSpPr>
          <p:cNvPr id="53" name="Text 51"/>
          <p:cNvSpPr/>
          <p:nvPr/>
        </p:nvSpPr>
        <p:spPr>
          <a:xfrm>
            <a:off x="5221224" y="3099816"/>
            <a:ext cx="3602736" cy="512064"/>
          </a:xfrm>
          <a:prstGeom prst="rect">
            <a:avLst/>
          </a:prstGeom>
          <a:noFill/>
          <a:ln/>
        </p:spPr>
        <p:txBody>
          <a:bodyPr wrap="square" lIns="0" tIns="0" rIns="0" bIns="0" rtlCol="0" anchor="ctr"/>
          <a:lstStyle/>
          <a:p>
            <a:pPr marL="0" indent="0">
              <a:buNone/>
            </a:pPr>
            <a:r>
              <a:rPr lang="en-US" sz="780" dirty="0">
                <a:solidFill>
                  <a:srgbClr val="AABBCC"/>
                </a:solidFill>
              </a:rPr>
              <a:t>XRechnung / ZUGFeRD issuance for domestic B2B. Mandatory from 01.01.2027.</a:t>
            </a:r>
            <a:endParaRPr lang="en-US" sz="780" dirty="0"/>
          </a:p>
        </p:txBody>
      </p:sp>
      <p:sp>
        <p:nvSpPr>
          <p:cNvPr id="54" name="Text 52"/>
          <p:cNvSpPr/>
          <p:nvPr/>
        </p:nvSpPr>
        <p:spPr>
          <a:xfrm>
            <a:off x="7708392" y="2971800"/>
            <a:ext cx="1115568" cy="237744"/>
          </a:xfrm>
          <a:prstGeom prst="rect">
            <a:avLst/>
          </a:prstGeom>
          <a:noFill/>
          <a:ln/>
        </p:spPr>
        <p:txBody>
          <a:bodyPr wrap="square" lIns="0" tIns="0" rIns="0" bIns="0" rtlCol="0" anchor="ctr"/>
          <a:lstStyle/>
          <a:p>
            <a:pPr marL="0" indent="0" algn="r">
              <a:buNone/>
            </a:pPr>
            <a:r>
              <a:rPr lang="en-US" sz="720" dirty="0">
                <a:solidFill>
                  <a:srgbClr val="C0392B"/>
                </a:solidFill>
              </a:rPr>
              <a:t>CTO / Tax Dept.  |  Q4 2026</a:t>
            </a:r>
            <a:endParaRPr lang="en-US" sz="720" dirty="0"/>
          </a:p>
        </p:txBody>
      </p:sp>
      <p:sp>
        <p:nvSpPr>
          <p:cNvPr id="55" name="Shape 53"/>
          <p:cNvSpPr/>
          <p:nvPr/>
        </p:nvSpPr>
        <p:spPr>
          <a:xfrm>
            <a:off x="7982712" y="3547872"/>
            <a:ext cx="822960" cy="201168"/>
          </a:xfrm>
          <a:prstGeom prst="rect">
            <a:avLst/>
          </a:prstGeom>
          <a:solidFill>
            <a:srgbClr val="C0392B"/>
          </a:solidFill>
          <a:ln w="12700">
            <a:solidFill>
              <a:srgbClr val="C0392B"/>
            </a:solidFill>
            <a:prstDash val="solid"/>
          </a:ln>
        </p:spPr>
        <p:txBody>
          <a:bodyPr/>
          <a:lstStyle/>
          <a:p>
            <a:endParaRPr lang="en-DE"/>
          </a:p>
        </p:txBody>
      </p:sp>
      <p:sp>
        <p:nvSpPr>
          <p:cNvPr id="56" name="Text 54"/>
          <p:cNvSpPr/>
          <p:nvPr/>
        </p:nvSpPr>
        <p:spPr>
          <a:xfrm>
            <a:off x="7982712" y="3547872"/>
            <a:ext cx="822960" cy="201168"/>
          </a:xfrm>
          <a:prstGeom prst="rect">
            <a:avLst/>
          </a:prstGeom>
          <a:noFill/>
          <a:ln/>
        </p:spPr>
        <p:txBody>
          <a:bodyPr wrap="square" lIns="0" tIns="0" rIns="0" bIns="0" rtlCol="0" anchor="ctr"/>
          <a:lstStyle/>
          <a:p>
            <a:pPr marL="0" indent="0" algn="ctr">
              <a:buNone/>
            </a:pPr>
            <a:r>
              <a:rPr lang="en-US" sz="700" b="1" dirty="0">
                <a:solidFill>
                  <a:srgbClr val="FFFFFF"/>
                </a:solidFill>
              </a:rPr>
              <a:t>HIGH</a:t>
            </a:r>
            <a:endParaRPr lang="en-US" sz="700" dirty="0"/>
          </a:p>
        </p:txBody>
      </p:sp>
      <p:sp>
        <p:nvSpPr>
          <p:cNvPr id="57" name="Shape 55"/>
          <p:cNvSpPr/>
          <p:nvPr/>
        </p:nvSpPr>
        <p:spPr>
          <a:xfrm>
            <a:off x="411480" y="3886200"/>
            <a:ext cx="4114800" cy="877824"/>
          </a:xfrm>
          <a:prstGeom prst="rect">
            <a:avLst/>
          </a:prstGeom>
          <a:solidFill>
            <a:srgbClr val="1B2E4B"/>
          </a:solidFill>
          <a:ln w="508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58" name="Shape 56"/>
          <p:cNvSpPr/>
          <p:nvPr/>
        </p:nvSpPr>
        <p:spPr>
          <a:xfrm>
            <a:off x="411480" y="3886200"/>
            <a:ext cx="365760" cy="877824"/>
          </a:xfrm>
          <a:prstGeom prst="rect">
            <a:avLst/>
          </a:prstGeom>
          <a:solidFill>
            <a:srgbClr val="D97706"/>
          </a:solidFill>
          <a:ln w="12700">
            <a:solidFill>
              <a:srgbClr val="D97706"/>
            </a:solidFill>
            <a:prstDash val="solid"/>
          </a:ln>
        </p:spPr>
        <p:txBody>
          <a:bodyPr/>
          <a:lstStyle/>
          <a:p>
            <a:endParaRPr lang="en-DE"/>
          </a:p>
        </p:txBody>
      </p:sp>
      <p:sp>
        <p:nvSpPr>
          <p:cNvPr id="59" name="Text 57"/>
          <p:cNvSpPr/>
          <p:nvPr/>
        </p:nvSpPr>
        <p:spPr>
          <a:xfrm>
            <a:off x="429768" y="416052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07</a:t>
            </a:r>
            <a:endParaRPr lang="en-US" sz="1100" dirty="0"/>
          </a:p>
        </p:txBody>
      </p:sp>
      <p:sp>
        <p:nvSpPr>
          <p:cNvPr id="60" name="Text 58"/>
          <p:cNvSpPr/>
          <p:nvPr/>
        </p:nvSpPr>
        <p:spPr>
          <a:xfrm>
            <a:off x="850392" y="3931920"/>
            <a:ext cx="2423160" cy="256032"/>
          </a:xfrm>
          <a:prstGeom prst="rect">
            <a:avLst/>
          </a:prstGeom>
          <a:noFill/>
          <a:ln/>
        </p:spPr>
        <p:txBody>
          <a:bodyPr wrap="square" lIns="0" tIns="0" rIns="0" bIns="0" rtlCol="0" anchor="ctr"/>
          <a:lstStyle/>
          <a:p>
            <a:pPr marL="0" indent="0">
              <a:buNone/>
            </a:pPr>
            <a:r>
              <a:rPr lang="en-US" sz="900" b="1" dirty="0">
                <a:solidFill>
                  <a:srgbClr val="FFFFFF"/>
                </a:solidFill>
              </a:rPr>
              <a:t>VAT Compliance Calendar (Steuerkalender)</a:t>
            </a:r>
            <a:endParaRPr lang="en-US" sz="900" dirty="0"/>
          </a:p>
        </p:txBody>
      </p:sp>
      <p:sp>
        <p:nvSpPr>
          <p:cNvPr id="61" name="Text 59"/>
          <p:cNvSpPr/>
          <p:nvPr/>
        </p:nvSpPr>
        <p:spPr>
          <a:xfrm>
            <a:off x="850392" y="4067556"/>
            <a:ext cx="3602736" cy="512064"/>
          </a:xfrm>
          <a:prstGeom prst="rect">
            <a:avLst/>
          </a:prstGeom>
          <a:noFill/>
          <a:ln/>
        </p:spPr>
        <p:txBody>
          <a:bodyPr wrap="square" lIns="0" tIns="0" rIns="0" bIns="0" rtlCol="0" anchor="ctr"/>
          <a:lstStyle/>
          <a:p>
            <a:pPr marL="0" indent="0">
              <a:buNone/>
            </a:pPr>
            <a:r>
              <a:rPr lang="en-US" sz="780" dirty="0">
                <a:solidFill>
                  <a:srgbClr val="AABBCC"/>
                </a:solidFill>
              </a:rPr>
              <a:t>ERP-integrated deadline alerts, owner assignment, escalation workflows.</a:t>
            </a:r>
            <a:endParaRPr lang="en-US" sz="780" dirty="0"/>
          </a:p>
        </p:txBody>
      </p:sp>
      <p:sp>
        <p:nvSpPr>
          <p:cNvPr id="62" name="Text 60"/>
          <p:cNvSpPr/>
          <p:nvPr/>
        </p:nvSpPr>
        <p:spPr>
          <a:xfrm>
            <a:off x="3337560" y="3931920"/>
            <a:ext cx="1115568" cy="237744"/>
          </a:xfrm>
          <a:prstGeom prst="rect">
            <a:avLst/>
          </a:prstGeom>
          <a:noFill/>
          <a:ln/>
        </p:spPr>
        <p:txBody>
          <a:bodyPr wrap="square" lIns="0" tIns="0" rIns="0" bIns="0" rtlCol="0" anchor="ctr"/>
          <a:lstStyle/>
          <a:p>
            <a:pPr marL="0" indent="0" algn="r">
              <a:buNone/>
            </a:pPr>
            <a:r>
              <a:rPr lang="en-US" sz="720" dirty="0">
                <a:solidFill>
                  <a:srgbClr val="D97706"/>
                </a:solidFill>
              </a:rPr>
              <a:t>Tax Dept. Lead  |  Q3 2026</a:t>
            </a:r>
            <a:endParaRPr lang="en-US" sz="720" dirty="0"/>
          </a:p>
        </p:txBody>
      </p:sp>
      <p:sp>
        <p:nvSpPr>
          <p:cNvPr id="63" name="Shape 61"/>
          <p:cNvSpPr/>
          <p:nvPr/>
        </p:nvSpPr>
        <p:spPr>
          <a:xfrm>
            <a:off x="3611880" y="4507992"/>
            <a:ext cx="822960" cy="201168"/>
          </a:xfrm>
          <a:prstGeom prst="rect">
            <a:avLst/>
          </a:prstGeom>
          <a:solidFill>
            <a:srgbClr val="D97706"/>
          </a:solidFill>
          <a:ln w="12700">
            <a:solidFill>
              <a:srgbClr val="D97706"/>
            </a:solidFill>
            <a:prstDash val="solid"/>
          </a:ln>
        </p:spPr>
        <p:txBody>
          <a:bodyPr/>
          <a:lstStyle/>
          <a:p>
            <a:endParaRPr lang="en-DE"/>
          </a:p>
        </p:txBody>
      </p:sp>
      <p:sp>
        <p:nvSpPr>
          <p:cNvPr id="64" name="Text 62"/>
          <p:cNvSpPr/>
          <p:nvPr/>
        </p:nvSpPr>
        <p:spPr>
          <a:xfrm>
            <a:off x="3611880" y="4507992"/>
            <a:ext cx="822960" cy="201168"/>
          </a:xfrm>
          <a:prstGeom prst="rect">
            <a:avLst/>
          </a:prstGeom>
          <a:noFill/>
          <a:ln/>
        </p:spPr>
        <p:txBody>
          <a:bodyPr wrap="square" lIns="0" tIns="0" rIns="0" bIns="0" rtlCol="0" anchor="ctr"/>
          <a:lstStyle/>
          <a:p>
            <a:pPr marL="0" indent="0" algn="ctr">
              <a:buNone/>
            </a:pPr>
            <a:r>
              <a:rPr lang="en-US" sz="700" b="1" dirty="0">
                <a:solidFill>
                  <a:srgbClr val="FFFFFF"/>
                </a:solidFill>
              </a:rPr>
              <a:t>MEDIUM</a:t>
            </a:r>
            <a:endParaRPr lang="en-US" sz="700" dirty="0"/>
          </a:p>
        </p:txBody>
      </p:sp>
      <p:sp>
        <p:nvSpPr>
          <p:cNvPr id="65" name="Shape 63"/>
          <p:cNvSpPr/>
          <p:nvPr/>
        </p:nvSpPr>
        <p:spPr>
          <a:xfrm>
            <a:off x="4782312" y="3886200"/>
            <a:ext cx="4114800" cy="877824"/>
          </a:xfrm>
          <a:prstGeom prst="rect">
            <a:avLst/>
          </a:prstGeom>
          <a:solidFill>
            <a:srgbClr val="1B2E4B"/>
          </a:solidFill>
          <a:ln w="5080">
            <a:solidFill>
              <a:srgbClr val="2C4A6E"/>
            </a:solidFill>
            <a:prstDash val="solid"/>
          </a:ln>
          <a:effectLst>
            <a:outerShdw blurRad="50800" dist="25400" dir="8100000" algn="bl" rotWithShape="0">
              <a:srgbClr val="000000">
                <a:alpha val="8000"/>
              </a:srgbClr>
            </a:outerShdw>
          </a:effectLst>
        </p:spPr>
        <p:txBody>
          <a:bodyPr/>
          <a:lstStyle/>
          <a:p>
            <a:endParaRPr lang="en-DE"/>
          </a:p>
        </p:txBody>
      </p:sp>
      <p:sp>
        <p:nvSpPr>
          <p:cNvPr id="66" name="Shape 64"/>
          <p:cNvSpPr/>
          <p:nvPr/>
        </p:nvSpPr>
        <p:spPr>
          <a:xfrm>
            <a:off x="4782312" y="3886200"/>
            <a:ext cx="365760" cy="877824"/>
          </a:xfrm>
          <a:prstGeom prst="rect">
            <a:avLst/>
          </a:prstGeom>
          <a:solidFill>
            <a:srgbClr val="D97706"/>
          </a:solidFill>
          <a:ln w="12700">
            <a:solidFill>
              <a:srgbClr val="D97706"/>
            </a:solidFill>
            <a:prstDash val="solid"/>
          </a:ln>
        </p:spPr>
        <p:txBody>
          <a:bodyPr/>
          <a:lstStyle/>
          <a:p>
            <a:endParaRPr lang="en-DE"/>
          </a:p>
        </p:txBody>
      </p:sp>
      <p:sp>
        <p:nvSpPr>
          <p:cNvPr id="67" name="Text 65"/>
          <p:cNvSpPr/>
          <p:nvPr/>
        </p:nvSpPr>
        <p:spPr>
          <a:xfrm>
            <a:off x="4800600" y="416052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08</a:t>
            </a:r>
            <a:endParaRPr lang="en-US" sz="1100" dirty="0"/>
          </a:p>
        </p:txBody>
      </p:sp>
      <p:sp>
        <p:nvSpPr>
          <p:cNvPr id="68" name="Text 66"/>
          <p:cNvSpPr/>
          <p:nvPr/>
        </p:nvSpPr>
        <p:spPr>
          <a:xfrm>
            <a:off x="5221224" y="3931920"/>
            <a:ext cx="2423160" cy="256032"/>
          </a:xfrm>
          <a:prstGeom prst="rect">
            <a:avLst/>
          </a:prstGeom>
          <a:noFill/>
          <a:ln/>
        </p:spPr>
        <p:txBody>
          <a:bodyPr wrap="square" lIns="0" tIns="0" rIns="0" bIns="0" rtlCol="0" anchor="ctr"/>
          <a:lstStyle/>
          <a:p>
            <a:pPr marL="0" indent="0">
              <a:buNone/>
            </a:pPr>
            <a:r>
              <a:rPr lang="en-US" sz="900" b="1" dirty="0">
                <a:solidFill>
                  <a:srgbClr val="FFFFFF"/>
                </a:solidFill>
              </a:rPr>
              <a:t>ZM / Intrastat Reconciliation</a:t>
            </a:r>
            <a:endParaRPr lang="en-US" sz="900" dirty="0"/>
          </a:p>
        </p:txBody>
      </p:sp>
      <p:sp>
        <p:nvSpPr>
          <p:cNvPr id="69" name="Text 67"/>
          <p:cNvSpPr/>
          <p:nvPr/>
        </p:nvSpPr>
        <p:spPr>
          <a:xfrm>
            <a:off x="5221224" y="4059936"/>
            <a:ext cx="3602736" cy="512064"/>
          </a:xfrm>
          <a:prstGeom prst="rect">
            <a:avLst/>
          </a:prstGeom>
          <a:noFill/>
          <a:ln/>
        </p:spPr>
        <p:txBody>
          <a:bodyPr wrap="square" lIns="0" tIns="0" rIns="0" bIns="0" rtlCol="0" anchor="ctr"/>
          <a:lstStyle/>
          <a:p>
            <a:pPr marL="0" indent="0">
              <a:buNone/>
            </a:pPr>
            <a:r>
              <a:rPr lang="en-US" sz="780" dirty="0">
                <a:solidFill>
                  <a:srgbClr val="AABBCC"/>
                </a:solidFill>
              </a:rPr>
              <a:t>Reconcile Zusammenfassende Meldung vs. Finanzbuchhaltung each period.</a:t>
            </a:r>
            <a:endParaRPr lang="en-US" sz="780" dirty="0"/>
          </a:p>
        </p:txBody>
      </p:sp>
      <p:sp>
        <p:nvSpPr>
          <p:cNvPr id="70" name="Text 68"/>
          <p:cNvSpPr/>
          <p:nvPr/>
        </p:nvSpPr>
        <p:spPr>
          <a:xfrm>
            <a:off x="7708392" y="3931920"/>
            <a:ext cx="1115568" cy="237744"/>
          </a:xfrm>
          <a:prstGeom prst="rect">
            <a:avLst/>
          </a:prstGeom>
          <a:noFill/>
          <a:ln/>
        </p:spPr>
        <p:txBody>
          <a:bodyPr wrap="square" lIns="0" tIns="0" rIns="0" bIns="0" rtlCol="0" anchor="ctr"/>
          <a:lstStyle/>
          <a:p>
            <a:pPr marL="0" indent="0" algn="r">
              <a:buNone/>
            </a:pPr>
            <a:r>
              <a:rPr lang="en-US" sz="720" dirty="0">
                <a:solidFill>
                  <a:srgbClr val="D97706"/>
                </a:solidFill>
              </a:rPr>
              <a:t>Tax Dept.  |  Quarterly</a:t>
            </a:r>
            <a:endParaRPr lang="en-US" sz="720" dirty="0"/>
          </a:p>
        </p:txBody>
      </p:sp>
      <p:sp>
        <p:nvSpPr>
          <p:cNvPr id="71" name="Shape 69"/>
          <p:cNvSpPr/>
          <p:nvPr/>
        </p:nvSpPr>
        <p:spPr>
          <a:xfrm>
            <a:off x="7982712" y="4507992"/>
            <a:ext cx="822960" cy="201168"/>
          </a:xfrm>
          <a:prstGeom prst="rect">
            <a:avLst/>
          </a:prstGeom>
          <a:solidFill>
            <a:srgbClr val="D97706"/>
          </a:solidFill>
          <a:ln w="12700">
            <a:solidFill>
              <a:srgbClr val="D97706"/>
            </a:solidFill>
            <a:prstDash val="solid"/>
          </a:ln>
        </p:spPr>
        <p:txBody>
          <a:bodyPr/>
          <a:lstStyle/>
          <a:p>
            <a:endParaRPr lang="en-DE"/>
          </a:p>
        </p:txBody>
      </p:sp>
      <p:sp>
        <p:nvSpPr>
          <p:cNvPr id="72" name="Text 70"/>
          <p:cNvSpPr/>
          <p:nvPr/>
        </p:nvSpPr>
        <p:spPr>
          <a:xfrm>
            <a:off x="7982712" y="4507992"/>
            <a:ext cx="822960" cy="201168"/>
          </a:xfrm>
          <a:prstGeom prst="rect">
            <a:avLst/>
          </a:prstGeom>
          <a:noFill/>
          <a:ln/>
        </p:spPr>
        <p:txBody>
          <a:bodyPr wrap="square" lIns="0" tIns="0" rIns="0" bIns="0" rtlCol="0" anchor="ctr"/>
          <a:lstStyle/>
          <a:p>
            <a:pPr marL="0" indent="0" algn="ctr">
              <a:buNone/>
            </a:pPr>
            <a:r>
              <a:rPr lang="en-US" sz="700" b="1" dirty="0">
                <a:solidFill>
                  <a:srgbClr val="FFFFFF"/>
                </a:solidFill>
              </a:rPr>
              <a:t>MEDIUM</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64748B"/>
          </a:solidFill>
          <a:ln w="12700">
            <a:solidFill>
              <a:srgbClr val="64748B"/>
            </a:solidFill>
            <a:prstDash val="solid"/>
          </a:ln>
        </p:spPr>
        <p:txBody>
          <a:bodyPr/>
          <a:lstStyle/>
          <a:p>
            <a:endParaRPr lang="en-DE"/>
          </a:p>
        </p:txBody>
      </p:sp>
      <p:sp>
        <p:nvSpPr>
          <p:cNvPr id="3" name="Shape 1"/>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4" name="Text 2"/>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5" name="Text 3"/>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APPENDIX</a:t>
            </a:r>
            <a:endParaRPr lang="en-US" sz="7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22 / 23</a:t>
            </a:r>
            <a:endParaRPr lang="en-US" sz="700" dirty="0"/>
          </a:p>
        </p:txBody>
      </p:sp>
      <p:sp>
        <p:nvSpPr>
          <p:cNvPr id="7" name="Text 5"/>
          <p:cNvSpPr/>
          <p:nvPr/>
        </p:nvSpPr>
        <p:spPr>
          <a:xfrm>
            <a:off x="411480" y="137160"/>
            <a:ext cx="6400800" cy="201168"/>
          </a:xfrm>
          <a:prstGeom prst="rect">
            <a:avLst/>
          </a:prstGeom>
          <a:noFill/>
          <a:ln/>
        </p:spPr>
        <p:txBody>
          <a:bodyPr wrap="square" lIns="0" tIns="0" rIns="0" bIns="0" rtlCol="0" anchor="ctr"/>
          <a:lstStyle/>
          <a:p>
            <a:pPr marL="0" indent="0">
              <a:buNone/>
            </a:pPr>
            <a:r>
              <a:rPr lang="en-US" sz="800" b="1" kern="0" spc="200" dirty="0">
                <a:solidFill>
                  <a:srgbClr val="64748B"/>
                </a:solidFill>
              </a:rPr>
              <a:t>10 | Appendix</a:t>
            </a:r>
            <a:endParaRPr lang="en-US" sz="800" dirty="0"/>
          </a:p>
        </p:txBody>
      </p:sp>
      <p:sp>
        <p:nvSpPr>
          <p:cNvPr id="8" name="Text 6"/>
          <p:cNvSpPr/>
          <p:nvPr/>
        </p:nvSpPr>
        <p:spPr>
          <a:xfrm>
            <a:off x="411480" y="338328"/>
            <a:ext cx="8046720" cy="502920"/>
          </a:xfrm>
          <a:prstGeom prst="rect">
            <a:avLst/>
          </a:prstGeom>
          <a:noFill/>
          <a:ln/>
        </p:spPr>
        <p:txBody>
          <a:bodyPr wrap="square" lIns="0" tIns="0" rIns="0" bIns="0" rtlCol="0" anchor="ctr"/>
          <a:lstStyle/>
          <a:p>
            <a:pPr marL="0" indent="0">
              <a:buNone/>
            </a:pPr>
            <a:r>
              <a:rPr lang="en-US" sz="2100" b="1" dirty="0">
                <a:solidFill>
                  <a:srgbClr val="0A1628"/>
                </a:solidFill>
              </a:rPr>
              <a:t>Legal Reference Index (Part 1 of 2)</a:t>
            </a:r>
            <a:endParaRPr lang="en-US" sz="2100" dirty="0"/>
          </a:p>
        </p:txBody>
      </p:sp>
      <p:sp>
        <p:nvSpPr>
          <p:cNvPr id="9" name="Shape 7"/>
          <p:cNvSpPr/>
          <p:nvPr/>
        </p:nvSpPr>
        <p:spPr>
          <a:xfrm>
            <a:off x="411480" y="914400"/>
            <a:ext cx="8503920" cy="0"/>
          </a:xfrm>
          <a:prstGeom prst="line">
            <a:avLst/>
          </a:prstGeom>
          <a:noFill/>
          <a:ln w="6350">
            <a:solidFill>
              <a:srgbClr val="CBD5E1"/>
            </a:solidFill>
            <a:prstDash val="solid"/>
          </a:ln>
        </p:spPr>
        <p:txBody>
          <a:bodyPr/>
          <a:lstStyle/>
          <a:p>
            <a:endParaRPr lang="en-DE"/>
          </a:p>
        </p:txBody>
      </p:sp>
      <p:sp>
        <p:nvSpPr>
          <p:cNvPr id="10" name="Shape 8"/>
          <p:cNvSpPr/>
          <p:nvPr/>
        </p:nvSpPr>
        <p:spPr>
          <a:xfrm>
            <a:off x="320040" y="987552"/>
            <a:ext cx="4343400" cy="310896"/>
          </a:xfrm>
          <a:prstGeom prst="rect">
            <a:avLst/>
          </a:prstGeom>
          <a:solidFill>
            <a:srgbClr val="FFFFFF"/>
          </a:solidFill>
          <a:ln w="2540">
            <a:solidFill>
              <a:srgbClr val="CBD5E1"/>
            </a:solidFill>
            <a:prstDash val="solid"/>
          </a:ln>
        </p:spPr>
        <p:txBody>
          <a:bodyPr/>
          <a:lstStyle/>
          <a:p>
            <a:endParaRPr lang="en-DE"/>
          </a:p>
        </p:txBody>
      </p:sp>
      <p:sp>
        <p:nvSpPr>
          <p:cNvPr id="11" name="Text 9"/>
          <p:cNvSpPr/>
          <p:nvPr/>
        </p:nvSpPr>
        <p:spPr>
          <a:xfrm>
            <a:off x="393192" y="1024128"/>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 Abs. 1 Nr. 1 UStG</a:t>
            </a:r>
            <a:endParaRPr lang="en-US" sz="780" dirty="0"/>
          </a:p>
        </p:txBody>
      </p:sp>
      <p:sp>
        <p:nvSpPr>
          <p:cNvPr id="12" name="Text 10"/>
          <p:cNvSpPr/>
          <p:nvPr/>
        </p:nvSpPr>
        <p:spPr>
          <a:xfrm>
            <a:off x="1929384" y="1024128"/>
            <a:ext cx="2651760" cy="237744"/>
          </a:xfrm>
          <a:prstGeom prst="rect">
            <a:avLst/>
          </a:prstGeom>
          <a:noFill/>
          <a:ln/>
        </p:spPr>
        <p:txBody>
          <a:bodyPr wrap="square" lIns="0" tIns="0" rIns="0" bIns="0" rtlCol="0" anchor="ctr"/>
          <a:lstStyle/>
          <a:p>
            <a:pPr marL="0" indent="0">
              <a:buNone/>
            </a:pPr>
            <a:r>
              <a:rPr lang="en-US" sz="780" dirty="0">
                <a:solidFill>
                  <a:srgbClr val="64748B"/>
                </a:solidFill>
              </a:rPr>
              <a:t>Taxability of domestic supplies of goods and services by an entrepreneur (Unternehmer) for consideration</a:t>
            </a:r>
            <a:endParaRPr lang="en-US" sz="780" dirty="0"/>
          </a:p>
        </p:txBody>
      </p:sp>
      <p:sp>
        <p:nvSpPr>
          <p:cNvPr id="13" name="Shape 11"/>
          <p:cNvSpPr/>
          <p:nvPr/>
        </p:nvSpPr>
        <p:spPr>
          <a:xfrm>
            <a:off x="320040" y="1335024"/>
            <a:ext cx="4343400" cy="310896"/>
          </a:xfrm>
          <a:prstGeom prst="rect">
            <a:avLst/>
          </a:prstGeom>
          <a:solidFill>
            <a:srgbClr val="F7F9FC"/>
          </a:solidFill>
          <a:ln w="2540">
            <a:solidFill>
              <a:srgbClr val="CBD5E1"/>
            </a:solidFill>
            <a:prstDash val="solid"/>
          </a:ln>
        </p:spPr>
        <p:txBody>
          <a:bodyPr/>
          <a:lstStyle/>
          <a:p>
            <a:endParaRPr lang="en-DE"/>
          </a:p>
        </p:txBody>
      </p:sp>
      <p:sp>
        <p:nvSpPr>
          <p:cNvPr id="14" name="Text 12"/>
          <p:cNvSpPr/>
          <p:nvPr/>
        </p:nvSpPr>
        <p:spPr>
          <a:xfrm>
            <a:off x="393192" y="1371600"/>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 Abs. 1 Nr. 4 UStG</a:t>
            </a:r>
            <a:endParaRPr lang="en-US" sz="780" dirty="0"/>
          </a:p>
        </p:txBody>
      </p:sp>
      <p:sp>
        <p:nvSpPr>
          <p:cNvPr id="15" name="Text 13"/>
          <p:cNvSpPr/>
          <p:nvPr/>
        </p:nvSpPr>
        <p:spPr>
          <a:xfrm>
            <a:off x="1929384" y="1371600"/>
            <a:ext cx="2651760" cy="237744"/>
          </a:xfrm>
          <a:prstGeom prst="rect">
            <a:avLst/>
          </a:prstGeom>
          <a:noFill/>
          <a:ln/>
        </p:spPr>
        <p:txBody>
          <a:bodyPr wrap="square" lIns="0" tIns="0" rIns="0" bIns="0" rtlCol="0" anchor="ctr"/>
          <a:lstStyle/>
          <a:p>
            <a:pPr marL="0" indent="0">
              <a:buNone/>
            </a:pPr>
            <a:r>
              <a:rPr lang="en-US" sz="780" dirty="0">
                <a:solidFill>
                  <a:srgbClr val="64748B"/>
                </a:solidFill>
              </a:rPr>
              <a:t>Taxability of importation (Einfuhr) of goods from a third-country territory (Drittlandsgebiet)</a:t>
            </a:r>
            <a:endParaRPr lang="en-US" sz="780" dirty="0"/>
          </a:p>
        </p:txBody>
      </p:sp>
      <p:sp>
        <p:nvSpPr>
          <p:cNvPr id="16" name="Shape 14"/>
          <p:cNvSpPr/>
          <p:nvPr/>
        </p:nvSpPr>
        <p:spPr>
          <a:xfrm>
            <a:off x="320040" y="1682496"/>
            <a:ext cx="4343400" cy="310896"/>
          </a:xfrm>
          <a:prstGeom prst="rect">
            <a:avLst/>
          </a:prstGeom>
          <a:solidFill>
            <a:srgbClr val="FFFFFF"/>
          </a:solidFill>
          <a:ln w="2540">
            <a:solidFill>
              <a:srgbClr val="CBD5E1"/>
            </a:solidFill>
            <a:prstDash val="solid"/>
          </a:ln>
        </p:spPr>
        <p:txBody>
          <a:bodyPr/>
          <a:lstStyle/>
          <a:p>
            <a:endParaRPr lang="en-DE"/>
          </a:p>
        </p:txBody>
      </p:sp>
      <p:sp>
        <p:nvSpPr>
          <p:cNvPr id="17" name="Text 15"/>
          <p:cNvSpPr/>
          <p:nvPr/>
        </p:nvSpPr>
        <p:spPr>
          <a:xfrm>
            <a:off x="393192" y="1719072"/>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1a UStG</a:t>
            </a:r>
            <a:endParaRPr lang="en-US" sz="780" dirty="0"/>
          </a:p>
        </p:txBody>
      </p:sp>
      <p:sp>
        <p:nvSpPr>
          <p:cNvPr id="18" name="Text 16"/>
          <p:cNvSpPr/>
          <p:nvPr/>
        </p:nvSpPr>
        <p:spPr>
          <a:xfrm>
            <a:off x="1929384" y="1719072"/>
            <a:ext cx="2651760" cy="237744"/>
          </a:xfrm>
          <a:prstGeom prst="rect">
            <a:avLst/>
          </a:prstGeom>
          <a:noFill/>
          <a:ln/>
        </p:spPr>
        <p:txBody>
          <a:bodyPr wrap="square" lIns="0" tIns="0" rIns="0" bIns="0" rtlCol="0" anchor="ctr"/>
          <a:lstStyle/>
          <a:p>
            <a:pPr marL="0" indent="0">
              <a:buNone/>
            </a:pPr>
            <a:r>
              <a:rPr lang="en-US" sz="780" dirty="0">
                <a:solidFill>
                  <a:srgbClr val="64748B"/>
                </a:solidFill>
              </a:rPr>
              <a:t>Intra-Community Acquisition (Innergemeinschaftlicher Erwerb / IGE); Abs. 2: own-goods movement fiction (not applicable here)</a:t>
            </a:r>
            <a:endParaRPr lang="en-US" sz="780" dirty="0"/>
          </a:p>
        </p:txBody>
      </p:sp>
      <p:sp>
        <p:nvSpPr>
          <p:cNvPr id="19" name="Shape 17"/>
          <p:cNvSpPr/>
          <p:nvPr/>
        </p:nvSpPr>
        <p:spPr>
          <a:xfrm>
            <a:off x="320040" y="2029968"/>
            <a:ext cx="4343400" cy="310896"/>
          </a:xfrm>
          <a:prstGeom prst="rect">
            <a:avLst/>
          </a:prstGeom>
          <a:solidFill>
            <a:srgbClr val="F7F9FC"/>
          </a:solidFill>
          <a:ln w="2540">
            <a:solidFill>
              <a:srgbClr val="CBD5E1"/>
            </a:solidFill>
            <a:prstDash val="solid"/>
          </a:ln>
        </p:spPr>
        <p:txBody>
          <a:bodyPr/>
          <a:lstStyle/>
          <a:p>
            <a:endParaRPr lang="en-DE"/>
          </a:p>
        </p:txBody>
      </p:sp>
      <p:sp>
        <p:nvSpPr>
          <p:cNvPr id="20" name="Text 18"/>
          <p:cNvSpPr/>
          <p:nvPr/>
        </p:nvSpPr>
        <p:spPr>
          <a:xfrm>
            <a:off x="393192" y="2066544"/>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3 Abs. 6 UStG</a:t>
            </a:r>
            <a:endParaRPr lang="en-US" sz="780" dirty="0"/>
          </a:p>
        </p:txBody>
      </p:sp>
      <p:sp>
        <p:nvSpPr>
          <p:cNvPr id="21" name="Text 19"/>
          <p:cNvSpPr/>
          <p:nvPr/>
        </p:nvSpPr>
        <p:spPr>
          <a:xfrm>
            <a:off x="1929384" y="2066544"/>
            <a:ext cx="2651760" cy="237744"/>
          </a:xfrm>
          <a:prstGeom prst="rect">
            <a:avLst/>
          </a:prstGeom>
          <a:noFill/>
          <a:ln/>
        </p:spPr>
        <p:txBody>
          <a:bodyPr wrap="square" lIns="0" tIns="0" rIns="0" bIns="0" rtlCol="0" anchor="ctr"/>
          <a:lstStyle/>
          <a:p>
            <a:pPr marL="0" indent="0">
              <a:buNone/>
            </a:pPr>
            <a:r>
              <a:rPr lang="en-US" sz="780" dirty="0">
                <a:solidFill>
                  <a:srgbClr val="64748B"/>
                </a:solidFill>
              </a:rPr>
              <a:t>Place of supply for transported goods - where transport or dispatch begins</a:t>
            </a:r>
            <a:endParaRPr lang="en-US" sz="780" dirty="0"/>
          </a:p>
        </p:txBody>
      </p:sp>
      <p:sp>
        <p:nvSpPr>
          <p:cNvPr id="22" name="Shape 20"/>
          <p:cNvSpPr/>
          <p:nvPr/>
        </p:nvSpPr>
        <p:spPr>
          <a:xfrm>
            <a:off x="320040" y="2377440"/>
            <a:ext cx="4343400" cy="310896"/>
          </a:xfrm>
          <a:prstGeom prst="rect">
            <a:avLst/>
          </a:prstGeom>
          <a:solidFill>
            <a:srgbClr val="FFFFFF"/>
          </a:solidFill>
          <a:ln w="2540">
            <a:solidFill>
              <a:srgbClr val="CBD5E1"/>
            </a:solidFill>
            <a:prstDash val="solid"/>
          </a:ln>
        </p:spPr>
        <p:txBody>
          <a:bodyPr/>
          <a:lstStyle/>
          <a:p>
            <a:endParaRPr lang="en-DE"/>
          </a:p>
        </p:txBody>
      </p:sp>
      <p:sp>
        <p:nvSpPr>
          <p:cNvPr id="23" name="Text 21"/>
          <p:cNvSpPr/>
          <p:nvPr/>
        </p:nvSpPr>
        <p:spPr>
          <a:xfrm>
            <a:off x="393192" y="2414016"/>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3 Abs. 8 UStG</a:t>
            </a:r>
            <a:endParaRPr lang="en-US" sz="780" dirty="0"/>
          </a:p>
        </p:txBody>
      </p:sp>
      <p:sp>
        <p:nvSpPr>
          <p:cNvPr id="24" name="Text 22"/>
          <p:cNvSpPr/>
          <p:nvPr/>
        </p:nvSpPr>
        <p:spPr>
          <a:xfrm>
            <a:off x="1929384" y="2414016"/>
            <a:ext cx="2651760" cy="237744"/>
          </a:xfrm>
          <a:prstGeom prst="rect">
            <a:avLst/>
          </a:prstGeom>
          <a:noFill/>
          <a:ln/>
        </p:spPr>
        <p:txBody>
          <a:bodyPr wrap="square" lIns="0" tIns="0" rIns="0" bIns="0" rtlCol="0" anchor="ctr"/>
          <a:lstStyle/>
          <a:p>
            <a:pPr marL="0" indent="0">
              <a:buNone/>
            </a:pPr>
            <a:r>
              <a:rPr lang="en-US" sz="780" dirty="0">
                <a:solidFill>
                  <a:srgbClr val="64748B"/>
                </a:solidFill>
              </a:rPr>
              <a:t>Place of supply for imports - country where goods released for free circulation</a:t>
            </a:r>
            <a:endParaRPr lang="en-US" sz="780" dirty="0"/>
          </a:p>
        </p:txBody>
      </p:sp>
      <p:sp>
        <p:nvSpPr>
          <p:cNvPr id="25" name="Shape 23"/>
          <p:cNvSpPr/>
          <p:nvPr/>
        </p:nvSpPr>
        <p:spPr>
          <a:xfrm>
            <a:off x="320040" y="2724912"/>
            <a:ext cx="4343400" cy="310896"/>
          </a:xfrm>
          <a:prstGeom prst="rect">
            <a:avLst/>
          </a:prstGeom>
          <a:solidFill>
            <a:srgbClr val="F7F9FC"/>
          </a:solidFill>
          <a:ln w="2540">
            <a:solidFill>
              <a:srgbClr val="CBD5E1"/>
            </a:solidFill>
            <a:prstDash val="solid"/>
          </a:ln>
        </p:spPr>
        <p:txBody>
          <a:bodyPr/>
          <a:lstStyle/>
          <a:p>
            <a:endParaRPr lang="en-DE"/>
          </a:p>
        </p:txBody>
      </p:sp>
      <p:sp>
        <p:nvSpPr>
          <p:cNvPr id="26" name="Text 24"/>
          <p:cNvSpPr/>
          <p:nvPr/>
        </p:nvSpPr>
        <p:spPr>
          <a:xfrm>
            <a:off x="393192" y="2761488"/>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3 Abs. 6 S. 5-6 UStG</a:t>
            </a:r>
            <a:endParaRPr lang="en-US" sz="780" dirty="0"/>
          </a:p>
        </p:txBody>
      </p:sp>
      <p:sp>
        <p:nvSpPr>
          <p:cNvPr id="27" name="Text 25"/>
          <p:cNvSpPr/>
          <p:nvPr/>
        </p:nvSpPr>
        <p:spPr>
          <a:xfrm>
            <a:off x="1929384" y="2761488"/>
            <a:ext cx="2651760" cy="237744"/>
          </a:xfrm>
          <a:prstGeom prst="rect">
            <a:avLst/>
          </a:prstGeom>
          <a:noFill/>
          <a:ln/>
        </p:spPr>
        <p:txBody>
          <a:bodyPr wrap="square" lIns="0" tIns="0" rIns="0" bIns="0" rtlCol="0" anchor="ctr"/>
          <a:lstStyle/>
          <a:p>
            <a:pPr marL="0" indent="0">
              <a:buNone/>
            </a:pPr>
            <a:r>
              <a:rPr lang="en-US" sz="780" dirty="0">
                <a:solidFill>
                  <a:srgbClr val="64748B"/>
                </a:solidFill>
              </a:rPr>
              <a:t>Chain transaction (Reihengeschäft) rules - allocation of transport to one supply in a chain</a:t>
            </a:r>
            <a:endParaRPr lang="en-US" sz="780" dirty="0"/>
          </a:p>
        </p:txBody>
      </p:sp>
      <p:sp>
        <p:nvSpPr>
          <p:cNvPr id="28" name="Shape 26"/>
          <p:cNvSpPr/>
          <p:nvPr/>
        </p:nvSpPr>
        <p:spPr>
          <a:xfrm>
            <a:off x="320040" y="3072384"/>
            <a:ext cx="4343400" cy="310896"/>
          </a:xfrm>
          <a:prstGeom prst="rect">
            <a:avLst/>
          </a:prstGeom>
          <a:solidFill>
            <a:srgbClr val="FFFFFF"/>
          </a:solidFill>
          <a:ln w="2540">
            <a:solidFill>
              <a:srgbClr val="CBD5E1"/>
            </a:solidFill>
            <a:prstDash val="solid"/>
          </a:ln>
        </p:spPr>
        <p:txBody>
          <a:bodyPr/>
          <a:lstStyle/>
          <a:p>
            <a:endParaRPr lang="en-DE"/>
          </a:p>
        </p:txBody>
      </p:sp>
      <p:sp>
        <p:nvSpPr>
          <p:cNvPr id="29" name="Text 27"/>
          <p:cNvSpPr/>
          <p:nvPr/>
        </p:nvSpPr>
        <p:spPr>
          <a:xfrm>
            <a:off x="393192" y="3108960"/>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3a Abs. 2 UStG</a:t>
            </a:r>
            <a:endParaRPr lang="en-US" sz="780" dirty="0"/>
          </a:p>
        </p:txBody>
      </p:sp>
      <p:sp>
        <p:nvSpPr>
          <p:cNvPr id="30" name="Text 28"/>
          <p:cNvSpPr/>
          <p:nvPr/>
        </p:nvSpPr>
        <p:spPr>
          <a:xfrm>
            <a:off x="1929384" y="3108960"/>
            <a:ext cx="2651760" cy="237744"/>
          </a:xfrm>
          <a:prstGeom prst="rect">
            <a:avLst/>
          </a:prstGeom>
          <a:noFill/>
          <a:ln/>
        </p:spPr>
        <p:txBody>
          <a:bodyPr wrap="square" lIns="0" tIns="0" rIns="0" bIns="0" rtlCol="0" anchor="ctr"/>
          <a:lstStyle/>
          <a:p>
            <a:pPr marL="0" indent="0">
              <a:buNone/>
            </a:pPr>
            <a:r>
              <a:rPr lang="en-US" sz="780" dirty="0">
                <a:solidFill>
                  <a:srgbClr val="64748B"/>
                </a:solidFill>
              </a:rPr>
              <a:t>Place of supply for B2B services - establishment of recipient customer (Empfängerortprinzip)</a:t>
            </a:r>
            <a:endParaRPr lang="en-US" sz="780" dirty="0"/>
          </a:p>
        </p:txBody>
      </p:sp>
      <p:sp>
        <p:nvSpPr>
          <p:cNvPr id="31" name="Shape 29"/>
          <p:cNvSpPr/>
          <p:nvPr/>
        </p:nvSpPr>
        <p:spPr>
          <a:xfrm>
            <a:off x="320040" y="3419856"/>
            <a:ext cx="4343400" cy="310896"/>
          </a:xfrm>
          <a:prstGeom prst="rect">
            <a:avLst/>
          </a:prstGeom>
          <a:solidFill>
            <a:srgbClr val="F7F9FC"/>
          </a:solidFill>
          <a:ln w="2540">
            <a:solidFill>
              <a:srgbClr val="CBD5E1"/>
            </a:solidFill>
            <a:prstDash val="solid"/>
          </a:ln>
        </p:spPr>
        <p:txBody>
          <a:bodyPr/>
          <a:lstStyle/>
          <a:p>
            <a:endParaRPr lang="en-DE"/>
          </a:p>
        </p:txBody>
      </p:sp>
      <p:sp>
        <p:nvSpPr>
          <p:cNvPr id="32" name="Text 30"/>
          <p:cNvSpPr/>
          <p:nvPr/>
        </p:nvSpPr>
        <p:spPr>
          <a:xfrm>
            <a:off x="393192" y="3456432"/>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4 Nr. 1b / § 6a UStG</a:t>
            </a:r>
            <a:endParaRPr lang="en-US" sz="780" dirty="0"/>
          </a:p>
        </p:txBody>
      </p:sp>
      <p:sp>
        <p:nvSpPr>
          <p:cNvPr id="33" name="Text 31"/>
          <p:cNvSpPr/>
          <p:nvPr/>
        </p:nvSpPr>
        <p:spPr>
          <a:xfrm>
            <a:off x="1929384" y="3456432"/>
            <a:ext cx="2651760" cy="237744"/>
          </a:xfrm>
          <a:prstGeom prst="rect">
            <a:avLst/>
          </a:prstGeom>
          <a:noFill/>
          <a:ln/>
        </p:spPr>
        <p:txBody>
          <a:bodyPr wrap="square" lIns="0" tIns="0" rIns="0" bIns="0" rtlCol="0" anchor="ctr"/>
          <a:lstStyle/>
          <a:p>
            <a:pPr marL="0" indent="0">
              <a:buNone/>
            </a:pPr>
            <a:r>
              <a:rPr lang="en-US" sz="780" dirty="0">
                <a:solidFill>
                  <a:srgbClr val="64748B"/>
                </a:solidFill>
              </a:rPr>
              <a:t>VAT exemption for Intra-Community Supplies (Innergemeinschaftliche Lieferung / IGL) - conditions</a:t>
            </a:r>
            <a:endParaRPr lang="en-US" sz="780" dirty="0"/>
          </a:p>
        </p:txBody>
      </p:sp>
      <p:sp>
        <p:nvSpPr>
          <p:cNvPr id="34" name="Shape 32"/>
          <p:cNvSpPr/>
          <p:nvPr/>
        </p:nvSpPr>
        <p:spPr>
          <a:xfrm>
            <a:off x="4754880" y="987552"/>
            <a:ext cx="4343400" cy="310896"/>
          </a:xfrm>
          <a:prstGeom prst="rect">
            <a:avLst/>
          </a:prstGeom>
          <a:solidFill>
            <a:srgbClr val="FFFFFF"/>
          </a:solidFill>
          <a:ln w="2540">
            <a:solidFill>
              <a:srgbClr val="CBD5E1"/>
            </a:solidFill>
            <a:prstDash val="solid"/>
          </a:ln>
        </p:spPr>
        <p:txBody>
          <a:bodyPr/>
          <a:lstStyle/>
          <a:p>
            <a:endParaRPr lang="en-DE"/>
          </a:p>
        </p:txBody>
      </p:sp>
      <p:sp>
        <p:nvSpPr>
          <p:cNvPr id="35" name="Text 33"/>
          <p:cNvSpPr/>
          <p:nvPr/>
        </p:nvSpPr>
        <p:spPr>
          <a:xfrm>
            <a:off x="4828032" y="1024128"/>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6b UStG</a:t>
            </a:r>
            <a:endParaRPr lang="en-US" sz="780" dirty="0"/>
          </a:p>
        </p:txBody>
      </p:sp>
      <p:sp>
        <p:nvSpPr>
          <p:cNvPr id="36" name="Text 34"/>
          <p:cNvSpPr/>
          <p:nvPr/>
        </p:nvSpPr>
        <p:spPr>
          <a:xfrm>
            <a:off x="6364224" y="1024128"/>
            <a:ext cx="2651760" cy="237744"/>
          </a:xfrm>
          <a:prstGeom prst="rect">
            <a:avLst/>
          </a:prstGeom>
          <a:noFill/>
          <a:ln/>
        </p:spPr>
        <p:txBody>
          <a:bodyPr wrap="square" lIns="0" tIns="0" rIns="0" bIns="0" rtlCol="0" anchor="ctr"/>
          <a:lstStyle/>
          <a:p>
            <a:pPr marL="0" indent="0">
              <a:buNone/>
            </a:pPr>
            <a:r>
              <a:rPr lang="en-US" sz="780" dirty="0">
                <a:solidFill>
                  <a:srgbClr val="64748B"/>
                </a:solidFill>
              </a:rPr>
              <a:t>Call-off Stock simplification (Call-off-Stock-Regelung) - conditions and limitations (not applicable here)</a:t>
            </a:r>
            <a:endParaRPr lang="en-US" sz="780" dirty="0"/>
          </a:p>
        </p:txBody>
      </p:sp>
      <p:sp>
        <p:nvSpPr>
          <p:cNvPr id="37" name="Shape 35"/>
          <p:cNvSpPr/>
          <p:nvPr/>
        </p:nvSpPr>
        <p:spPr>
          <a:xfrm>
            <a:off x="4754880" y="1335024"/>
            <a:ext cx="4343400" cy="310896"/>
          </a:xfrm>
          <a:prstGeom prst="rect">
            <a:avLst/>
          </a:prstGeom>
          <a:solidFill>
            <a:srgbClr val="F7F9FC"/>
          </a:solidFill>
          <a:ln w="2540">
            <a:solidFill>
              <a:srgbClr val="CBD5E1"/>
            </a:solidFill>
            <a:prstDash val="solid"/>
          </a:ln>
        </p:spPr>
        <p:txBody>
          <a:bodyPr/>
          <a:lstStyle/>
          <a:p>
            <a:endParaRPr lang="en-DE"/>
          </a:p>
        </p:txBody>
      </p:sp>
      <p:sp>
        <p:nvSpPr>
          <p:cNvPr id="38" name="Text 36"/>
          <p:cNvSpPr/>
          <p:nvPr/>
        </p:nvSpPr>
        <p:spPr>
          <a:xfrm>
            <a:off x="4828032" y="1371600"/>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10 UStG</a:t>
            </a:r>
            <a:endParaRPr lang="en-US" sz="780" dirty="0"/>
          </a:p>
        </p:txBody>
      </p:sp>
      <p:sp>
        <p:nvSpPr>
          <p:cNvPr id="39" name="Text 37"/>
          <p:cNvSpPr/>
          <p:nvPr/>
        </p:nvSpPr>
        <p:spPr>
          <a:xfrm>
            <a:off x="6364224" y="1371600"/>
            <a:ext cx="2651760" cy="237744"/>
          </a:xfrm>
          <a:prstGeom prst="rect">
            <a:avLst/>
          </a:prstGeom>
          <a:noFill/>
          <a:ln/>
        </p:spPr>
        <p:txBody>
          <a:bodyPr wrap="square" lIns="0" tIns="0" rIns="0" bIns="0" rtlCol="0" anchor="ctr"/>
          <a:lstStyle/>
          <a:p>
            <a:pPr marL="0" indent="0">
              <a:buNone/>
            </a:pPr>
            <a:r>
              <a:rPr lang="en-US" sz="780" dirty="0">
                <a:solidFill>
                  <a:srgbClr val="64748B"/>
                </a:solidFill>
              </a:rPr>
              <a:t>Taxable amount (Bemessungsgrundlage) for domestic supplies and IGE</a:t>
            </a:r>
            <a:endParaRPr lang="en-US" sz="780" dirty="0"/>
          </a:p>
        </p:txBody>
      </p:sp>
      <p:sp>
        <p:nvSpPr>
          <p:cNvPr id="40" name="Shape 38"/>
          <p:cNvSpPr/>
          <p:nvPr/>
        </p:nvSpPr>
        <p:spPr>
          <a:xfrm>
            <a:off x="4754880" y="1682496"/>
            <a:ext cx="4343400" cy="310896"/>
          </a:xfrm>
          <a:prstGeom prst="rect">
            <a:avLst/>
          </a:prstGeom>
          <a:solidFill>
            <a:srgbClr val="FFFFFF"/>
          </a:solidFill>
          <a:ln w="2540">
            <a:solidFill>
              <a:srgbClr val="CBD5E1"/>
            </a:solidFill>
            <a:prstDash val="solid"/>
          </a:ln>
        </p:spPr>
        <p:txBody>
          <a:bodyPr/>
          <a:lstStyle/>
          <a:p>
            <a:endParaRPr lang="en-DE"/>
          </a:p>
        </p:txBody>
      </p:sp>
      <p:sp>
        <p:nvSpPr>
          <p:cNvPr id="41" name="Text 39"/>
          <p:cNvSpPr/>
          <p:nvPr/>
        </p:nvSpPr>
        <p:spPr>
          <a:xfrm>
            <a:off x="4828032" y="1719072"/>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11 UStG</a:t>
            </a:r>
            <a:endParaRPr lang="en-US" sz="780" dirty="0"/>
          </a:p>
        </p:txBody>
      </p:sp>
      <p:sp>
        <p:nvSpPr>
          <p:cNvPr id="42" name="Text 40"/>
          <p:cNvSpPr/>
          <p:nvPr/>
        </p:nvSpPr>
        <p:spPr>
          <a:xfrm>
            <a:off x="6364224" y="1719072"/>
            <a:ext cx="2651760" cy="237744"/>
          </a:xfrm>
          <a:prstGeom prst="rect">
            <a:avLst/>
          </a:prstGeom>
          <a:noFill/>
          <a:ln/>
        </p:spPr>
        <p:txBody>
          <a:bodyPr wrap="square" lIns="0" tIns="0" rIns="0" bIns="0" rtlCol="0" anchor="ctr"/>
          <a:lstStyle/>
          <a:p>
            <a:pPr marL="0" indent="0">
              <a:buNone/>
            </a:pPr>
            <a:r>
              <a:rPr lang="en-US" sz="780" dirty="0">
                <a:solidFill>
                  <a:srgbClr val="64748B"/>
                </a:solidFill>
              </a:rPr>
              <a:t>Taxable amount for imports from third countries (customs value + duties + costs)</a:t>
            </a:r>
            <a:endParaRPr lang="en-US" sz="780" dirty="0"/>
          </a:p>
        </p:txBody>
      </p:sp>
      <p:sp>
        <p:nvSpPr>
          <p:cNvPr id="43" name="Shape 41"/>
          <p:cNvSpPr/>
          <p:nvPr/>
        </p:nvSpPr>
        <p:spPr>
          <a:xfrm>
            <a:off x="4754880" y="2029968"/>
            <a:ext cx="4343400" cy="310896"/>
          </a:xfrm>
          <a:prstGeom prst="rect">
            <a:avLst/>
          </a:prstGeom>
          <a:solidFill>
            <a:srgbClr val="F7F9FC"/>
          </a:solidFill>
          <a:ln w="2540">
            <a:solidFill>
              <a:srgbClr val="CBD5E1"/>
            </a:solidFill>
            <a:prstDash val="solid"/>
          </a:ln>
        </p:spPr>
        <p:txBody>
          <a:bodyPr/>
          <a:lstStyle/>
          <a:p>
            <a:endParaRPr lang="en-DE"/>
          </a:p>
        </p:txBody>
      </p:sp>
      <p:sp>
        <p:nvSpPr>
          <p:cNvPr id="44" name="Text 42"/>
          <p:cNvSpPr/>
          <p:nvPr/>
        </p:nvSpPr>
        <p:spPr>
          <a:xfrm>
            <a:off x="4828032" y="2066544"/>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12 Abs. 1 UStG</a:t>
            </a:r>
            <a:endParaRPr lang="en-US" sz="780" dirty="0"/>
          </a:p>
        </p:txBody>
      </p:sp>
      <p:sp>
        <p:nvSpPr>
          <p:cNvPr id="45" name="Text 43"/>
          <p:cNvSpPr/>
          <p:nvPr/>
        </p:nvSpPr>
        <p:spPr>
          <a:xfrm>
            <a:off x="6364224" y="2066544"/>
            <a:ext cx="2651760" cy="237744"/>
          </a:xfrm>
          <a:prstGeom prst="rect">
            <a:avLst/>
          </a:prstGeom>
          <a:noFill/>
          <a:ln/>
        </p:spPr>
        <p:txBody>
          <a:bodyPr wrap="square" lIns="0" tIns="0" rIns="0" bIns="0" rtlCol="0" anchor="ctr"/>
          <a:lstStyle/>
          <a:p>
            <a:pPr marL="0" indent="0">
              <a:buNone/>
            </a:pPr>
            <a:r>
              <a:rPr lang="en-US" sz="780" dirty="0">
                <a:solidFill>
                  <a:srgbClr val="64748B"/>
                </a:solidFill>
              </a:rPr>
              <a:t>Standard VAT rate (Regelsteuersatz): 19%</a:t>
            </a:r>
            <a:endParaRPr lang="en-US" sz="780" dirty="0"/>
          </a:p>
        </p:txBody>
      </p:sp>
      <p:sp>
        <p:nvSpPr>
          <p:cNvPr id="46" name="Shape 44"/>
          <p:cNvSpPr/>
          <p:nvPr/>
        </p:nvSpPr>
        <p:spPr>
          <a:xfrm>
            <a:off x="4754880" y="2377440"/>
            <a:ext cx="4343400" cy="310896"/>
          </a:xfrm>
          <a:prstGeom prst="rect">
            <a:avLst/>
          </a:prstGeom>
          <a:solidFill>
            <a:srgbClr val="FFFFFF"/>
          </a:solidFill>
          <a:ln w="2540">
            <a:solidFill>
              <a:srgbClr val="CBD5E1"/>
            </a:solidFill>
            <a:prstDash val="solid"/>
          </a:ln>
        </p:spPr>
        <p:txBody>
          <a:bodyPr/>
          <a:lstStyle/>
          <a:p>
            <a:endParaRPr lang="en-DE"/>
          </a:p>
        </p:txBody>
      </p:sp>
      <p:sp>
        <p:nvSpPr>
          <p:cNvPr id="47" name="Text 45"/>
          <p:cNvSpPr/>
          <p:nvPr/>
        </p:nvSpPr>
        <p:spPr>
          <a:xfrm>
            <a:off x="4828032" y="2414016"/>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12 Abs. 2 UStG</a:t>
            </a:r>
            <a:endParaRPr lang="en-US" sz="780" dirty="0"/>
          </a:p>
        </p:txBody>
      </p:sp>
      <p:sp>
        <p:nvSpPr>
          <p:cNvPr id="48" name="Text 46"/>
          <p:cNvSpPr/>
          <p:nvPr/>
        </p:nvSpPr>
        <p:spPr>
          <a:xfrm>
            <a:off x="6364224" y="2414016"/>
            <a:ext cx="2651760" cy="237744"/>
          </a:xfrm>
          <a:prstGeom prst="rect">
            <a:avLst/>
          </a:prstGeom>
          <a:noFill/>
          <a:ln/>
        </p:spPr>
        <p:txBody>
          <a:bodyPr wrap="square" lIns="0" tIns="0" rIns="0" bIns="0" rtlCol="0" anchor="ctr"/>
          <a:lstStyle/>
          <a:p>
            <a:pPr marL="0" indent="0">
              <a:buNone/>
            </a:pPr>
            <a:r>
              <a:rPr lang="en-US" sz="780" dirty="0">
                <a:solidFill>
                  <a:srgbClr val="64748B"/>
                </a:solidFill>
              </a:rPr>
              <a:t>Reduced VAT rate (ermäßigter Steuersatz): 7% - list of qualifying goods/services (not applicable here)</a:t>
            </a:r>
            <a:endParaRPr lang="en-US" sz="780" dirty="0"/>
          </a:p>
        </p:txBody>
      </p:sp>
      <p:sp>
        <p:nvSpPr>
          <p:cNvPr id="49" name="Shape 47"/>
          <p:cNvSpPr/>
          <p:nvPr/>
        </p:nvSpPr>
        <p:spPr>
          <a:xfrm>
            <a:off x="4754880" y="2724912"/>
            <a:ext cx="4343400" cy="310896"/>
          </a:xfrm>
          <a:prstGeom prst="rect">
            <a:avLst/>
          </a:prstGeom>
          <a:solidFill>
            <a:srgbClr val="F7F9FC"/>
          </a:solidFill>
          <a:ln w="2540">
            <a:solidFill>
              <a:srgbClr val="CBD5E1"/>
            </a:solidFill>
            <a:prstDash val="solid"/>
          </a:ln>
        </p:spPr>
        <p:txBody>
          <a:bodyPr/>
          <a:lstStyle/>
          <a:p>
            <a:endParaRPr lang="en-DE"/>
          </a:p>
        </p:txBody>
      </p:sp>
      <p:sp>
        <p:nvSpPr>
          <p:cNvPr id="50" name="Text 48"/>
          <p:cNvSpPr/>
          <p:nvPr/>
        </p:nvSpPr>
        <p:spPr>
          <a:xfrm>
            <a:off x="4828032" y="2761488"/>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13 Abs. 1 Nr. 1a UStG</a:t>
            </a:r>
            <a:endParaRPr lang="en-US" sz="780" dirty="0"/>
          </a:p>
        </p:txBody>
      </p:sp>
      <p:sp>
        <p:nvSpPr>
          <p:cNvPr id="51" name="Text 49"/>
          <p:cNvSpPr/>
          <p:nvPr/>
        </p:nvSpPr>
        <p:spPr>
          <a:xfrm>
            <a:off x="6364224" y="2761488"/>
            <a:ext cx="2651760" cy="237744"/>
          </a:xfrm>
          <a:prstGeom prst="rect">
            <a:avLst/>
          </a:prstGeom>
          <a:noFill/>
          <a:ln/>
        </p:spPr>
        <p:txBody>
          <a:bodyPr wrap="square" lIns="0" tIns="0" rIns="0" bIns="0" rtlCol="0" anchor="ctr"/>
          <a:lstStyle/>
          <a:p>
            <a:pPr marL="0" indent="0">
              <a:buNone/>
            </a:pPr>
            <a:r>
              <a:rPr lang="en-US" sz="780" dirty="0">
                <a:solidFill>
                  <a:srgbClr val="64748B"/>
                </a:solidFill>
              </a:rPr>
              <a:t>Time of taxation for supplies - upon performance; advance payments create earlier VAT point</a:t>
            </a:r>
            <a:endParaRPr lang="en-US" sz="780" dirty="0"/>
          </a:p>
        </p:txBody>
      </p:sp>
      <p:sp>
        <p:nvSpPr>
          <p:cNvPr id="52" name="Shape 50"/>
          <p:cNvSpPr/>
          <p:nvPr/>
        </p:nvSpPr>
        <p:spPr>
          <a:xfrm>
            <a:off x="4754880" y="3072384"/>
            <a:ext cx="4343400" cy="310896"/>
          </a:xfrm>
          <a:prstGeom prst="rect">
            <a:avLst/>
          </a:prstGeom>
          <a:solidFill>
            <a:srgbClr val="FFFFFF"/>
          </a:solidFill>
          <a:ln w="2540">
            <a:solidFill>
              <a:srgbClr val="CBD5E1"/>
            </a:solidFill>
            <a:prstDash val="solid"/>
          </a:ln>
        </p:spPr>
        <p:txBody>
          <a:bodyPr/>
          <a:lstStyle/>
          <a:p>
            <a:endParaRPr lang="en-DE"/>
          </a:p>
        </p:txBody>
      </p:sp>
      <p:sp>
        <p:nvSpPr>
          <p:cNvPr id="53" name="Text 51"/>
          <p:cNvSpPr/>
          <p:nvPr/>
        </p:nvSpPr>
        <p:spPr>
          <a:xfrm>
            <a:off x="4828032" y="3108960"/>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13 Abs. 1 Nr. 8 UStG</a:t>
            </a:r>
            <a:endParaRPr lang="en-US" sz="780" dirty="0"/>
          </a:p>
        </p:txBody>
      </p:sp>
      <p:sp>
        <p:nvSpPr>
          <p:cNvPr id="54" name="Text 52"/>
          <p:cNvSpPr/>
          <p:nvPr/>
        </p:nvSpPr>
        <p:spPr>
          <a:xfrm>
            <a:off x="6364224" y="3108960"/>
            <a:ext cx="2651760" cy="237744"/>
          </a:xfrm>
          <a:prstGeom prst="rect">
            <a:avLst/>
          </a:prstGeom>
          <a:noFill/>
          <a:ln/>
        </p:spPr>
        <p:txBody>
          <a:bodyPr wrap="square" lIns="0" tIns="0" rIns="0" bIns="0" rtlCol="0" anchor="ctr"/>
          <a:lstStyle/>
          <a:p>
            <a:pPr marL="0" indent="0">
              <a:buNone/>
            </a:pPr>
            <a:r>
              <a:rPr lang="en-US" sz="780" dirty="0">
                <a:solidFill>
                  <a:srgbClr val="64748B"/>
                </a:solidFill>
              </a:rPr>
              <a:t>Time of taxation for IGE - 15th of month following acquisition, or invoice date if earlier</a:t>
            </a:r>
            <a:endParaRPr lang="en-US" sz="7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292608" cy="4892040"/>
          </a:xfrm>
          <a:prstGeom prst="rect">
            <a:avLst/>
          </a:prstGeom>
          <a:solidFill>
            <a:srgbClr val="64748B"/>
          </a:solidFill>
          <a:ln w="12700">
            <a:solidFill>
              <a:srgbClr val="64748B"/>
            </a:solidFill>
            <a:prstDash val="solid"/>
          </a:ln>
        </p:spPr>
        <p:txBody>
          <a:bodyPr/>
          <a:lstStyle/>
          <a:p>
            <a:endParaRPr lang="en-DE"/>
          </a:p>
        </p:txBody>
      </p:sp>
      <p:sp>
        <p:nvSpPr>
          <p:cNvPr id="3" name="Shape 1"/>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DE"/>
          </a:p>
        </p:txBody>
      </p:sp>
      <p:sp>
        <p:nvSpPr>
          <p:cNvPr id="4" name="Text 2"/>
          <p:cNvSpPr/>
          <p:nvPr/>
        </p:nvSpPr>
        <p:spPr>
          <a:xfrm>
            <a:off x="274320" y="4892040"/>
            <a:ext cx="6858000" cy="251460"/>
          </a:xfrm>
          <a:prstGeom prst="rect">
            <a:avLst/>
          </a:prstGeom>
          <a:noFill/>
          <a:ln/>
        </p:spPr>
        <p:txBody>
          <a:bodyPr wrap="square" lIns="0" tIns="0" rIns="0" bIns="0" rtlCol="0" anchor="ctr"/>
          <a:lstStyle/>
          <a:p>
            <a:pPr marL="0" indent="0">
              <a:buNone/>
            </a:pPr>
            <a:r>
              <a:rPr lang="en-US" sz="700" dirty="0">
                <a:solidFill>
                  <a:srgbClr val="8899BB"/>
                </a:solidFill>
              </a:rPr>
              <a:t>CONFIDENTIAL  |  Europa-Universität Viadrina × Deloitte  |  Group I</a:t>
            </a:r>
            <a:endParaRPr lang="en-US" sz="700" dirty="0"/>
          </a:p>
        </p:txBody>
      </p:sp>
      <p:sp>
        <p:nvSpPr>
          <p:cNvPr id="5" name="Text 3"/>
          <p:cNvSpPr/>
          <p:nvPr/>
        </p:nvSpPr>
        <p:spPr>
          <a:xfrm>
            <a:off x="6400800" y="4892040"/>
            <a:ext cx="1828800" cy="251460"/>
          </a:xfrm>
          <a:prstGeom prst="rect">
            <a:avLst/>
          </a:prstGeom>
          <a:noFill/>
          <a:ln/>
        </p:spPr>
        <p:txBody>
          <a:bodyPr wrap="square" lIns="0" tIns="0" rIns="0" bIns="0" rtlCol="0" anchor="ctr"/>
          <a:lstStyle/>
          <a:p>
            <a:pPr marL="0" indent="0" algn="ctr">
              <a:buNone/>
            </a:pPr>
            <a:r>
              <a:rPr lang="en-US" sz="700" dirty="0">
                <a:solidFill>
                  <a:srgbClr val="6688AA"/>
                </a:solidFill>
              </a:rPr>
              <a:t>APPENDIX</a:t>
            </a:r>
            <a:endParaRPr lang="en-US" sz="7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r">
              <a:buNone/>
            </a:pPr>
            <a:r>
              <a:rPr lang="en-US" sz="700" dirty="0">
                <a:solidFill>
                  <a:srgbClr val="8899BB"/>
                </a:solidFill>
              </a:rPr>
              <a:t>23 / 23</a:t>
            </a:r>
            <a:endParaRPr lang="en-US" sz="700" dirty="0"/>
          </a:p>
        </p:txBody>
      </p:sp>
      <p:sp>
        <p:nvSpPr>
          <p:cNvPr id="7" name="Text 5"/>
          <p:cNvSpPr/>
          <p:nvPr/>
        </p:nvSpPr>
        <p:spPr>
          <a:xfrm>
            <a:off x="411480" y="137160"/>
            <a:ext cx="6400800" cy="201168"/>
          </a:xfrm>
          <a:prstGeom prst="rect">
            <a:avLst/>
          </a:prstGeom>
          <a:noFill/>
          <a:ln/>
        </p:spPr>
        <p:txBody>
          <a:bodyPr wrap="square" lIns="0" tIns="0" rIns="0" bIns="0" rtlCol="0" anchor="ctr"/>
          <a:lstStyle/>
          <a:p>
            <a:pPr marL="0" indent="0">
              <a:buNone/>
            </a:pPr>
            <a:r>
              <a:rPr lang="en-US" sz="800" b="1" kern="0" spc="200" dirty="0">
                <a:solidFill>
                  <a:srgbClr val="64748B"/>
                </a:solidFill>
              </a:rPr>
              <a:t>10 | Appendix</a:t>
            </a:r>
            <a:endParaRPr lang="en-US" sz="800" dirty="0"/>
          </a:p>
        </p:txBody>
      </p:sp>
      <p:sp>
        <p:nvSpPr>
          <p:cNvPr id="8" name="Text 6"/>
          <p:cNvSpPr/>
          <p:nvPr/>
        </p:nvSpPr>
        <p:spPr>
          <a:xfrm>
            <a:off x="411480" y="338328"/>
            <a:ext cx="8046720" cy="502920"/>
          </a:xfrm>
          <a:prstGeom prst="rect">
            <a:avLst/>
          </a:prstGeom>
          <a:noFill/>
          <a:ln/>
        </p:spPr>
        <p:txBody>
          <a:bodyPr wrap="square" lIns="0" tIns="0" rIns="0" bIns="0" rtlCol="0" anchor="ctr"/>
          <a:lstStyle/>
          <a:p>
            <a:pPr marL="0" indent="0">
              <a:buNone/>
            </a:pPr>
            <a:r>
              <a:rPr lang="en-US" sz="2100" b="1" dirty="0">
                <a:solidFill>
                  <a:srgbClr val="0A1628"/>
                </a:solidFill>
              </a:rPr>
              <a:t>Legal Reference Index (Part 2 of 2)</a:t>
            </a:r>
            <a:endParaRPr lang="en-US" sz="2100" dirty="0"/>
          </a:p>
        </p:txBody>
      </p:sp>
      <p:sp>
        <p:nvSpPr>
          <p:cNvPr id="9" name="Shape 7"/>
          <p:cNvSpPr/>
          <p:nvPr/>
        </p:nvSpPr>
        <p:spPr>
          <a:xfrm>
            <a:off x="411480" y="914400"/>
            <a:ext cx="8503920" cy="0"/>
          </a:xfrm>
          <a:prstGeom prst="line">
            <a:avLst/>
          </a:prstGeom>
          <a:noFill/>
          <a:ln w="6350">
            <a:solidFill>
              <a:srgbClr val="CBD5E1"/>
            </a:solidFill>
            <a:prstDash val="solid"/>
          </a:ln>
        </p:spPr>
        <p:txBody>
          <a:bodyPr/>
          <a:lstStyle/>
          <a:p>
            <a:endParaRPr lang="en-DE"/>
          </a:p>
        </p:txBody>
      </p:sp>
      <p:sp>
        <p:nvSpPr>
          <p:cNvPr id="10" name="Shape 8"/>
          <p:cNvSpPr/>
          <p:nvPr/>
        </p:nvSpPr>
        <p:spPr>
          <a:xfrm>
            <a:off x="320040" y="987552"/>
            <a:ext cx="4343400" cy="310896"/>
          </a:xfrm>
          <a:prstGeom prst="rect">
            <a:avLst/>
          </a:prstGeom>
          <a:solidFill>
            <a:srgbClr val="FFFFFF"/>
          </a:solidFill>
          <a:ln w="2540">
            <a:solidFill>
              <a:srgbClr val="CBD5E1"/>
            </a:solidFill>
            <a:prstDash val="solid"/>
          </a:ln>
        </p:spPr>
        <p:txBody>
          <a:bodyPr/>
          <a:lstStyle/>
          <a:p>
            <a:endParaRPr lang="en-DE"/>
          </a:p>
        </p:txBody>
      </p:sp>
      <p:sp>
        <p:nvSpPr>
          <p:cNvPr id="11" name="Text 9"/>
          <p:cNvSpPr/>
          <p:nvPr/>
        </p:nvSpPr>
        <p:spPr>
          <a:xfrm>
            <a:off x="393192" y="1024128"/>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13a UStG</a:t>
            </a:r>
            <a:endParaRPr lang="en-US" sz="780" dirty="0"/>
          </a:p>
        </p:txBody>
      </p:sp>
      <p:sp>
        <p:nvSpPr>
          <p:cNvPr id="12" name="Text 10"/>
          <p:cNvSpPr/>
          <p:nvPr/>
        </p:nvSpPr>
        <p:spPr>
          <a:xfrm>
            <a:off x="1929384" y="1024128"/>
            <a:ext cx="2651760" cy="237744"/>
          </a:xfrm>
          <a:prstGeom prst="rect">
            <a:avLst/>
          </a:prstGeom>
          <a:noFill/>
          <a:ln/>
        </p:spPr>
        <p:txBody>
          <a:bodyPr wrap="square" lIns="0" tIns="0" rIns="0" bIns="0" rtlCol="0" anchor="ctr"/>
          <a:lstStyle/>
          <a:p>
            <a:pPr marL="0" indent="0">
              <a:buNone/>
            </a:pPr>
            <a:r>
              <a:rPr lang="en-US" sz="780" dirty="0">
                <a:solidFill>
                  <a:srgbClr val="64748B"/>
                </a:solidFill>
              </a:rPr>
              <a:t>Person liable for VAT - generally the supplying entrepreneur (leistender Unternehmer) or importer of record</a:t>
            </a:r>
            <a:endParaRPr lang="en-US" sz="780" dirty="0"/>
          </a:p>
        </p:txBody>
      </p:sp>
      <p:sp>
        <p:nvSpPr>
          <p:cNvPr id="13" name="Shape 11"/>
          <p:cNvSpPr/>
          <p:nvPr/>
        </p:nvSpPr>
        <p:spPr>
          <a:xfrm>
            <a:off x="320040" y="1335024"/>
            <a:ext cx="4343400" cy="310896"/>
          </a:xfrm>
          <a:prstGeom prst="rect">
            <a:avLst/>
          </a:prstGeom>
          <a:solidFill>
            <a:srgbClr val="F7F9FC"/>
          </a:solidFill>
          <a:ln w="2540">
            <a:solidFill>
              <a:srgbClr val="CBD5E1"/>
            </a:solidFill>
            <a:prstDash val="solid"/>
          </a:ln>
        </p:spPr>
        <p:txBody>
          <a:bodyPr/>
          <a:lstStyle/>
          <a:p>
            <a:endParaRPr lang="en-DE"/>
          </a:p>
        </p:txBody>
      </p:sp>
      <p:sp>
        <p:nvSpPr>
          <p:cNvPr id="14" name="Text 12"/>
          <p:cNvSpPr/>
          <p:nvPr/>
        </p:nvSpPr>
        <p:spPr>
          <a:xfrm>
            <a:off x="393192" y="1371600"/>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13b UStG</a:t>
            </a:r>
            <a:endParaRPr lang="en-US" sz="780" dirty="0"/>
          </a:p>
        </p:txBody>
      </p:sp>
      <p:sp>
        <p:nvSpPr>
          <p:cNvPr id="15" name="Text 13"/>
          <p:cNvSpPr/>
          <p:nvPr/>
        </p:nvSpPr>
        <p:spPr>
          <a:xfrm>
            <a:off x="1929384" y="1371600"/>
            <a:ext cx="2651760" cy="237744"/>
          </a:xfrm>
          <a:prstGeom prst="rect">
            <a:avLst/>
          </a:prstGeom>
          <a:noFill/>
          <a:ln/>
        </p:spPr>
        <p:txBody>
          <a:bodyPr wrap="square" lIns="0" tIns="0" rIns="0" bIns="0" rtlCol="0" anchor="ctr"/>
          <a:lstStyle/>
          <a:p>
            <a:pPr marL="0" indent="0">
              <a:buNone/>
            </a:pPr>
            <a:r>
              <a:rPr lang="en-US" sz="780" dirty="0">
                <a:solidFill>
                  <a:srgbClr val="64748B"/>
                </a:solidFill>
              </a:rPr>
              <a:t>Reverse-Charge Procedure (Steuerschuldnerschaft des Leistungsempfängers) - cases and conditions</a:t>
            </a:r>
            <a:endParaRPr lang="en-US" sz="780" dirty="0"/>
          </a:p>
        </p:txBody>
      </p:sp>
      <p:sp>
        <p:nvSpPr>
          <p:cNvPr id="16" name="Shape 14"/>
          <p:cNvSpPr/>
          <p:nvPr/>
        </p:nvSpPr>
        <p:spPr>
          <a:xfrm>
            <a:off x="320040" y="1682496"/>
            <a:ext cx="4343400" cy="310896"/>
          </a:xfrm>
          <a:prstGeom prst="rect">
            <a:avLst/>
          </a:prstGeom>
          <a:solidFill>
            <a:srgbClr val="FFFFFF"/>
          </a:solidFill>
          <a:ln w="2540">
            <a:solidFill>
              <a:srgbClr val="CBD5E1"/>
            </a:solidFill>
            <a:prstDash val="solid"/>
          </a:ln>
        </p:spPr>
        <p:txBody>
          <a:bodyPr/>
          <a:lstStyle/>
          <a:p>
            <a:endParaRPr lang="en-DE"/>
          </a:p>
        </p:txBody>
      </p:sp>
      <p:sp>
        <p:nvSpPr>
          <p:cNvPr id="17" name="Text 15"/>
          <p:cNvSpPr/>
          <p:nvPr/>
        </p:nvSpPr>
        <p:spPr>
          <a:xfrm>
            <a:off x="393192" y="1719072"/>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14 UStG</a:t>
            </a:r>
            <a:endParaRPr lang="en-US" sz="780" dirty="0"/>
          </a:p>
        </p:txBody>
      </p:sp>
      <p:sp>
        <p:nvSpPr>
          <p:cNvPr id="18" name="Text 16"/>
          <p:cNvSpPr/>
          <p:nvPr/>
        </p:nvSpPr>
        <p:spPr>
          <a:xfrm>
            <a:off x="1929384" y="1719072"/>
            <a:ext cx="2651760" cy="237744"/>
          </a:xfrm>
          <a:prstGeom prst="rect">
            <a:avLst/>
          </a:prstGeom>
          <a:noFill/>
          <a:ln/>
        </p:spPr>
        <p:txBody>
          <a:bodyPr wrap="square" lIns="0" tIns="0" rIns="0" bIns="0" rtlCol="0" anchor="ctr"/>
          <a:lstStyle/>
          <a:p>
            <a:pPr marL="0" indent="0">
              <a:buNone/>
            </a:pPr>
            <a:r>
              <a:rPr lang="en-US" sz="780" dirty="0">
                <a:solidFill>
                  <a:srgbClr val="64748B"/>
                </a:solidFill>
              </a:rPr>
              <a:t>Invoice obligations - mandatory elements (§ 14 Abs. 4), e-invoice requirement (§ 14 Abs. 2), Leistungszeitraum</a:t>
            </a:r>
            <a:endParaRPr lang="en-US" sz="780" dirty="0"/>
          </a:p>
        </p:txBody>
      </p:sp>
      <p:sp>
        <p:nvSpPr>
          <p:cNvPr id="19" name="Shape 17"/>
          <p:cNvSpPr/>
          <p:nvPr/>
        </p:nvSpPr>
        <p:spPr>
          <a:xfrm>
            <a:off x="320040" y="2029968"/>
            <a:ext cx="4343400" cy="310896"/>
          </a:xfrm>
          <a:prstGeom prst="rect">
            <a:avLst/>
          </a:prstGeom>
          <a:solidFill>
            <a:srgbClr val="F7F9FC"/>
          </a:solidFill>
          <a:ln w="2540">
            <a:solidFill>
              <a:srgbClr val="CBD5E1"/>
            </a:solidFill>
            <a:prstDash val="solid"/>
          </a:ln>
        </p:spPr>
        <p:txBody>
          <a:bodyPr/>
          <a:lstStyle/>
          <a:p>
            <a:endParaRPr lang="en-DE"/>
          </a:p>
        </p:txBody>
      </p:sp>
      <p:sp>
        <p:nvSpPr>
          <p:cNvPr id="20" name="Text 18"/>
          <p:cNvSpPr/>
          <p:nvPr/>
        </p:nvSpPr>
        <p:spPr>
          <a:xfrm>
            <a:off x="393192" y="2066544"/>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15 UStG</a:t>
            </a:r>
            <a:endParaRPr lang="en-US" sz="780" dirty="0"/>
          </a:p>
        </p:txBody>
      </p:sp>
      <p:sp>
        <p:nvSpPr>
          <p:cNvPr id="21" name="Text 19"/>
          <p:cNvSpPr/>
          <p:nvPr/>
        </p:nvSpPr>
        <p:spPr>
          <a:xfrm>
            <a:off x="1929384" y="2066544"/>
            <a:ext cx="2651760" cy="237744"/>
          </a:xfrm>
          <a:prstGeom prst="rect">
            <a:avLst/>
          </a:prstGeom>
          <a:noFill/>
          <a:ln/>
        </p:spPr>
        <p:txBody>
          <a:bodyPr wrap="square" lIns="0" tIns="0" rIns="0" bIns="0" rtlCol="0" anchor="ctr"/>
          <a:lstStyle/>
          <a:p>
            <a:pPr marL="0" indent="0">
              <a:buNone/>
            </a:pPr>
            <a:r>
              <a:rPr lang="en-US" sz="780" dirty="0">
                <a:solidFill>
                  <a:srgbClr val="64748B"/>
                </a:solidFill>
              </a:rPr>
              <a:t>Input VAT deduction (Vorsteuerabzug) - conditions, restrictions and right of deduction for ICS and imports</a:t>
            </a:r>
            <a:endParaRPr lang="en-US" sz="780" dirty="0"/>
          </a:p>
        </p:txBody>
      </p:sp>
      <p:sp>
        <p:nvSpPr>
          <p:cNvPr id="22" name="Shape 20"/>
          <p:cNvSpPr/>
          <p:nvPr/>
        </p:nvSpPr>
        <p:spPr>
          <a:xfrm>
            <a:off x="320040" y="2377440"/>
            <a:ext cx="4343400" cy="310896"/>
          </a:xfrm>
          <a:prstGeom prst="rect">
            <a:avLst/>
          </a:prstGeom>
          <a:solidFill>
            <a:srgbClr val="FFFFFF"/>
          </a:solidFill>
          <a:ln w="2540">
            <a:solidFill>
              <a:srgbClr val="CBD5E1"/>
            </a:solidFill>
            <a:prstDash val="solid"/>
          </a:ln>
        </p:spPr>
        <p:txBody>
          <a:bodyPr/>
          <a:lstStyle/>
          <a:p>
            <a:endParaRPr lang="en-DE"/>
          </a:p>
        </p:txBody>
      </p:sp>
      <p:sp>
        <p:nvSpPr>
          <p:cNvPr id="23" name="Text 21"/>
          <p:cNvSpPr/>
          <p:nvPr/>
        </p:nvSpPr>
        <p:spPr>
          <a:xfrm>
            <a:off x="393192" y="2414016"/>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19 UStG</a:t>
            </a:r>
            <a:endParaRPr lang="en-US" sz="780" dirty="0"/>
          </a:p>
        </p:txBody>
      </p:sp>
      <p:sp>
        <p:nvSpPr>
          <p:cNvPr id="24" name="Text 22"/>
          <p:cNvSpPr/>
          <p:nvPr/>
        </p:nvSpPr>
        <p:spPr>
          <a:xfrm>
            <a:off x="1929384" y="2414016"/>
            <a:ext cx="2651760" cy="237744"/>
          </a:xfrm>
          <a:prstGeom prst="rect">
            <a:avLst/>
          </a:prstGeom>
          <a:noFill/>
          <a:ln/>
        </p:spPr>
        <p:txBody>
          <a:bodyPr wrap="square" lIns="0" tIns="0" rIns="0" bIns="0" rtlCol="0" anchor="ctr"/>
          <a:lstStyle/>
          <a:p>
            <a:pPr marL="0" indent="0">
              <a:buNone/>
            </a:pPr>
            <a:r>
              <a:rPr lang="en-US" sz="780" dirty="0">
                <a:solidFill>
                  <a:srgbClr val="64748B"/>
                </a:solidFill>
              </a:rPr>
              <a:t>Small business exemption (Kleinunternehmerregelung) - inapplicable to Strabam AG (turnover &gt;€800K)</a:t>
            </a:r>
            <a:endParaRPr lang="en-US" sz="780" dirty="0"/>
          </a:p>
        </p:txBody>
      </p:sp>
      <p:sp>
        <p:nvSpPr>
          <p:cNvPr id="25" name="Shape 23"/>
          <p:cNvSpPr/>
          <p:nvPr/>
        </p:nvSpPr>
        <p:spPr>
          <a:xfrm>
            <a:off x="320040" y="2724912"/>
            <a:ext cx="4343400" cy="310896"/>
          </a:xfrm>
          <a:prstGeom prst="rect">
            <a:avLst/>
          </a:prstGeom>
          <a:solidFill>
            <a:srgbClr val="F7F9FC"/>
          </a:solidFill>
          <a:ln w="2540">
            <a:solidFill>
              <a:srgbClr val="CBD5E1"/>
            </a:solidFill>
            <a:prstDash val="solid"/>
          </a:ln>
        </p:spPr>
        <p:txBody>
          <a:bodyPr/>
          <a:lstStyle/>
          <a:p>
            <a:endParaRPr lang="en-DE"/>
          </a:p>
        </p:txBody>
      </p:sp>
      <p:sp>
        <p:nvSpPr>
          <p:cNvPr id="26" name="Text 24"/>
          <p:cNvSpPr/>
          <p:nvPr/>
        </p:nvSpPr>
        <p:spPr>
          <a:xfrm>
            <a:off x="393192" y="2761488"/>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21 Abs. 2 UStG</a:t>
            </a:r>
            <a:endParaRPr lang="en-US" sz="780" dirty="0"/>
          </a:p>
        </p:txBody>
      </p:sp>
      <p:sp>
        <p:nvSpPr>
          <p:cNvPr id="27" name="Text 25"/>
          <p:cNvSpPr/>
          <p:nvPr/>
        </p:nvSpPr>
        <p:spPr>
          <a:xfrm>
            <a:off x="1929384" y="2761488"/>
            <a:ext cx="2651760" cy="237744"/>
          </a:xfrm>
          <a:prstGeom prst="rect">
            <a:avLst/>
          </a:prstGeom>
          <a:noFill/>
          <a:ln/>
        </p:spPr>
        <p:txBody>
          <a:bodyPr wrap="square" lIns="0" tIns="0" rIns="0" bIns="0" rtlCol="0" anchor="ctr"/>
          <a:lstStyle/>
          <a:p>
            <a:pPr marL="0" indent="0">
              <a:buNone/>
            </a:pPr>
            <a:r>
              <a:rPr lang="en-US" sz="780" dirty="0">
                <a:solidFill>
                  <a:srgbClr val="64748B"/>
                </a:solidFill>
              </a:rPr>
              <a:t>Import VAT (Einfuhrumsatzsteuer / EUSt) - time of taxation upon customs release (§ 21 Abs. 2 + Art. 77 UZK)</a:t>
            </a:r>
            <a:endParaRPr lang="en-US" sz="780" dirty="0"/>
          </a:p>
        </p:txBody>
      </p:sp>
      <p:sp>
        <p:nvSpPr>
          <p:cNvPr id="28" name="Shape 26"/>
          <p:cNvSpPr/>
          <p:nvPr/>
        </p:nvSpPr>
        <p:spPr>
          <a:xfrm>
            <a:off x="320040" y="3072384"/>
            <a:ext cx="4343400" cy="310896"/>
          </a:xfrm>
          <a:prstGeom prst="rect">
            <a:avLst/>
          </a:prstGeom>
          <a:solidFill>
            <a:srgbClr val="FFFFFF"/>
          </a:solidFill>
          <a:ln w="2540">
            <a:solidFill>
              <a:srgbClr val="CBD5E1"/>
            </a:solidFill>
            <a:prstDash val="solid"/>
          </a:ln>
        </p:spPr>
        <p:txBody>
          <a:bodyPr/>
          <a:lstStyle/>
          <a:p>
            <a:endParaRPr lang="en-DE"/>
          </a:p>
        </p:txBody>
      </p:sp>
      <p:sp>
        <p:nvSpPr>
          <p:cNvPr id="29" name="Text 27"/>
          <p:cNvSpPr/>
          <p:nvPr/>
        </p:nvSpPr>
        <p:spPr>
          <a:xfrm>
            <a:off x="393192" y="3108960"/>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27 Abs. 38 UStG</a:t>
            </a:r>
            <a:endParaRPr lang="en-US" sz="780" dirty="0"/>
          </a:p>
        </p:txBody>
      </p:sp>
      <p:sp>
        <p:nvSpPr>
          <p:cNvPr id="30" name="Text 28"/>
          <p:cNvSpPr/>
          <p:nvPr/>
        </p:nvSpPr>
        <p:spPr>
          <a:xfrm>
            <a:off x="1929384" y="3108960"/>
            <a:ext cx="2651760" cy="237744"/>
          </a:xfrm>
          <a:prstGeom prst="rect">
            <a:avLst/>
          </a:prstGeom>
          <a:noFill/>
          <a:ln/>
        </p:spPr>
        <p:txBody>
          <a:bodyPr wrap="square" lIns="0" tIns="0" rIns="0" bIns="0" rtlCol="0" anchor="ctr"/>
          <a:lstStyle/>
          <a:p>
            <a:pPr marL="0" indent="0">
              <a:buNone/>
            </a:pPr>
            <a:r>
              <a:rPr lang="en-US" sz="780" dirty="0">
                <a:solidFill>
                  <a:srgbClr val="64748B"/>
                </a:solidFill>
              </a:rPr>
              <a:t>Transitional provisions for e-invoicing obligations - Nr. 1: paper until end 2026; Nr. 2: &gt;€800K from 2027</a:t>
            </a:r>
            <a:endParaRPr lang="en-US" sz="780" dirty="0"/>
          </a:p>
        </p:txBody>
      </p:sp>
      <p:sp>
        <p:nvSpPr>
          <p:cNvPr id="31" name="Shape 29"/>
          <p:cNvSpPr/>
          <p:nvPr/>
        </p:nvSpPr>
        <p:spPr>
          <a:xfrm>
            <a:off x="320040" y="3419856"/>
            <a:ext cx="4343400" cy="310896"/>
          </a:xfrm>
          <a:prstGeom prst="rect">
            <a:avLst/>
          </a:prstGeom>
          <a:solidFill>
            <a:srgbClr val="F7F9FC"/>
          </a:solidFill>
          <a:ln w="2540">
            <a:solidFill>
              <a:srgbClr val="CBD5E1"/>
            </a:solidFill>
            <a:prstDash val="solid"/>
          </a:ln>
        </p:spPr>
        <p:txBody>
          <a:bodyPr/>
          <a:lstStyle/>
          <a:p>
            <a:endParaRPr lang="en-DE"/>
          </a:p>
        </p:txBody>
      </p:sp>
      <p:sp>
        <p:nvSpPr>
          <p:cNvPr id="32" name="Text 30"/>
          <p:cNvSpPr/>
          <p:nvPr/>
        </p:nvSpPr>
        <p:spPr>
          <a:xfrm>
            <a:off x="393192" y="3456432"/>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33 S. 4 UStDV</a:t>
            </a:r>
            <a:endParaRPr lang="en-US" sz="780" dirty="0"/>
          </a:p>
        </p:txBody>
      </p:sp>
      <p:sp>
        <p:nvSpPr>
          <p:cNvPr id="33" name="Text 31"/>
          <p:cNvSpPr/>
          <p:nvPr/>
        </p:nvSpPr>
        <p:spPr>
          <a:xfrm>
            <a:off x="1929384" y="3456432"/>
            <a:ext cx="2651760" cy="237744"/>
          </a:xfrm>
          <a:prstGeom prst="rect">
            <a:avLst/>
          </a:prstGeom>
          <a:noFill/>
          <a:ln/>
        </p:spPr>
        <p:txBody>
          <a:bodyPr wrap="square" lIns="0" tIns="0" rIns="0" bIns="0" rtlCol="0" anchor="ctr"/>
          <a:lstStyle/>
          <a:p>
            <a:pPr marL="0" indent="0">
              <a:buNone/>
            </a:pPr>
            <a:r>
              <a:rPr lang="en-US" sz="780" dirty="0">
                <a:solidFill>
                  <a:srgbClr val="64748B"/>
                </a:solidFill>
              </a:rPr>
              <a:t>Small-amount invoice exception (Kleinbetragsrechnung) ≤€250 - exempt from e-invoice obligation</a:t>
            </a:r>
            <a:endParaRPr lang="en-US" sz="780" dirty="0"/>
          </a:p>
        </p:txBody>
      </p:sp>
      <p:sp>
        <p:nvSpPr>
          <p:cNvPr id="34" name="Shape 32"/>
          <p:cNvSpPr/>
          <p:nvPr/>
        </p:nvSpPr>
        <p:spPr>
          <a:xfrm>
            <a:off x="4754880" y="987552"/>
            <a:ext cx="4343400" cy="310896"/>
          </a:xfrm>
          <a:prstGeom prst="rect">
            <a:avLst/>
          </a:prstGeom>
          <a:solidFill>
            <a:srgbClr val="FFFFFF"/>
          </a:solidFill>
          <a:ln w="2540">
            <a:solidFill>
              <a:srgbClr val="CBD5E1"/>
            </a:solidFill>
            <a:prstDash val="solid"/>
          </a:ln>
        </p:spPr>
        <p:txBody>
          <a:bodyPr/>
          <a:lstStyle/>
          <a:p>
            <a:endParaRPr lang="en-DE"/>
          </a:p>
        </p:txBody>
      </p:sp>
      <p:sp>
        <p:nvSpPr>
          <p:cNvPr id="35" name="Text 33"/>
          <p:cNvSpPr/>
          <p:nvPr/>
        </p:nvSpPr>
        <p:spPr>
          <a:xfrm>
            <a:off x="4828032" y="1024128"/>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34 S. 2 UStDV</a:t>
            </a:r>
            <a:endParaRPr lang="en-US" sz="780" dirty="0"/>
          </a:p>
        </p:txBody>
      </p:sp>
      <p:sp>
        <p:nvSpPr>
          <p:cNvPr id="36" name="Text 34"/>
          <p:cNvSpPr/>
          <p:nvPr/>
        </p:nvSpPr>
        <p:spPr>
          <a:xfrm>
            <a:off x="6364224" y="1024128"/>
            <a:ext cx="2651760" cy="237744"/>
          </a:xfrm>
          <a:prstGeom prst="rect">
            <a:avLst/>
          </a:prstGeom>
          <a:noFill/>
          <a:ln/>
        </p:spPr>
        <p:txBody>
          <a:bodyPr wrap="square" lIns="0" tIns="0" rIns="0" bIns="0" rtlCol="0" anchor="ctr"/>
          <a:lstStyle/>
          <a:p>
            <a:pPr marL="0" indent="0">
              <a:buNone/>
            </a:pPr>
            <a:r>
              <a:rPr lang="en-US" sz="780" dirty="0">
                <a:solidFill>
                  <a:srgbClr val="64748B"/>
                </a:solidFill>
              </a:rPr>
              <a:t>Ticket-invoice exception - exempt from e-invoice obligation (not relevant for Strabam AG)</a:t>
            </a:r>
            <a:endParaRPr lang="en-US" sz="780" dirty="0"/>
          </a:p>
        </p:txBody>
      </p:sp>
      <p:sp>
        <p:nvSpPr>
          <p:cNvPr id="37" name="Shape 35"/>
          <p:cNvSpPr/>
          <p:nvPr/>
        </p:nvSpPr>
        <p:spPr>
          <a:xfrm>
            <a:off x="4754880" y="1335024"/>
            <a:ext cx="4343400" cy="310896"/>
          </a:xfrm>
          <a:prstGeom prst="rect">
            <a:avLst/>
          </a:prstGeom>
          <a:solidFill>
            <a:srgbClr val="F7F9FC"/>
          </a:solidFill>
          <a:ln w="2540">
            <a:solidFill>
              <a:srgbClr val="CBD5E1"/>
            </a:solidFill>
            <a:prstDash val="solid"/>
          </a:ln>
        </p:spPr>
        <p:txBody>
          <a:bodyPr/>
          <a:lstStyle/>
          <a:p>
            <a:endParaRPr lang="en-DE"/>
          </a:p>
        </p:txBody>
      </p:sp>
      <p:sp>
        <p:nvSpPr>
          <p:cNvPr id="38" name="Text 36"/>
          <p:cNvSpPr/>
          <p:nvPr/>
        </p:nvSpPr>
        <p:spPr>
          <a:xfrm>
            <a:off x="4828032" y="1371600"/>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149 Abs. 2 AO</a:t>
            </a:r>
            <a:endParaRPr lang="en-US" sz="780" dirty="0"/>
          </a:p>
        </p:txBody>
      </p:sp>
      <p:sp>
        <p:nvSpPr>
          <p:cNvPr id="39" name="Text 37"/>
          <p:cNvSpPr/>
          <p:nvPr/>
        </p:nvSpPr>
        <p:spPr>
          <a:xfrm>
            <a:off x="6364224" y="1371600"/>
            <a:ext cx="2651760" cy="237744"/>
          </a:xfrm>
          <a:prstGeom prst="rect">
            <a:avLst/>
          </a:prstGeom>
          <a:noFill/>
          <a:ln/>
        </p:spPr>
        <p:txBody>
          <a:bodyPr wrap="square" lIns="0" tIns="0" rIns="0" bIns="0" rtlCol="0" anchor="ctr"/>
          <a:lstStyle/>
          <a:p>
            <a:pPr marL="0" indent="0">
              <a:buNone/>
            </a:pPr>
            <a:r>
              <a:rPr lang="en-US" sz="780" dirty="0">
                <a:solidFill>
                  <a:srgbClr val="64748B"/>
                </a:solidFill>
              </a:rPr>
              <a:t>VAT return filing deadline - 7 months after year-end (applicable without external Steuerberater)</a:t>
            </a:r>
            <a:endParaRPr lang="en-US" sz="780" dirty="0"/>
          </a:p>
        </p:txBody>
      </p:sp>
      <p:sp>
        <p:nvSpPr>
          <p:cNvPr id="40" name="Shape 38"/>
          <p:cNvSpPr/>
          <p:nvPr/>
        </p:nvSpPr>
        <p:spPr>
          <a:xfrm>
            <a:off x="4754880" y="1682496"/>
            <a:ext cx="4343400" cy="310896"/>
          </a:xfrm>
          <a:prstGeom prst="rect">
            <a:avLst/>
          </a:prstGeom>
          <a:solidFill>
            <a:srgbClr val="FFFFFF"/>
          </a:solidFill>
          <a:ln w="2540">
            <a:solidFill>
              <a:srgbClr val="CBD5E1"/>
            </a:solidFill>
            <a:prstDash val="solid"/>
          </a:ln>
        </p:spPr>
        <p:txBody>
          <a:bodyPr/>
          <a:lstStyle/>
          <a:p>
            <a:endParaRPr lang="en-DE"/>
          </a:p>
        </p:txBody>
      </p:sp>
      <p:sp>
        <p:nvSpPr>
          <p:cNvPr id="41" name="Text 39"/>
          <p:cNvSpPr/>
          <p:nvPr/>
        </p:nvSpPr>
        <p:spPr>
          <a:xfrm>
            <a:off x="4828032" y="1719072"/>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149 Abs. 3 AO</a:t>
            </a:r>
            <a:endParaRPr lang="en-US" sz="780" dirty="0"/>
          </a:p>
        </p:txBody>
      </p:sp>
      <p:sp>
        <p:nvSpPr>
          <p:cNvPr id="42" name="Text 40"/>
          <p:cNvSpPr/>
          <p:nvPr/>
        </p:nvSpPr>
        <p:spPr>
          <a:xfrm>
            <a:off x="6364224" y="1719072"/>
            <a:ext cx="2651760" cy="237744"/>
          </a:xfrm>
          <a:prstGeom prst="rect">
            <a:avLst/>
          </a:prstGeom>
          <a:noFill/>
          <a:ln/>
        </p:spPr>
        <p:txBody>
          <a:bodyPr wrap="square" lIns="0" tIns="0" rIns="0" bIns="0" rtlCol="0" anchor="ctr"/>
          <a:lstStyle/>
          <a:p>
            <a:pPr marL="0" indent="0">
              <a:buNone/>
            </a:pPr>
            <a:r>
              <a:rPr lang="en-US" sz="780" dirty="0">
                <a:solidFill>
                  <a:srgbClr val="64748B"/>
                </a:solidFill>
              </a:rPr>
              <a:t>Extended deadline to end of February second following year - only if external Steuerberater mandated</a:t>
            </a:r>
            <a:endParaRPr lang="en-US" sz="780" dirty="0"/>
          </a:p>
        </p:txBody>
      </p:sp>
      <p:sp>
        <p:nvSpPr>
          <p:cNvPr id="43" name="Shape 41"/>
          <p:cNvSpPr/>
          <p:nvPr/>
        </p:nvSpPr>
        <p:spPr>
          <a:xfrm>
            <a:off x="4754880" y="2029968"/>
            <a:ext cx="4343400" cy="310896"/>
          </a:xfrm>
          <a:prstGeom prst="rect">
            <a:avLst/>
          </a:prstGeom>
          <a:solidFill>
            <a:srgbClr val="F7F9FC"/>
          </a:solidFill>
          <a:ln w="2540">
            <a:solidFill>
              <a:srgbClr val="CBD5E1"/>
            </a:solidFill>
            <a:prstDash val="solid"/>
          </a:ln>
        </p:spPr>
        <p:txBody>
          <a:bodyPr/>
          <a:lstStyle/>
          <a:p>
            <a:endParaRPr lang="en-DE"/>
          </a:p>
        </p:txBody>
      </p:sp>
      <p:sp>
        <p:nvSpPr>
          <p:cNvPr id="44" name="Text 42"/>
          <p:cNvSpPr/>
          <p:nvPr/>
        </p:nvSpPr>
        <p:spPr>
          <a:xfrm>
            <a:off x="4828032" y="2066544"/>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 152 Abs. 2 AO</a:t>
            </a:r>
            <a:endParaRPr lang="en-US" sz="780" dirty="0"/>
          </a:p>
        </p:txBody>
      </p:sp>
      <p:sp>
        <p:nvSpPr>
          <p:cNvPr id="45" name="Text 43"/>
          <p:cNvSpPr/>
          <p:nvPr/>
        </p:nvSpPr>
        <p:spPr>
          <a:xfrm>
            <a:off x="6364224" y="2066544"/>
            <a:ext cx="2651760" cy="237744"/>
          </a:xfrm>
          <a:prstGeom prst="rect">
            <a:avLst/>
          </a:prstGeom>
          <a:noFill/>
          <a:ln/>
        </p:spPr>
        <p:txBody>
          <a:bodyPr wrap="square" lIns="0" tIns="0" rIns="0" bIns="0" rtlCol="0" anchor="ctr"/>
          <a:lstStyle/>
          <a:p>
            <a:pPr marL="0" indent="0">
              <a:buNone/>
            </a:pPr>
            <a:r>
              <a:rPr lang="en-US" sz="780" dirty="0" err="1">
                <a:solidFill>
                  <a:srgbClr val="64748B"/>
                </a:solidFill>
              </a:rPr>
              <a:t>Verspätungszuschlag</a:t>
            </a:r>
            <a:r>
              <a:rPr lang="en-US" sz="780" dirty="0">
                <a:solidFill>
                  <a:srgbClr val="64748B"/>
                </a:solidFill>
              </a:rPr>
              <a:t> - mandatory late-filing penalty (Muss-Vorschrift); 0.25% of assessed tax per month, min. €25/month</a:t>
            </a:r>
            <a:endParaRPr lang="en-US" sz="780" dirty="0"/>
          </a:p>
        </p:txBody>
      </p:sp>
      <p:sp>
        <p:nvSpPr>
          <p:cNvPr id="46" name="Shape 44"/>
          <p:cNvSpPr/>
          <p:nvPr/>
        </p:nvSpPr>
        <p:spPr>
          <a:xfrm>
            <a:off x="4754880" y="2377440"/>
            <a:ext cx="4343400" cy="310896"/>
          </a:xfrm>
          <a:prstGeom prst="rect">
            <a:avLst/>
          </a:prstGeom>
          <a:solidFill>
            <a:srgbClr val="FFFFFF"/>
          </a:solidFill>
          <a:ln w="2540">
            <a:solidFill>
              <a:srgbClr val="CBD5E1"/>
            </a:solidFill>
            <a:prstDash val="solid"/>
          </a:ln>
        </p:spPr>
        <p:txBody>
          <a:bodyPr/>
          <a:lstStyle/>
          <a:p>
            <a:endParaRPr lang="en-DE"/>
          </a:p>
        </p:txBody>
      </p:sp>
      <p:sp>
        <p:nvSpPr>
          <p:cNvPr id="47" name="Text 45"/>
          <p:cNvSpPr/>
          <p:nvPr/>
        </p:nvSpPr>
        <p:spPr>
          <a:xfrm>
            <a:off x="4828032" y="2414016"/>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Art. 36a EU VAT Directive</a:t>
            </a:r>
            <a:endParaRPr lang="en-US" sz="780" dirty="0"/>
          </a:p>
        </p:txBody>
      </p:sp>
      <p:sp>
        <p:nvSpPr>
          <p:cNvPr id="48" name="Text 46"/>
          <p:cNvSpPr/>
          <p:nvPr/>
        </p:nvSpPr>
        <p:spPr>
          <a:xfrm>
            <a:off x="6364224" y="2414016"/>
            <a:ext cx="2651760" cy="237744"/>
          </a:xfrm>
          <a:prstGeom prst="rect">
            <a:avLst/>
          </a:prstGeom>
          <a:noFill/>
          <a:ln/>
        </p:spPr>
        <p:txBody>
          <a:bodyPr wrap="square" lIns="0" tIns="0" rIns="0" bIns="0" rtlCol="0" anchor="ctr"/>
          <a:lstStyle/>
          <a:p>
            <a:pPr marL="0" indent="0">
              <a:buNone/>
            </a:pPr>
            <a:r>
              <a:rPr lang="en-US" sz="780" dirty="0">
                <a:solidFill>
                  <a:srgbClr val="64748B"/>
                </a:solidFill>
              </a:rPr>
              <a:t>Chain transaction rule (Reihengeschäft) - allocation of intra-EU transport in multi-party chains</a:t>
            </a:r>
            <a:endParaRPr lang="en-US" sz="780" dirty="0"/>
          </a:p>
        </p:txBody>
      </p:sp>
      <p:sp>
        <p:nvSpPr>
          <p:cNvPr id="49" name="Shape 47"/>
          <p:cNvSpPr/>
          <p:nvPr/>
        </p:nvSpPr>
        <p:spPr>
          <a:xfrm>
            <a:off x="4754880" y="2724912"/>
            <a:ext cx="4343400" cy="310896"/>
          </a:xfrm>
          <a:prstGeom prst="rect">
            <a:avLst/>
          </a:prstGeom>
          <a:solidFill>
            <a:srgbClr val="F7F9FC"/>
          </a:solidFill>
          <a:ln w="2540">
            <a:solidFill>
              <a:srgbClr val="CBD5E1"/>
            </a:solidFill>
            <a:prstDash val="solid"/>
          </a:ln>
        </p:spPr>
        <p:txBody>
          <a:bodyPr/>
          <a:lstStyle/>
          <a:p>
            <a:endParaRPr lang="en-DE"/>
          </a:p>
        </p:txBody>
      </p:sp>
      <p:sp>
        <p:nvSpPr>
          <p:cNvPr id="50" name="Text 48"/>
          <p:cNvSpPr/>
          <p:nvPr/>
        </p:nvSpPr>
        <p:spPr>
          <a:xfrm>
            <a:off x="4828032" y="2761488"/>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Art. 44 EU VAT Directive</a:t>
            </a:r>
            <a:endParaRPr lang="en-US" sz="780" dirty="0"/>
          </a:p>
        </p:txBody>
      </p:sp>
      <p:sp>
        <p:nvSpPr>
          <p:cNvPr id="51" name="Text 49"/>
          <p:cNvSpPr/>
          <p:nvPr/>
        </p:nvSpPr>
        <p:spPr>
          <a:xfrm>
            <a:off x="6364224" y="2761488"/>
            <a:ext cx="2651760" cy="237744"/>
          </a:xfrm>
          <a:prstGeom prst="rect">
            <a:avLst/>
          </a:prstGeom>
          <a:noFill/>
          <a:ln/>
        </p:spPr>
        <p:txBody>
          <a:bodyPr wrap="square" lIns="0" tIns="0" rIns="0" bIns="0" rtlCol="0" anchor="ctr"/>
          <a:lstStyle/>
          <a:p>
            <a:pPr marL="0" indent="0">
              <a:buNone/>
            </a:pPr>
            <a:r>
              <a:rPr lang="en-US" sz="780" dirty="0">
                <a:solidFill>
                  <a:srgbClr val="64748B"/>
                </a:solidFill>
              </a:rPr>
              <a:t>Place of supply for B2B services - customer establishment principle</a:t>
            </a:r>
            <a:endParaRPr lang="en-US" sz="780" dirty="0"/>
          </a:p>
        </p:txBody>
      </p:sp>
      <p:sp>
        <p:nvSpPr>
          <p:cNvPr id="52" name="Shape 50"/>
          <p:cNvSpPr/>
          <p:nvPr/>
        </p:nvSpPr>
        <p:spPr>
          <a:xfrm>
            <a:off x="4754880" y="3072384"/>
            <a:ext cx="4343400" cy="310896"/>
          </a:xfrm>
          <a:prstGeom prst="rect">
            <a:avLst/>
          </a:prstGeom>
          <a:solidFill>
            <a:srgbClr val="FFFFFF"/>
          </a:solidFill>
          <a:ln w="2540">
            <a:solidFill>
              <a:srgbClr val="CBD5E1"/>
            </a:solidFill>
            <a:prstDash val="solid"/>
          </a:ln>
        </p:spPr>
        <p:txBody>
          <a:bodyPr/>
          <a:lstStyle/>
          <a:p>
            <a:endParaRPr lang="en-DE"/>
          </a:p>
        </p:txBody>
      </p:sp>
      <p:sp>
        <p:nvSpPr>
          <p:cNvPr id="53" name="Text 51"/>
          <p:cNvSpPr/>
          <p:nvPr/>
        </p:nvSpPr>
        <p:spPr>
          <a:xfrm>
            <a:off x="4828032" y="3108960"/>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Art. 77 UZK (Union Customs Code)</a:t>
            </a:r>
            <a:endParaRPr lang="en-US" sz="780" dirty="0"/>
          </a:p>
        </p:txBody>
      </p:sp>
      <p:sp>
        <p:nvSpPr>
          <p:cNvPr id="54" name="Text 52"/>
          <p:cNvSpPr/>
          <p:nvPr/>
        </p:nvSpPr>
        <p:spPr>
          <a:xfrm>
            <a:off x="6364224" y="3108960"/>
            <a:ext cx="2651760" cy="237744"/>
          </a:xfrm>
          <a:prstGeom prst="rect">
            <a:avLst/>
          </a:prstGeom>
          <a:noFill/>
          <a:ln/>
        </p:spPr>
        <p:txBody>
          <a:bodyPr wrap="square" lIns="0" tIns="0" rIns="0" bIns="0" rtlCol="0" anchor="ctr"/>
          <a:lstStyle/>
          <a:p>
            <a:pPr marL="0" indent="0">
              <a:buNone/>
            </a:pPr>
            <a:r>
              <a:rPr lang="en-US" sz="780" dirty="0">
                <a:solidFill>
                  <a:srgbClr val="64748B"/>
                </a:solidFill>
              </a:rPr>
              <a:t>Customs debt at import (Zollschuld) - incurred upon acceptance of customs declaration (Zollanmeldung)</a:t>
            </a:r>
            <a:endParaRPr lang="en-US" sz="780" dirty="0"/>
          </a:p>
        </p:txBody>
      </p:sp>
      <p:sp>
        <p:nvSpPr>
          <p:cNvPr id="55" name="Shape 53"/>
          <p:cNvSpPr/>
          <p:nvPr/>
        </p:nvSpPr>
        <p:spPr>
          <a:xfrm>
            <a:off x="4754880" y="3419856"/>
            <a:ext cx="4343400" cy="310896"/>
          </a:xfrm>
          <a:prstGeom prst="rect">
            <a:avLst/>
          </a:prstGeom>
          <a:solidFill>
            <a:srgbClr val="F7F9FC"/>
          </a:solidFill>
          <a:ln w="2540">
            <a:solidFill>
              <a:srgbClr val="CBD5E1"/>
            </a:solidFill>
            <a:prstDash val="solid"/>
          </a:ln>
        </p:spPr>
        <p:txBody>
          <a:bodyPr/>
          <a:lstStyle/>
          <a:p>
            <a:endParaRPr lang="en-DE"/>
          </a:p>
        </p:txBody>
      </p:sp>
      <p:sp>
        <p:nvSpPr>
          <p:cNvPr id="56" name="Text 54"/>
          <p:cNvSpPr/>
          <p:nvPr/>
        </p:nvSpPr>
        <p:spPr>
          <a:xfrm>
            <a:off x="4828032" y="3456432"/>
            <a:ext cx="1508760" cy="237744"/>
          </a:xfrm>
          <a:prstGeom prst="rect">
            <a:avLst/>
          </a:prstGeom>
          <a:noFill/>
          <a:ln/>
        </p:spPr>
        <p:txBody>
          <a:bodyPr wrap="square" lIns="0" tIns="0" rIns="0" bIns="0" rtlCol="0" anchor="ctr"/>
          <a:lstStyle/>
          <a:p>
            <a:pPr marL="0" indent="0">
              <a:buNone/>
            </a:pPr>
            <a:r>
              <a:rPr lang="en-US" sz="780" b="1" dirty="0">
                <a:solidFill>
                  <a:srgbClr val="006B6B"/>
                </a:solidFill>
              </a:rPr>
              <a:t>European Standard EN 16931</a:t>
            </a:r>
            <a:endParaRPr lang="en-US" sz="780" dirty="0"/>
          </a:p>
        </p:txBody>
      </p:sp>
      <p:sp>
        <p:nvSpPr>
          <p:cNvPr id="57" name="Text 55"/>
          <p:cNvSpPr/>
          <p:nvPr/>
        </p:nvSpPr>
        <p:spPr>
          <a:xfrm>
            <a:off x="6364224" y="3456432"/>
            <a:ext cx="2651760" cy="237744"/>
          </a:xfrm>
          <a:prstGeom prst="rect">
            <a:avLst/>
          </a:prstGeom>
          <a:noFill/>
          <a:ln/>
        </p:spPr>
        <p:txBody>
          <a:bodyPr wrap="square" lIns="0" tIns="0" rIns="0" bIns="0" rtlCol="0" anchor="ctr"/>
          <a:lstStyle/>
          <a:p>
            <a:pPr marL="0" indent="0">
              <a:buNone/>
            </a:pPr>
            <a:r>
              <a:rPr lang="en-US" sz="780" dirty="0">
                <a:solidFill>
                  <a:srgbClr val="64748B"/>
                </a:solidFill>
              </a:rPr>
              <a:t>Semantic data model for electronic invoices - XRechnung and ZUGFeRD must comply</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8676</Words>
  <Application>Microsoft Office PowerPoint</Application>
  <PresentationFormat>On-screen Show (16:9)</PresentationFormat>
  <Paragraphs>768</Paragraphs>
  <Slides>23</Slides>
  <Notes>23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23</vt:i4>
      </vt:variant>
    </vt:vector>
  </HeadingPairs>
  <TitlesOfParts>
    <vt:vector size="2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Strabam AG – VAT Advisory Report</dc:title>
  <dc:subject>PptxGenJS Presentation</dc:subject>
  <dc:creator>Group I | EUV × Deloitte</dc:creator>
  <cp:lastModifiedBy>Khushi Devang Shrimali</cp:lastModifiedBy>
  <cp:revision>165</cp:revision>
  <cp:lastPrinted>2026-07-05T11:25:33Z</cp:lastPrinted>
  <dcterms:created xsi:type="dcterms:W3CDTF">2026-05-29T17:07:19Z</dcterms:created>
  <dcterms:modified xsi:type="dcterms:W3CDTF">2026-10-16T15:42:30Z</dcterms:modified>
</cp:coreProperties>
</file>